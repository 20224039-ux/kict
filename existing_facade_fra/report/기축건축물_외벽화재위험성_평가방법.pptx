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요약" id="{159726ef-02cb-8e5b-4328-2ddd42fa4283}">
          <p14:sldIdLst>
            <p14:sldId id="256"/>
            <p14:sldId id="257"/>
          </p14:sldIdLst>
        </p14:section>
        <p14:section name="배경" id="{113a8a86-d4da-3d2e-dfb9-482885e21d07}">
          <p14:sldIdLst>
            <p14:sldId id="258"/>
          </p14:sldIdLst>
        </p14:section>
        <p14:section name="절차 · 평가식" id="{c3f2b1e4-4393-99f2-e973-6ea9fe63f7fc}">
          <p14:sldIdLst>
            <p14:sldId id="259"/>
            <p14:sldId id="260"/>
            <p14:sldId id="261"/>
          </p14:sldIdLst>
        </p14:section>
        <p14:section name="평가식의 항" id="{99f7675e-99c0-d6d8-cb46-17a21baeccae}">
          <p14:sldIdLst>
            <p14:sldId id="262"/>
            <p14:sldId id="263"/>
            <p14:sldId id="264"/>
          </p14:sldIdLst>
        </p14:section>
        <p14:section name="재료 인자" id="{42a83e00-25d8-7462-b524-df869c3ab39f}">
          <p14:sldIdLst>
            <p14:sldId id="265"/>
            <p14:sldId id="266"/>
          </p14:sldIdLst>
        </p14:section>
        <p14:section name="단계별 절차" id="{61aba5c9-2ee5-a7c4-40c7-545f4dc401ac}">
          <p14:sldIdLst>
            <p14:sldId id="267"/>
            <p14:sldId id="268"/>
            <p14:sldId id="269"/>
            <p14:sldId id="270"/>
          </p14:sldIdLst>
        </p14:section>
        <p14:section name="예제" id="{419586af-377c-bbc3-c0fe-7f31e6eceb50}">
          <p14:sldIdLst>
            <p14:sldId id="271"/>
            <p14:sldId id="272"/>
            <p14:sldId id="273"/>
            <p14:sldId id="274"/>
          </p14:sldIdLst>
        </p14:section>
        <p14:section name="불확실성 · 연구 과제" id="{eb24e808-f946-d375-71eb-70f137972626}">
          <p14:sldIdLst>
            <p14:sldId id="275"/>
            <p14:sldId id="276"/>
            <p14:sldId id="277"/>
          </p14:sldIdLst>
        </p14:section>
        <p14:section name="부록" id="{48016127-b9d5-a2aa-ad4d-3fe77ef60f70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6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ETICS_EPS_C</c:v>
                </c:pt>
              </c:strCache>
            </c:strRef>
          </c:tx>
          <c:spPr>
            <a:solidFill>
              <a:srgbClr val="EDA100"/>
            </a:solidFill>
            <a:ln w="28575" cap="flat">
              <a:solidFill>
                <a:srgbClr val="EDA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DA100"/>
              </a:solidFill>
              <a:ln w="19050">
                <a:solidFill>
                  <a:srgbClr val="EDA100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0.9100845759643268</c:v>
                </c:pt>
                <c:pt idx="1">
                  <c:v>0.900390615562576</c:v>
                </c:pt>
                <c:pt idx="2">
                  <c:v>0.9000134917541869</c:v>
                </c:pt>
                <c:pt idx="3">
                  <c:v>0.9000004789017445</c:v>
                </c:pt>
                <c:pt idx="4">
                  <c:v>0.8999997195370766</c:v>
                </c:pt>
                <c:pt idx="5">
                  <c:v>0.8999981463923041</c:v>
                </c:pt>
                <c:pt idx="6">
                  <c:v>0.8999922048052427</c:v>
                </c:pt>
                <c:pt idx="7">
                  <c:v>0.8999748796999929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reach CAV_PF_IN</c:v>
                </c:pt>
              </c:strCache>
            </c:strRef>
          </c:tx>
          <c:spPr>
            <a:solidFill>
              <a:srgbClr val="E34948"/>
            </a:solidFill>
            <a:ln w="2857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3494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0.9052605658041777</c:v>
                </c:pt>
                <c:pt idx="1">
                  <c:v>0.7841790294566378</c:v>
                </c:pt>
                <c:pt idx="2">
                  <c:v>0.5227356597714348</c:v>
                </c:pt>
                <c:pt idx="3">
                  <c:v>0.295028270527765</c:v>
                </c:pt>
                <c:pt idx="4">
                  <c:v>0.15517365402993197</c:v>
                </c:pt>
                <c:pt idx="5">
                  <c:v>0.07824120650363572</c:v>
                </c:pt>
                <c:pt idx="6">
                  <c:v>0.038141024910456185</c:v>
                </c:pt>
                <c:pt idx="7">
                  <c:v>0.02251881117687345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reach CAV_PIR_SC</c:v>
                </c:pt>
              </c:strCache>
            </c:strRef>
          </c:tx>
          <c:spPr>
            <a:solidFill>
              <a:srgbClr val="008300"/>
            </a:solidFill>
            <a:ln w="2857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300"/>
              </a:solidFill>
              <a:ln w="19050">
                <a:solidFill>
                  <a:srgbClr val="008300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0.7862428634891307</c:v>
                </c:pt>
                <c:pt idx="1">
                  <c:v>0.21874525694549893</c:v>
                </c:pt>
                <c:pt idx="2">
                  <c:v>0.03211608118819442</c:v>
                </c:pt>
                <c:pt idx="3">
                  <c:v>0.006146174205152341</c:v>
                </c:pt>
                <c:pt idx="4">
                  <c:v>0.002152686106215324</c:v>
                </c:pt>
                <c:pt idx="5">
                  <c:v>0.0008007172368218301</c:v>
                </c:pt>
                <c:pt idx="6">
                  <c:v>0.0003156874555730658</c:v>
                </c:pt>
                <c:pt idx="7">
                  <c:v>0.0001312986147876435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reach CAV_PF_OUT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78D6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>0.6770560456792573</c:v>
                </c:pt>
                <c:pt idx="1">
                  <c:v>0.17260139225188986</c:v>
                </c:pt>
                <c:pt idx="2">
                  <c:v>0.039761804947604326</c:v>
                </c:pt>
                <c:pt idx="3">
                  <c:v>0.010623922029130211</c:v>
                </c:pt>
                <c:pt idx="4">
                  <c:v>0.0031189607697575603</c:v>
                </c:pt>
                <c:pt idx="5">
                  <c:v>0.0010010582136615318</c:v>
                </c:pt>
                <c:pt idx="6">
                  <c:v>0.00034781235606844515</c:v>
                </c:pt>
                <c:pt idx="7">
                  <c:v>0.00012952403892384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reach NC</c:v>
                </c:pt>
              </c:strCache>
            </c:strRef>
          </c:tx>
          <c:spPr>
            <a:solidFill>
              <a:srgbClr val="8A8F98"/>
            </a:solidFill>
            <a:ln w="28575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8F98"/>
              </a:solidFill>
              <a:ln w="19050">
                <a:solidFill>
                  <a:srgbClr val="8A8F98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Sheet1!$F$2:$F$9</c:f>
              <c:numCache>
                <c:formatCode>General</c:formatCode>
                <c:ptCount val="8"/>
                <c:pt idx="0">
                  <c:v>0.10084575964326863</c:v>
                </c:pt>
                <c:pt idx="1">
                  <c:v>0.003906155671881124</c:v>
                </c:pt>
                <c:pt idx="2">
                  <c:v>0.00013492689879097394</c:v>
                </c:pt>
                <c:pt idx="3">
                  <c:v>0.0000050631241282671975</c:v>
                </c:pt>
                <c:pt idx="4">
                  <c:v>2.1115316891912947e-7</c:v>
                </c:pt>
                <c:pt idx="5">
                  <c:v>9.713424390347602e-9</c:v>
                </c:pt>
                <c:pt idx="6">
                  <c:v>4.868928017034007e-10</c:v>
                </c:pt>
                <c:pt idx="7">
                  <c:v>2.6288110517677346e-11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8"/>
          <c:min val="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78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r vs s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A78D6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0.25</c:v>
                </c:pt>
                <c:pt idx="1">
                  <c:v>0.297</c:v>
                </c:pt>
                <c:pt idx="2">
                  <c:v>0.354</c:v>
                </c:pt>
                <c:pt idx="3">
                  <c:v>0.42</c:v>
                </c:pt>
                <c:pt idx="4">
                  <c:v>0.5</c:v>
                </c:pt>
                <c:pt idx="5">
                  <c:v>0.595</c:v>
                </c:pt>
                <c:pt idx="6">
                  <c:v>0.707</c:v>
                </c:pt>
                <c:pt idx="7">
                  <c:v>0.841</c:v>
                </c:pt>
                <c:pt idx="8">
                  <c:v>1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0.077894434744841</c:v>
                </c:pt>
                <c:pt idx="1">
                  <c:v>0.063497740903123</c:v>
                </c:pt>
                <c:pt idx="2">
                  <c:v>0.05001254606774</c:v>
                </c:pt>
                <c:pt idx="3">
                  <c:v>0.039033996945322</c:v>
                </c:pt>
                <c:pt idx="4">
                  <c:v>0.029361352874634</c:v>
                </c:pt>
                <c:pt idx="5">
                  <c:v>0.020731340159266</c:v>
                </c:pt>
                <c:pt idx="6">
                  <c:v>0.012943713437946</c:v>
                </c:pt>
                <c:pt idx="7">
                  <c:v>0.006867741393822</c:v>
                </c:pt>
                <c:pt idx="8">
                  <c:v>0.002977659871345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.25"/>
        </c:scaling>
        <c:delete val="0"/>
        <c:axPos val="b"/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001"/>
        <c:auto val="1"/>
        <c:lblAlgn val="ctr"/>
        <c:noMultiLvlLbl val="1"/>
        <c:majorUnit val="0.25"/>
      </c:valAx>
      <c:valAx>
        <c:axId val="2094734552"/>
        <c:scaling>
          <c:logBase val="10"/>
          <c:orientation val="minMax"/>
          <c:max val="1"/>
          <c:min val="0.00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23303D"/>
                </a:solidFill>
                <a:latin typeface="+mn-lt"/>
              </a:defRPr>
            </a:pPr>
            <a:r>
              <a:rPr sz="1150" b="0" i="0" u="none" strike="noStrike">
                <a:solidFill>
                  <a:srgbClr val="23303D"/>
                </a:solidFill>
                <a:latin typeface="+mn-lt"/>
              </a:rPr>
              <a:t>위험의 구성(%)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몫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필로티 차량(IE2)</c:v>
                  </c:pt>
                  <c:pt idx="1">
                    <c:v>기타 하단 화원(IE2)</c:v>
                  </c:pt>
                  <c:pt idx="2">
                    <c:v>실내 화재 분출(IE1)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58.41867198338927</c:v>
                </c:pt>
                <c:pt idx="1">
                  <c:v>24.341113282609463</c:v>
                </c:pt>
                <c:pt idx="2">
                  <c:v>17.24021473400126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30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4"/>
          <c:w val="0.74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 A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3494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1.155452483664585</c:v>
                </c:pt>
                <c:pt idx="1">
                  <c:v>1.027667419859438</c:v>
                </c:pt>
                <c:pt idx="2">
                  <c:v>0.143742135074227</c:v>
                </c:pt>
                <c:pt idx="3">
                  <c:v>0.417952487758523</c:v>
                </c:pt>
                <c:pt idx="4">
                  <c:v>0.04230314077774</c:v>
                </c:pt>
                <c:pt idx="5">
                  <c:v>0.976102474167228</c:v>
                </c:pt>
                <c:pt idx="6">
                  <c:v>0.007524893625392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.5"/>
          <c:min val="-0.5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0001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100"/>
          <c:min val="0.000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At val="-0.5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3303D"/>
                </a:solidFill>
                <a:latin typeface="+mn-lt"/>
              </a:rPr>
              <a:t>증거 수준별 등급 확률(%, 몬테카를로)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1등급</c:v>
                </c:pt>
              </c:strCache>
            </c:strRef>
          </c:tx>
          <c:spPr>
            <a:solidFill>
              <a:srgbClr val="86C38B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E0</c:v>
                  </c:pt>
                  <c:pt idx="1">
                    <c:v>E1</c:v>
                  </c:pt>
                  <c:pt idx="2">
                    <c:v>E2</c:v>
                  </c:pt>
                  <c:pt idx="3">
                    <c:v>E3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14.124999999999998</c:v>
                </c:pt>
                <c:pt idx="1">
                  <c:v>13.700000000000001</c:v>
                </c:pt>
                <c:pt idx="2">
                  <c:v>9.725</c:v>
                </c:pt>
                <c:pt idx="3">
                  <c:v>13.900000000000002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2등급</c:v>
                </c:pt>
              </c:strCache>
            </c:strRef>
          </c:tx>
          <c:spPr>
            <a:solidFill>
              <a:srgbClr val="B9D98C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E0</c:v>
                  </c:pt>
                  <c:pt idx="1">
                    <c:v>E1</c:v>
                  </c:pt>
                  <c:pt idx="2">
                    <c:v>E2</c:v>
                  </c:pt>
                  <c:pt idx="3">
                    <c:v>E3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60.675000000000004</c:v>
                </c:pt>
                <c:pt idx="1">
                  <c:v>60.775</c:v>
                </c:pt>
                <c:pt idx="2">
                  <c:v>73.2</c:v>
                </c:pt>
                <c:pt idx="3">
                  <c:v>73.725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3등급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E0</c:v>
                  </c:pt>
                  <c:pt idx="1">
                    <c:v>E1</c:v>
                  </c:pt>
                  <c:pt idx="2">
                    <c:v>E2</c:v>
                  </c:pt>
                  <c:pt idx="3">
                    <c:v>E3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25.124999999999996</c:v>
                </c:pt>
                <c:pt idx="1">
                  <c:v>25.45</c:v>
                </c:pt>
                <c:pt idx="2">
                  <c:v>17.075000000000003</c:v>
                </c:pt>
                <c:pt idx="3">
                  <c:v>12.375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4등급</c:v>
                </c:pt>
              </c:strCache>
            </c:strRef>
          </c:tx>
          <c:spPr>
            <a:solidFill>
              <a:srgbClr val="EB8A3A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E0</c:v>
                  </c:pt>
                  <c:pt idx="1">
                    <c:v>E1</c:v>
                  </c:pt>
                  <c:pt idx="2">
                    <c:v>E2</c:v>
                  </c:pt>
                  <c:pt idx="3">
                    <c:v>E3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0.075</c:v>
                </c:pt>
                <c:pt idx="1">
                  <c:v>0.075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5등급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E0</c:v>
                  </c:pt>
                  <c:pt idx="1">
                    <c:v>E1</c:v>
                  </c:pt>
                  <c:pt idx="2">
                    <c:v>E2</c:v>
                  </c:pt>
                  <c:pt idx="3">
                    <c:v>E3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[&lt;6]&quot;&quot;;0" sourceLinked="0"/>
          <c:txPr>
            <a:bodyPr/>
            <a:lstStyle/>
            <a:p>
              <a:pPr>
                <a:defRPr b="0" i="0" strike="noStrike" sz="1050" u="none">
                  <a:solidFill>
                    <a:srgbClr val="23303D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23303D"/>
                </a:solidFill>
                <a:latin typeface="+mn-lt"/>
              </a:defRPr>
            </a:pPr>
            <a:r>
              <a:rPr sz="1150" b="0" i="0" u="none" strike="noStrike">
                <a:solidFill>
                  <a:srgbClr val="23303D"/>
                </a:solidFill>
                <a:latin typeface="+mn-lt"/>
              </a:rPr>
              <a:t>위험의 구성(%)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몫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C2 세대 화재 분출(IE1)</c:v>
                  </c:pt>
                  <c:pt idx="1">
                    <c:v>C2 저층 상가 분출(IE3)</c:v>
                  </c:pt>
                  <c:pt idx="2">
                    <c:v>C3 측면 분출(IE1)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60.4353507484058</c:v>
                </c:pt>
                <c:pt idx="1">
                  <c:v>33.440838282931786</c:v>
                </c:pt>
                <c:pt idx="2">
                  <c:v>6.043535074841736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0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4"/>
          <c:w val="0.74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 C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6250D6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0.126624382226461</c:v>
                </c:pt>
                <c:pt idx="1">
                  <c:v>0.126624382226461</c:v>
                </c:pt>
                <c:pt idx="2">
                  <c:v>0.126624382226461</c:v>
                </c:pt>
                <c:pt idx="3">
                  <c:v>0.126624382226461</c:v>
                </c:pt>
                <c:pt idx="4">
                  <c:v>0.126624382226461</c:v>
                </c:pt>
                <c:pt idx="5">
                  <c:v>0.000170076131971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.5"/>
          <c:min val="-0.5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0001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100"/>
          <c:min val="0.000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At val="-0.5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06"/>
          <c:w val="0.76"/>
          <c:h val="0.7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cmp A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E3494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1.155452483664585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cmp B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2A78D6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Sheet1!$C$2:$C$4</c:f>
              <c:numCache>
                <c:formatCode>General</c:formatCode>
                <c:ptCount val="3"/>
                <c:pt idx="1">
                  <c:v>0.029361352874634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cmp C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6250D6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Sheet1!$D$2:$D$4</c:f>
              <c:numCache>
                <c:formatCode>General</c:formatCode>
                <c:ptCount val="3"/>
                <c:pt idx="2">
                  <c:v>0.126624382226461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.5"/>
          <c:min val="-0.5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001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10"/>
          <c:min val="0.00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At val="-0.5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3303D"/>
                </a:solidFill>
                <a:latin typeface="+mn-lt"/>
              </a:rPr>
              <a:t>등급 확률(%)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1등급</c:v>
                </c:pt>
              </c:strCache>
            </c:strRef>
          </c:tx>
          <c:spPr>
            <a:solidFill>
              <a:srgbClr val="86C38B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필로티 다세대주택</c:v>
                  </c:pt>
                  <c:pt idx="1">
                    <c:v>B 15층 아파트</c:v>
                  </c:pt>
                  <c:pt idx="2">
                    <c:v>C 주상복합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13.525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2등급</c:v>
                </c:pt>
              </c:strCache>
            </c:strRef>
          </c:tx>
          <c:spPr>
            <a:solidFill>
              <a:srgbClr val="B9D98C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필로티 다세대주택</c:v>
                  </c:pt>
                  <c:pt idx="1">
                    <c:v>B 15층 아파트</c:v>
                  </c:pt>
                  <c:pt idx="2">
                    <c:v>C 주상복합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74.1</c:v>
                </c:pt>
                <c:pt idx="2">
                  <c:v>23.525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3등급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필로티 다세대주택</c:v>
                  </c:pt>
                  <c:pt idx="1">
                    <c:v>B 15층 아파트</c:v>
                  </c:pt>
                  <c:pt idx="2">
                    <c:v>C 주상복합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27.3</c:v>
                </c:pt>
                <c:pt idx="1">
                  <c:v>12.375</c:v>
                </c:pt>
                <c:pt idx="2">
                  <c:v>76.47500000000001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4등급</c:v>
                </c:pt>
              </c:strCache>
            </c:strRef>
          </c:tx>
          <c:spPr>
            <a:solidFill>
              <a:srgbClr val="EB8A3A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필로티 다세대주택</c:v>
                  </c:pt>
                  <c:pt idx="1">
                    <c:v>B 15층 아파트</c:v>
                  </c:pt>
                  <c:pt idx="2">
                    <c:v>C 주상복합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72.7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5등급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[&lt;6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필로티 다세대주택</c:v>
                  </c:pt>
                  <c:pt idx="1">
                    <c:v>B 15층 아파트</c:v>
                  </c:pt>
                  <c:pt idx="2">
                    <c:v>C 주상복합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[&lt;6]&quot;&quot;;0" sourceLinked="0"/>
          <c:txPr>
            <a:bodyPr/>
            <a:lstStyle/>
            <a:p>
              <a:pPr>
                <a:defRPr b="0" i="0" strike="noStrike" sz="1050" u="none">
                  <a:solidFill>
                    <a:srgbClr val="23303D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목표: 국내 기축 건축물을 형태와 관계없이 외벽 화재위험 측면에서 평가하는 절차(연구 방법론).
- 핵심: 외벽을 구간으로 나누면 필로티, 저층 상가 + 고층 주거, 측벽, 커튼월 같은 어떤 형태도 같은 평가식 하나로 계산됩니다.
- 재료 시험(콘·TGA·FT-IR·중규모)은 평가식의 재료 입력을 '보수적 기본값'에서 '측정값'으로 바꾸는 단계로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평가 결과는 '이 건물에서 외벽을 통해 번지는 화재로 1년에 몇 명이 노출되는가'입니다. 재실자 1인당으로 나누고 자택 화재 위험과 비교해 등급을 매깁니다.
- 재료 시험은 별도 평가가 아니라, 평가식에 들어가는 재료 인자를 정하는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기축 건물은 지을 때의 기준을 따르므로, 지금 기준으로는 가연 외장재가 허용되지 않는 건물에도 남아 있습니다. 대상이 수십만 동이라 '어디부터 무엇을 보강할지'를 정할 근거가 필요합니다.
- 해외에도 기존 건물 외벽 평가 절차는 있지만, 판단 위주이고 재료 시험을 계산에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- 0단계는 서류와 사진만으로 많은 건물을 평가합니다. 재료는 허가 시점 기준으로 보수적으로 가정합니다.
- 1단계 현장 조사에서 구간과 입력을 확정하고, 2단계에서 시료를 시험해 재료 인자를 측정값으로 바꿉니다.
- 3단계는 시스템 시험과 시뮬레이션으로, 판정이 경계에 걸린 건물만 합니다. 어느 단계에서든 같은 식이라 등급이 같은 척도입니다.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이것이 제안하는 평가식입니다. 세 경로: 세대 화재가 창으로 분출하는 경우, 외벽 바로 아래 화재(필로티 차량 등), 아래 구간 창의 화염이 위 구간 외벽을 가열하는 경우.
- 외벽 재료는 a(j)에만 들어갑니다: 층당 확산시간 τ(시험의 t600)와 자립 연소 p_B. 외벽이 불연이면 a = 0이고 창→창 도약 b만 남는데, 이것이 기준 위험도입니다.
- 판정은 1인당 위험을 자택 화재 위험과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구간은 '같은 외벽 시스템, 같은 노출'의 수직 띠입니다. 필로티 건물은 필로티 위 전면과 측·후면, 아파트는 창이 있는 면과 측벽, 주상복합은 저층 상가와 고층 주거 면으로 나눕니다.
- 빨간 화살표가 세 경로입니다: 필로티 차량 화재(IE2), 세대 화재 분출(IE1), 저층 상가 분출이 고층 패널을 가열(IE3). 점선은 고가사다리가 닿는 높이로, 그 위는 외부 진압이 늦습니다.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빈도는 세 경로마다 따로 셉니다. 실내 화재는 국내 통계로 바로 정할 수 있고, 필로티 차량 화재 같은 외부 화원은 통계를 따로 뽑아야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오른쪽 그래프가 재료의 차이가 평가식에서 드러나는 방식입니다. 가연 외단열은 분출화염에 노출되면 사실상 끝까지 번지고, 준불연 중공층은 한두 개 층, 불연 외벽은 창→창 도약만 남습니다.
- PF 외부용은 확산이 느리지만 자립 연소가 많아 꼬리가 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등급의 기준점은 '내 집에서 불이 날 위험'입니다. 외벽 때문에 노출될 위험이 그 1 %면 1·2등급 경계, 같은 수준이면 3·4등급 경계입니다.
- 실내 화재가 주된 건물에서는 화재 빈도가 분자와 분모에 같이 들어가 상쇄되므로, 통계가 다소 틀려도 등급이 안정적입니다.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재료 인자는 외벽 유형별 표에서 시작합니다. 우리가 시험한 중공층 5종은 시험값이고, 국내 기축 건물에 많은 드라이비트와 복합패널은 아직 시스템 시험 자료가 없어 가연 경계값을 씁니다.
- 그래서 이 방법의 첫 연구 과제는 기축 건물에 많은 외벽 시스템의 시험 DB입니다.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시료 시험의 순서는 식별, 등급, 지표입니다. FT-IR로 무엇인지 확인하고, 콘으로 준불연인지 가린 뒤, 준불연 탄화형이면 TGA로 층당 확산시간과 자립 연소를 예측합니다.
- 가연성 PIR에서 보았듯 콘 게이트 없이 TGA만 쓰면 위험을 크게 낮게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- 0단계는 서류만으로 많은 건물을 걸러내는 단계입니다. 허가 시점에 외벽 기준이 없던 건물은 가연으로 가정하고, 이후 현장과 시료로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현장 조사표는 평가식의 입력을 채우는 양식입니다. 각 항목이 어떤 변수가 되는지 오른쪽 열에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- 3단계는 판정이 경계에 걸린 건물만 합니다. 예제 B는 s가 0.84 이상이면 1등급으로 내려갑니다. 즉 이 건물의 결론은 재료 시험을 더 하는 것보다 s를 정하는 데 달려 있습니다.
- s는 실대형 시험과 FDS 해석으로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등급은 1인당 위험이라 작은 건물도 높을 수 있고, 우선순위는 줄일 수 있는 노출 인원(ΔR)으로 봅니다. 대책은 같은 식으로 다시 계산해 효과를 숫자로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- 5층 필로티 다세대, 드라이비트 외벽, 스프링클러 없음. 위험의 절반 이상이 필로티 차량 화재에서 와서, 창 둘레 차단재만으로는 등급이 그대로입니다.
- 층간 확산방지구조, 필로티 하단 보호, 차단재를 함께 하면 2등급, 외장재 교체는 1등급입니다.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같은 건물을 증거 수준별로 평가한 결과입니다. 사진만 있을 때는 준불연 미상 보수값을 쓰고, 시료 TGA와 중공층 시험으로 갈수록 값이 측정값으로 바뀝니다.
- 오른쪽은 등급의 확률입니다. 시험할수록 3등급 이상일 확률이 25 %에서 12 %로 줄어 2등급이 확정됩니다. 이것이 재료 시험의 가치를 숫자로 보인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- 25층 주상복합, 고층부 PE 심재 복합패널. 위험의 3분의 1은 저층 상가 화재의 분출화염이 고층 패널 하단을 가열하는 경로입니다. 구간으로 나눠야 이 경로가 보입니다.
- 가연재가 바깥 면인 패널은 층간 띠나 차단재로 끊기지 않으므로, 교체 말고는 등급이 내려가지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등급과 우선순위를 나눈 이유입니다. 필로티 다세대는 1인당 위험이 가장 높고, 주상복합은 줄일 수 있는 노출 인원이 가장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왼쪽은 입력의 불확실성을 모두 반영한 등급 확률입니다. 세 건물 모두 한 등급에 70 % 이상이 몰립니다.
- 오른쪽이 연구 과제의 우선순위입니다. 필로티 건물은 차량 화재 통계, 중층 준불연 아파트는 s, 고층 가연 건물은 스프링클러 효과와 최성기 도달 확률이 등급을 좌우합니다.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순위는 등급을 가장 크게 바꾸는 자료부터 정했습니다. 외벽 시스템 시험 DB, 외부 화원 통계, 실물 보정 s, 그리고 과거 사례로 등급 경계를 검증하는 것이 1순위입니다.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방법은 지금 쓸 수 있고, 수치의 정확도는 자료에 달려 있습니다. 특히 시험 자료가 없는 외벽 시스템은 보수적으로 평가됩니다.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변수의 값과 범위, 재현 방법입니다. 엑셀 4_공통변수에 모든 변수의 근거가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KICT · 기축 건축물 외벽 화재위험성 평가 방법(안) — 평가식 · 5단계 절차 · 예제 3동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1247120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622024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chemeClr val="bg2"/>
                </a:solidFill>
              </a:rPr>
              <a:t>외벽 화재위험성평가 · 기축 건축물 · 연구 방법론(안) · 2026-10-24</a:t>
            </a:r>
            <a:endParaRPr lang="ko-KR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기축 건축물 외벽 화재위험성</a:t>
            </a:r>
            <a:endParaRPr lang="ko-KR" sz="3600" dirty="0"/>
          </a:p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평가 방법(안)</a:t>
            </a:r>
            <a:endParaRPr lang="ko-K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600" dirty="0">
                <a:solidFill>
                  <a:schemeClr val="bg2"/>
                </a:solidFill>
              </a:rPr>
              <a:t>건물 형태와 관계없이 외벽을 '구간'으로 나누어 하나의 평가식으로 계산 — 사진 · 현장에서 시료 시험 · 정밀 평가로 갈수록 정밀해지는 5단계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bg1"/>
                </a:solidFill>
              </a:rPr>
              <a:t>평가식 1개</a:t>
            </a:r>
            <a:endParaRPr lang="ko-KR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bg1"/>
                </a:solidFill>
              </a:rPr>
              <a:t>R = Σ 빈도 × 도달 확률 × 노출 인원</a:t>
            </a:r>
            <a:endParaRPr lang="ko-KR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→ 개인 위험 r → 1–5등급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bg1"/>
                </a:solidFill>
              </a:rPr>
              <a:t>5단계 절차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bg1"/>
                </a:solidFill>
              </a:rPr>
              <a:t>선별 → 현장 → 시료 → 정밀 → 판정</a:t>
            </a:r>
            <a:endParaRPr lang="ko-KR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재료 인자 증거 수준 E0–E3</a:t>
            </a:r>
            <a:endParaRPr 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400" b="1" dirty="0">
                <a:solidFill>
                  <a:schemeClr val="bg1"/>
                </a:solidFill>
              </a:rPr>
              <a:t>예제 3동</a:t>
            </a:r>
            <a:endParaRPr lang="ko-KR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bg1"/>
                </a:solidFill>
              </a:rPr>
              <a:t>필로티 · 아파트 · 주상복합</a:t>
            </a:r>
            <a:endParaRPr lang="ko-KR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4 · 2 · 3등급 · 대책별 등급 변화 계산</a:t>
            </a:r>
            <a:endParaRPr lang="ko-K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함께 드리는 파일: 기축건축물_외벽화재위험성_평가계산서.xlsx (평가식을 셀 수식으로 계산 · 예제 3동 · 빈 양식 · 대책 스위치)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요약 — 무엇을 계산하고, 무엇이 나오나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외벽을 구간으로 나눠 '연간 노출 인원'을 계산하고 자택 화재 위험과 비교해 1–5등급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재료 시험은 증거 수준을 올려 등급을 확정하는 단계로 들어감</a:t>
            </a:r>
            <a:endParaRPr lang="ko-KR" sz="2000" dirty="0"/>
          </a:p>
        </p:txBody>
      </p:sp>
      <p:sp>
        <p:nvSpPr>
          <p:cNvPr id="4" name="card 평가식: 형태가 달라도 하나"/>
          <p:cNvSpPr/>
          <p:nvPr/>
        </p:nvSpPr>
        <p:spPr>
          <a:xfrm>
            <a:off x="457200" y="164592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3794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평가식: 형태가 달라도 하나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7627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R = Σ구간 [실내 화재 분출 + 외벽 하단 화원 + 하부 구간 분출]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각 항 = 빈도 × 위층 도달 확률 × 그 층에서 피난 못 한 재실자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필로티 · 저층 상가 · 측벽 · 커튼월 = 구간의 조합으로 입력</a:t>
            </a:r>
            <a:endParaRPr lang="ko-KR" sz="1200" dirty="0"/>
          </a:p>
        </p:txBody>
      </p:sp>
      <p:sp>
        <p:nvSpPr>
          <p:cNvPr id="8" name="card 판정: 개인 위험 ÷ 자택 화재 위험"/>
          <p:cNvSpPr/>
          <p:nvPr/>
        </p:nvSpPr>
        <p:spPr>
          <a:xfrm>
            <a:off x="6210148" y="164592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3794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3736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판정: 개인 위험 ÷ 자택 화재 위험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17627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r = (R ÷ 재실자) ÷ </a:t>
            </a:r>
            <a:r>
              <a:rPr lang="ko-KR" altLang="en-US" sz="1200" dirty="0">
                <a:solidFill>
                  <a:schemeClr val="tx1"/>
                </a:solidFill>
              </a:rPr>
              <a:t>λ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res</a:t>
            </a:r>
            <a:r>
              <a:rPr lang="ko-KR" altLang="en-US" sz="1200" dirty="0">
                <a:solidFill>
                  <a:schemeClr val="tx1"/>
                </a:solidFill>
              </a:rPr>
              <a:t>, 경계 1 % · 10 % · 같은 수준 · 10배 → 1–5등급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표시 M(노출 1건당 10명 이상) · A(급발 연소)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대책(차단재 · 확산방지구조 · 하단 보호 · 스프링클러 · 교체)도 같은 식으로 재계산</a:t>
            </a:r>
            <a:endParaRPr lang="ko-KR" sz="1200" dirty="0"/>
          </a:p>
        </p:txBody>
      </p:sp>
      <p:sp>
        <p:nvSpPr>
          <p:cNvPr id="12" name="card 재료 인자: 시험으로 확정"/>
          <p:cNvSpPr/>
          <p:nvPr/>
        </p:nvSpPr>
        <p:spPr>
          <a:xfrm>
            <a:off x="457200" y="379476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98678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88620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재료 인자: 시험으로 확정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32511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E0 사진 · 허가 시점 → 보수값 / E1 현장 확인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E2 시료: FT-IR 식별 → 콘 등급 → TGA </a:t>
            </a:r>
            <a:r>
              <a:rPr lang="ko-KR" altLang="en-US" sz="1200" dirty="0">
                <a:solidFill>
                  <a:schemeClr val="tx1"/>
                </a:solidFill>
              </a:rPr>
              <a:t>t̂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 · </a:t>
            </a:r>
            <a:r>
              <a:rPr lang="ko-KR" altLang="en-US" sz="1200" dirty="0">
                <a:solidFill>
                  <a:schemeClr val="tx1"/>
                </a:solidFill>
              </a:rPr>
              <a:t>p̂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 / E3 시스템 시험 · FDS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예제 B: 시료 · 시험으로 3등급 이상 확률 25 % → 12 %</a:t>
            </a:r>
            <a:endParaRPr lang="ko-KR" sz="1200" dirty="0"/>
          </a:p>
        </p:txBody>
      </p:sp>
      <p:sp>
        <p:nvSpPr>
          <p:cNvPr id="16" name="card 예제 3동(가상)"/>
          <p:cNvSpPr/>
          <p:nvPr/>
        </p:nvSpPr>
        <p:spPr>
          <a:xfrm>
            <a:off x="6210148" y="379476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3028" y="398678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67348" y="388620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예제 3동(가상)</a:t>
            </a:r>
            <a:endParaRPr lang="ko-K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32511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필로티 다세대(드라이비트) 4등급(매우 높음)·M·A → 차단재 + 확산방지구조 + 하단 보호 2등급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15층 아파트(중공층 PIR 준불연) 2등급(보통) → 확산방지구조 1등급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주상복합(PE 심재 복합패널) 3등급(높음)·M·A → 교체만 효과(1등급)</a:t>
            </a:r>
            <a:endParaRPr lang="ko-KR" sz="1200" dirty="0"/>
          </a:p>
        </p:txBody>
      </p:sp>
      <p:sp>
        <p:nvSpPr>
          <p:cNvPr id="20" name="caveat"/>
          <p:cNvSpPr/>
          <p:nvPr/>
        </p:nvSpPr>
        <p:spPr>
          <a:xfrm>
            <a:off x="457200" y="5870448"/>
            <a:ext cx="11277295" cy="438912"/>
          </a:xfrm>
          <a:prstGeom prst="roundRect">
            <a:avLst>
              <a:gd name="adj" fmla="val 16667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870448"/>
            <a:ext cx="108200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주의  </a:t>
            </a:r>
            <a:r>
              <a:rPr lang="ko-KR" altLang="en-US" sz="1200" dirty="0">
                <a:solidFill>
                  <a:schemeClr val="bg1"/>
                </a:solidFill>
              </a:rPr>
              <a:t>빈도 · 분기확률 · 시간은 예시값(근거 표시) — 수치는 방법 시연용이며, 국내 통계 · 시험 DB로 바꾸면 같은 절차로 갱신됩니다.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왜 필요한가 — 국내 기축 건물과 해외 기존 건물 평가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국내 기축 건물의 외벽은 허가 시점 기준을 따르고, 건물별 위험을 따지는 공통 절차가 없음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해외의 기존 건물용 평가도 판단(정성) 위주라 재료 시험을 계산에 쓰지 않음</a:t>
            </a:r>
            <a:endParaRPr lang="ko-KR" sz="2000" dirty="0"/>
          </a:p>
        </p:txBody>
      </p:sp>
      <p:sp>
        <p:nvSpPr>
          <p:cNvPr id="4" name="card 국내"/>
          <p:cNvSpPr/>
          <p:nvPr/>
        </p:nvSpPr>
        <p:spPr>
          <a:xfrm>
            <a:off x="457200" y="1691640"/>
            <a:ext cx="5524348" cy="3611880"/>
          </a:xfrm>
          <a:prstGeom prst="roundRect">
            <a:avLst>
              <a:gd name="adj" fmla="val 2025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국내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51403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주거용 필로티 건물 약 28만 동 중 약 22만 동(78 %)에 가연성 외장재 — 정부 대책(2025년 9월 보도)의 지원 우선순위는 필로티 주차장 면적 · 1층 방화구획 여부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외벽 마감재료 기준은 허가 시점마다 다름: 2019.11.7 전 신청은 '6층 이상 또는 22 m 이상'만 대상 → 그보다 낮은 건물은 가연 외장재 가능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2025년 7월 광명 아파트 필로티 주차장 화재: 천장 단열재로 급격히 확산, 스프링클러 없음(보도)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드라이비트 · 복합패널 연구는 있으나 기축 건물 외벽 공통 평가 절차는 찾지 못함</a:t>
            </a:r>
            <a:endParaRPr lang="ko-KR" sz="1200" dirty="0"/>
          </a:p>
        </p:txBody>
      </p:sp>
      <p:sp>
        <p:nvSpPr>
          <p:cNvPr id="8" name="card 해외"/>
          <p:cNvSpPr/>
          <p:nvPr/>
        </p:nvSpPr>
        <p:spPr>
          <a:xfrm>
            <a:off x="6210148" y="1691640"/>
            <a:ext cx="5524348" cy="3611880"/>
          </a:xfrm>
          <a:prstGeom prst="roundRect">
            <a:avLst>
              <a:gd name="adj" fmla="val 2025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해외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221992"/>
            <a:ext cx="51403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영국 PAS 9980: 기존 공동주택 외벽 화재위험 평가(FRAEW) — 단계별 절차와 위험 수준 · 대책, 2026년 9월 개정판 · 전문가 판단 위주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NFPA 연구재단 EFFECT(2018): 기존 고층 건물을 A–E로 줄 세우는 정성 도구 — 재료는 범주, 실험실 시험은 식별용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NFPA 551: 화재위험성평가를 검토하는 지침 — 방법은 정하지 않고 문서 · 검토 기준만 제시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EFFECT 후속 과제(13장): 재료 조합 점수를 시험 자료로 뒷받침하고 시험 DB를 갖출 것 — 이 방법에서는 시험값이 평가식에 바로 들어감</a:t>
            </a:r>
            <a:endParaRPr lang="ko-KR" sz="1200" dirty="0"/>
          </a:p>
        </p:txBody>
      </p:sp>
      <p:sp>
        <p:nvSpPr>
          <p:cNvPr id="12" name="aim"/>
          <p:cNvSpPr/>
          <p:nvPr/>
        </p:nvSpPr>
        <p:spPr>
          <a:xfrm>
            <a:off x="457200" y="5468112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46811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bg1"/>
                </a:solidFill>
              </a:rPr>
              <a:t>이 방법(안)  </a:t>
            </a:r>
            <a:r>
              <a:rPr lang="ko-KR" altLang="en-US" sz="1250" dirty="0">
                <a:solidFill>
                  <a:schemeClr val="bg1"/>
                </a:solidFill>
              </a:rPr>
              <a:t>국내 기준 이력 · 통계를 쓰고, 어떤 형태든 구간으로 계산하며, 재료 시험(콘 · TGA · FT-IR · 중규모)을 평가식의 입력으로 쓰는 정량 절차</a:t>
            </a:r>
            <a:endParaRPr lang="ko-KR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10819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출처: 쿠키뉴스 · 매일신문(2025.9, 필로티 대책), 서울신문(2025.7, 광명 화재), 건축법 시행령 2019.8.6 개정(대통령령 제30030호), BSI PAS 9980, Lamont &amp; Ingolfsson(2018).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평가 절차 — 5단계, 단계마다 같은 평가식으로 다시 계산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선별에서 정밀 평가로 갈수록 재료 인자의 근거(증거 수준)만 바뀌고 식은 같음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그래서 어느 단계에서 멈추든 같은 척도의 등급이 나옴</a:t>
            </a:r>
            <a:endParaRPr lang="ko-KR" sz="2000" dirty="0"/>
          </a:p>
        </p:txBody>
      </p:sp>
      <p:sp>
        <p:nvSpPr>
          <p:cNvPr id="4" name="step 0"/>
          <p:cNvSpPr/>
          <p:nvPr/>
        </p:nvSpPr>
        <p:spPr>
          <a:xfrm>
            <a:off x="457200" y="1737360"/>
            <a:ext cx="2036003" cy="3291840"/>
          </a:xfrm>
          <a:prstGeom prst="roundRect">
            <a:avLst>
              <a:gd name="adj" fmla="val 359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panel 0"/>
          <p:cNvSpPr/>
          <p:nvPr/>
        </p:nvSpPr>
        <p:spPr>
          <a:xfrm>
            <a:off x="594360" y="187452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28800"/>
            <a:ext cx="1487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선별</a:t>
            </a:r>
            <a:endParaRPr lang="ko-K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04288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하는 일</a:t>
            </a:r>
            <a:endParaRPr lang="ko-KR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51460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건축물대장 · 사진으로 여러 동을 한꺼번에</a:t>
            </a:r>
            <a:endParaRPr lang="ko-KR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80944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자료</a:t>
            </a:r>
            <a:endParaRPr lang="ko-KR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191256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허가일 · 층수 · 높이 · 용도 · 로드뷰</a:t>
            </a:r>
            <a:endParaRPr lang="ko-KR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657600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재료 인자</a:t>
            </a:r>
            <a:endParaRPr lang="ko-KR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867912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E0 보수값</a:t>
            </a:r>
            <a:endParaRPr lang="ko-KR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334256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산출</a:t>
            </a:r>
            <a:endParaRPr lang="ko-K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54456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1차 등급 · 우선순위</a:t>
            </a:r>
            <a:endParaRPr lang="ko-KR" sz="1150" dirty="0"/>
          </a:p>
        </p:txBody>
      </p:sp>
      <p:sp>
        <p:nvSpPr>
          <p:cNvPr id="16" name="Shape 14"/>
          <p:cNvSpPr/>
          <p:nvPr/>
        </p:nvSpPr>
        <p:spPr>
          <a:xfrm>
            <a:off x="2511491" y="338328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7" name="step 1"/>
          <p:cNvSpPr/>
          <p:nvPr/>
        </p:nvSpPr>
        <p:spPr>
          <a:xfrm>
            <a:off x="2767523" y="1737360"/>
            <a:ext cx="2036003" cy="3291840"/>
          </a:xfrm>
          <a:prstGeom prst="roundRect">
            <a:avLst>
              <a:gd name="adj" fmla="val 359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2904683" y="187452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4683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70443" y="1828800"/>
            <a:ext cx="1487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현장 조사</a:t>
            </a:r>
            <a:endParaRPr lang="ko-KR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932115" y="2304288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하는 일</a:t>
            </a:r>
            <a:endParaRPr lang="ko-KR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932115" y="251460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구간 · 외벽 구성 · 필로티 · 외부 화원 확인</a:t>
            </a:r>
            <a:endParaRPr lang="ko-KR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932115" y="2980944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자료</a:t>
            </a:r>
            <a:endParaRPr lang="ko-K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932115" y="3191256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현장 조사표</a:t>
            </a:r>
            <a:endParaRPr lang="ko-KR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32115" y="3657600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재료 인자</a:t>
            </a:r>
            <a:endParaRPr lang="ko-KR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932115" y="3867912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E1 유형 확인</a:t>
            </a:r>
            <a:endParaRPr lang="ko-KR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932115" y="4334256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산출</a:t>
            </a:r>
            <a:endParaRPr lang="ko-KR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932115" y="454456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구간 입력 · 등급</a:t>
            </a:r>
            <a:endParaRPr lang="ko-KR" sz="1150" dirty="0"/>
          </a:p>
        </p:txBody>
      </p:sp>
      <p:sp>
        <p:nvSpPr>
          <p:cNvPr id="29" name="Shape 27"/>
          <p:cNvSpPr/>
          <p:nvPr/>
        </p:nvSpPr>
        <p:spPr>
          <a:xfrm>
            <a:off x="4821814" y="338328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0" name="step 2"/>
          <p:cNvSpPr/>
          <p:nvPr/>
        </p:nvSpPr>
        <p:spPr>
          <a:xfrm>
            <a:off x="5077846" y="1737360"/>
            <a:ext cx="2036003" cy="3291840"/>
          </a:xfrm>
          <a:prstGeom prst="roundRect">
            <a:avLst>
              <a:gd name="adj" fmla="val 3593"/>
            </a:avLst>
          </a:prstGeom>
          <a:solidFill>
            <a:srgbClr val="E2F3E2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31" name="panel 2"/>
          <p:cNvSpPr/>
          <p:nvPr/>
        </p:nvSpPr>
        <p:spPr>
          <a:xfrm>
            <a:off x="5215006" y="187452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5006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580766" y="1828800"/>
            <a:ext cx="1487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시료 시험</a:t>
            </a:r>
            <a:endParaRPr lang="ko-KR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242438" y="2304288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하는 일</a:t>
            </a:r>
            <a:endParaRPr lang="ko-KR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242438" y="251460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구간 유형별 시료 채취</a:t>
            </a:r>
            <a:endParaRPr lang="ko-KR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242438" y="2980944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자료</a:t>
            </a:r>
            <a:endParaRPr lang="ko-KR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242438" y="3191256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FT-IR → 콘 → TGA</a:t>
            </a:r>
            <a:endParaRPr lang="ko-KR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242438" y="3657600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재료 인자</a:t>
            </a:r>
            <a:endParaRPr lang="ko-KR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242438" y="3867912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E2 시료 측정값</a:t>
            </a:r>
            <a:endParaRPr lang="ko-KR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242438" y="4334256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산출</a:t>
            </a:r>
            <a:endParaRPr lang="ko-KR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242438" y="454456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재료 인자 · 등급</a:t>
            </a:r>
            <a:endParaRPr lang="ko-KR" sz="1150" dirty="0"/>
          </a:p>
        </p:txBody>
      </p:sp>
      <p:sp>
        <p:nvSpPr>
          <p:cNvPr id="42" name="Shape 40"/>
          <p:cNvSpPr/>
          <p:nvPr/>
        </p:nvSpPr>
        <p:spPr>
          <a:xfrm>
            <a:off x="7132137" y="338328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3" name="step 3"/>
          <p:cNvSpPr/>
          <p:nvPr/>
        </p:nvSpPr>
        <p:spPr>
          <a:xfrm>
            <a:off x="7388169" y="1737360"/>
            <a:ext cx="2036003" cy="3291840"/>
          </a:xfrm>
          <a:prstGeom prst="roundRect">
            <a:avLst>
              <a:gd name="adj" fmla="val 359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4" name="panel 3"/>
          <p:cNvSpPr/>
          <p:nvPr/>
        </p:nvSpPr>
        <p:spPr>
          <a:xfrm>
            <a:off x="7525329" y="187452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25329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891089" y="1828800"/>
            <a:ext cx="1487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정밀 평가</a:t>
            </a:r>
            <a:endParaRPr lang="ko-KR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552761" y="2304288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하는 일</a:t>
            </a:r>
            <a:endParaRPr lang="ko-KR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552761" y="251460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등급이 높거나 경계인 건물</a:t>
            </a:r>
            <a:endParaRPr lang="ko-KR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552761" y="2980944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자료</a:t>
            </a:r>
            <a:endParaRPr lang="ko-KR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552761" y="3191256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중규모 · 실대형 시험, FDS</a:t>
            </a:r>
            <a:endParaRPr lang="ko-KR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552761" y="3657600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재료 인자</a:t>
            </a:r>
            <a:endParaRPr lang="ko-KR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7552761" y="3867912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E3 시스템 · s</a:t>
            </a:r>
            <a:endParaRPr lang="ko-KR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552761" y="4334256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산출</a:t>
            </a:r>
            <a:endParaRPr lang="ko-KR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552761" y="454456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확정 등급 · 대책 설계</a:t>
            </a:r>
            <a:endParaRPr lang="ko-KR" sz="1150" dirty="0"/>
          </a:p>
        </p:txBody>
      </p:sp>
      <p:sp>
        <p:nvSpPr>
          <p:cNvPr id="55" name="Shape 53"/>
          <p:cNvSpPr/>
          <p:nvPr/>
        </p:nvSpPr>
        <p:spPr>
          <a:xfrm>
            <a:off x="9442460" y="338328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56" name="step 4"/>
          <p:cNvSpPr/>
          <p:nvPr/>
        </p:nvSpPr>
        <p:spPr>
          <a:xfrm>
            <a:off x="9698492" y="1737360"/>
            <a:ext cx="2036003" cy="3291840"/>
          </a:xfrm>
          <a:prstGeom prst="roundRect">
            <a:avLst>
              <a:gd name="adj" fmla="val 359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7" name="panel 4"/>
          <p:cNvSpPr/>
          <p:nvPr/>
        </p:nvSpPr>
        <p:spPr>
          <a:xfrm>
            <a:off x="9835652" y="187452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835652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0201412" y="1828800"/>
            <a:ext cx="1487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판정 · 대책</a:t>
            </a:r>
            <a:endParaRPr lang="ko-KR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9863084" y="2304288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하는 일</a:t>
            </a:r>
            <a:endParaRPr lang="ko-KR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9863084" y="251460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등급 · 표시 · 대책별 감소량</a:t>
            </a:r>
            <a:endParaRPr lang="ko-KR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9863084" y="2980944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자료</a:t>
            </a:r>
            <a:endParaRPr lang="ko-KR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9863084" y="3191256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대책 스위치</a:t>
            </a:r>
            <a:endParaRPr lang="ko-KR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9863084" y="3657600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재료 인자</a:t>
            </a:r>
            <a:endParaRPr lang="ko-KR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9863084" y="3867912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—</a:t>
            </a:r>
            <a:endParaRPr lang="ko-KR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9863084" y="4334256"/>
            <a:ext cx="176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chemeClr val="tx2"/>
                </a:solidFill>
              </a:rPr>
              <a:t>산출</a:t>
            </a:r>
            <a:endParaRPr lang="ko-KR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9863084" y="454456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우선순위 · 문서(NFPA 551)</a:t>
            </a:r>
            <a:endParaRPr lang="ko-KR" sz="1150" dirty="0"/>
          </a:p>
        </p:txBody>
      </p:sp>
      <p:sp>
        <p:nvSpPr>
          <p:cNvPr id="68" name="same formula"/>
          <p:cNvSpPr/>
          <p:nvPr/>
        </p:nvSpPr>
        <p:spPr>
          <a:xfrm>
            <a:off x="457200" y="5212080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23303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5800" y="52120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같은 평가식  </a:t>
            </a:r>
            <a:r>
              <a:rPr lang="ko-KR" altLang="en-US" sz="1300" dirty="0">
                <a:solidFill>
                  <a:schemeClr val="tx1"/>
                </a:solidFill>
              </a:rPr>
              <a:t>R = Σ구간 [실내 화재 분출 + 하단 화원 + 하부 구간 분출] — 재료 인자(</a:t>
            </a:r>
            <a:r>
              <a:rPr lang="ko-KR" altLang="en-US" sz="1300" dirty="0">
                <a:solidFill>
                  <a:schemeClr val="tx1"/>
                </a:solidFill>
              </a:rPr>
              <a:t>t</a:t>
            </a:r>
            <a:r>
              <a:rPr lang="ko-KR" altLang="en-US" sz="13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300" dirty="0">
                <a:solidFill>
                  <a:schemeClr val="tx1"/>
                </a:solidFill>
              </a:rPr>
              <a:t> · </a:t>
            </a:r>
            <a:r>
              <a:rPr lang="ko-KR" altLang="en-US" sz="1300" dirty="0">
                <a:solidFill>
                  <a:schemeClr val="tx1"/>
                </a:solidFill>
              </a:rPr>
              <a:t>p</a:t>
            </a:r>
            <a:r>
              <a:rPr lang="ko-KR" altLang="en-US" sz="1300" baseline="-40000" dirty="0">
                <a:solidFill>
                  <a:schemeClr val="tx1"/>
                </a:solidFill>
              </a:rPr>
              <a:t>B</a:t>
            </a:r>
            <a:r>
              <a:rPr lang="ko-KR" altLang="en-US" sz="1300" dirty="0">
                <a:solidFill>
                  <a:schemeClr val="tx1"/>
                </a:solidFill>
              </a:rPr>
              <a:t> · A)의 근거만 E0 → E3로 바뀜</a:t>
            </a:r>
            <a:endParaRPr lang="ko-KR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58978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2단계 강조: 이 연구의 시험 역량(콘 · TGA–DSC · FT-IR · 3 m 중공층)이 들어가는 자리. 2 · 3단계는 0 · 1단계 등급이 높거나 판정이 갈리는 건물에만 적용.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평가식 — 한 장으로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외벽이 화염에 노출되는 빈도 × 위층 j개 층까지 번질 확률 × 아직 피난 못 한 사람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세 가지 노출 경로를 구간마다 더함</a:t>
            </a:r>
            <a:endParaRPr lang="ko-KR" sz="2000" dirty="0"/>
          </a:p>
        </p:txBody>
      </p:sp>
      <p:sp>
        <p:nvSpPr>
          <p:cNvPr id="4" name="formula"/>
          <p:cNvSpPr/>
          <p:nvPr/>
        </p:nvSpPr>
        <p:spPr>
          <a:xfrm>
            <a:off x="457200" y="1664208"/>
            <a:ext cx="11277295" cy="2240280"/>
          </a:xfrm>
          <a:prstGeom prst="roundRect">
            <a:avLst>
              <a:gd name="adj" fmla="val 326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R = Σ구간 z ( </a:t>
            </a:r>
            <a:r>
              <a:rPr lang="ko-KR" altLang="en-US" sz="1700" b="1" dirty="0">
                <a:solidFill>
                  <a:schemeClr val="tx1"/>
                </a:solidFill>
              </a:rPr>
              <a:t>R</a:t>
            </a:r>
            <a:r>
              <a:rPr lang="ko-KR" altLang="en-US" sz="1700" b="1" baseline="-40000" dirty="0">
                <a:solidFill>
                  <a:schemeClr val="tx1"/>
                </a:solidFill>
              </a:rPr>
              <a:t>1</a:t>
            </a:r>
            <a:r>
              <a:rPr lang="ko-KR" altLang="en-US" sz="1700" b="1" dirty="0">
                <a:solidFill>
                  <a:schemeClr val="tx1"/>
                </a:solidFill>
              </a:rPr>
              <a:t> + </a:t>
            </a:r>
            <a:r>
              <a:rPr lang="ko-KR" altLang="en-US" sz="1700" b="1" dirty="0">
                <a:solidFill>
                  <a:schemeClr val="tx1"/>
                </a:solidFill>
              </a:rPr>
              <a:t>R</a:t>
            </a:r>
            <a:r>
              <a:rPr lang="ko-KR" altLang="en-US" sz="170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700" b="1" dirty="0">
                <a:solidFill>
                  <a:schemeClr val="tx1"/>
                </a:solidFill>
              </a:rPr>
              <a:t> + </a:t>
            </a:r>
            <a:r>
              <a:rPr lang="ko-KR" altLang="en-US" sz="1700" b="1" dirty="0">
                <a:solidFill>
                  <a:schemeClr val="tx1"/>
                </a:solidFill>
              </a:rPr>
              <a:t>R</a:t>
            </a:r>
            <a:r>
              <a:rPr lang="ko-KR" altLang="en-US" sz="1700" b="1" baseline="-40000" dirty="0">
                <a:solidFill>
                  <a:schemeClr val="tx1"/>
                </a:solidFill>
              </a:rPr>
              <a:t>3</a:t>
            </a:r>
            <a:r>
              <a:rPr lang="ko-KR" altLang="en-US" sz="1700" b="1" dirty="0">
                <a:solidFill>
                  <a:schemeClr val="tx1"/>
                </a:solidFill>
              </a:rPr>
              <a:t> )   [외벽 화재로 1년에 노출되는 재실자, 명/년]</a:t>
            </a:r>
            <a:endParaRPr lang="ko-KR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R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1</a:t>
            </a:r>
            <a:r>
              <a:rPr lang="ko-KR" altLang="en-US" sz="1250" b="1" dirty="0">
                <a:solidFill>
                  <a:schemeClr val="tx1"/>
                </a:solidFill>
              </a:rPr>
              <a:t> 실내 화재 → 창 분출</a:t>
            </a:r>
            <a:endParaRPr lang="ko-KR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212848"/>
            <a:ext cx="8396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Σ발화층 i  </a:t>
            </a:r>
            <a:r>
              <a:rPr lang="ko-KR" altLang="en-US" sz="1300" dirty="0">
                <a:solidFill>
                  <a:schemeClr val="tx1"/>
                </a:solidFill>
              </a:rPr>
              <a:t>f</a:t>
            </a:r>
            <a:r>
              <a:rPr lang="ko-KR" altLang="en-US" sz="1300" baseline="-40000" dirty="0">
                <a:solidFill>
                  <a:schemeClr val="tx1"/>
                </a:solidFill>
              </a:rPr>
              <a:t>i</a:t>
            </a:r>
            <a:r>
              <a:rPr lang="ko-KR" altLang="en-US" sz="1300" dirty="0">
                <a:solidFill>
                  <a:schemeClr val="tx1"/>
                </a:solidFill>
              </a:rPr>
              <a:t>  Σj  c(k) · [ </a:t>
            </a:r>
            <a:r>
              <a:rPr lang="ko-KR" altLang="en-US" sz="1300" dirty="0">
                <a:solidFill>
                  <a:schemeClr val="tx1"/>
                </a:solidFill>
              </a:rPr>
              <a:t>p</a:t>
            </a:r>
            <a:r>
              <a:rPr lang="ko-KR" altLang="en-US" sz="1300" baseline="-40000" dirty="0">
                <a:solidFill>
                  <a:schemeClr val="tx1"/>
                </a:solidFill>
              </a:rPr>
              <a:t>e</a:t>
            </a:r>
            <a:r>
              <a:rPr lang="ko-KR" altLang="en-US" sz="1300" dirty="0">
                <a:solidFill>
                  <a:schemeClr val="tx1"/>
                </a:solidFill>
              </a:rPr>
              <a:t>·a·(b·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min</a:t>
            </a:r>
            <a:r>
              <a:rPr lang="ko-KR" altLang="en-US" sz="1300" dirty="0">
                <a:solidFill>
                  <a:schemeClr val="tx1"/>
                </a:solidFill>
              </a:rPr>
              <a:t> + (1−b)·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a</a:t>
            </a:r>
            <a:r>
              <a:rPr lang="ko-KR" altLang="en-US" sz="1300" dirty="0">
                <a:solidFill>
                  <a:schemeClr val="tx1"/>
                </a:solidFill>
              </a:rPr>
              <a:t>) + (1 − </a:t>
            </a:r>
            <a:r>
              <a:rPr lang="ko-KR" altLang="en-US" sz="1300" dirty="0">
                <a:solidFill>
                  <a:schemeClr val="tx1"/>
                </a:solidFill>
              </a:rPr>
              <a:t>p</a:t>
            </a:r>
            <a:r>
              <a:rPr lang="ko-KR" altLang="en-US" sz="1300" baseline="-40000" dirty="0">
                <a:solidFill>
                  <a:schemeClr val="tx1"/>
                </a:solidFill>
              </a:rPr>
              <a:t>e</a:t>
            </a:r>
            <a:r>
              <a:rPr lang="ko-KR" altLang="en-US" sz="1300" dirty="0">
                <a:solidFill>
                  <a:schemeClr val="tx1"/>
                </a:solidFill>
              </a:rPr>
              <a:t>·a)·b·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b</a:t>
            </a:r>
            <a:r>
              <a:rPr lang="ko-KR" altLang="en-US" sz="1300" dirty="0">
                <a:solidFill>
                  <a:schemeClr val="tx1"/>
                </a:solidFill>
              </a:rPr>
              <a:t> ]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R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외벽 하단 화원</a:t>
            </a:r>
            <a:endParaRPr lang="ko-KR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743200"/>
            <a:ext cx="8396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Σ화원 s  </a:t>
            </a:r>
            <a:r>
              <a:rPr lang="ko-KR" altLang="en-US" sz="1300" dirty="0">
                <a:solidFill>
                  <a:schemeClr val="tx1"/>
                </a:solidFill>
              </a:rPr>
              <a:t>F</a:t>
            </a:r>
            <a:r>
              <a:rPr lang="ko-KR" altLang="en-US" sz="1300" baseline="-40000" dirty="0">
                <a:solidFill>
                  <a:schemeClr val="tx1"/>
                </a:solidFill>
              </a:rPr>
              <a:t>s</a:t>
            </a:r>
            <a:r>
              <a:rPr lang="ko-KR" altLang="en-US" sz="1300" dirty="0">
                <a:solidFill>
                  <a:schemeClr val="tx1"/>
                </a:solidFill>
              </a:rPr>
              <a:t>  Σj  c(k) · </a:t>
            </a:r>
            <a:r>
              <a:rPr lang="ko-KR" altLang="en-US" sz="1300" dirty="0">
                <a:solidFill>
                  <a:schemeClr val="tx1"/>
                </a:solidFill>
              </a:rPr>
              <a:t>p</a:t>
            </a:r>
            <a:r>
              <a:rPr lang="ko-KR" altLang="en-US" sz="1300" baseline="-40000" dirty="0">
                <a:solidFill>
                  <a:schemeClr val="tx1"/>
                </a:solidFill>
              </a:rPr>
              <a:t>e2</a:t>
            </a:r>
            <a:r>
              <a:rPr lang="ko-KR" altLang="en-US" sz="1300" dirty="0">
                <a:solidFill>
                  <a:schemeClr val="tx1"/>
                </a:solidFill>
              </a:rPr>
              <a:t> · </a:t>
            </a:r>
            <a:r>
              <a:rPr lang="ko-KR" altLang="en-US" sz="1300" dirty="0">
                <a:solidFill>
                  <a:schemeClr val="tx1"/>
                </a:solidFill>
              </a:rPr>
              <a:t>a</a:t>
            </a:r>
            <a:r>
              <a:rPr lang="ko-KR" altLang="en-US" sz="1300" baseline="-40000" dirty="0">
                <a:solidFill>
                  <a:schemeClr val="tx1"/>
                </a:solidFill>
              </a:rPr>
              <a:t>s</a:t>
            </a:r>
            <a:r>
              <a:rPr lang="ko-KR" altLang="en-US" sz="1300" dirty="0">
                <a:solidFill>
                  <a:schemeClr val="tx1"/>
                </a:solidFill>
              </a:rPr>
              <a:t>(j) · 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s</a:t>
            </a:r>
            <a:r>
              <a:rPr lang="ko-KR" altLang="en-US" sz="1300" dirty="0">
                <a:solidFill>
                  <a:schemeClr val="tx1"/>
                </a:solidFill>
              </a:rPr>
              <a:t>(j)        (필로티 차량, 쓰레기 · 실외기 등)</a:t>
            </a:r>
            <a:endParaRPr 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R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3</a:t>
            </a:r>
            <a:r>
              <a:rPr lang="ko-KR" altLang="en-US" sz="1250" b="1" dirty="0">
                <a:solidFill>
                  <a:schemeClr val="tx1"/>
                </a:solidFill>
              </a:rPr>
              <a:t> 하부 구간 분출화염</a:t>
            </a:r>
            <a:endParaRPr lang="ko-KR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273552"/>
            <a:ext cx="8396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f</a:t>
            </a:r>
            <a:r>
              <a:rPr lang="ko-KR" altLang="en-US" sz="1300" baseline="-40000" dirty="0">
                <a:solidFill>
                  <a:schemeClr val="tx1"/>
                </a:solidFill>
              </a:rPr>
              <a:t>하부</a:t>
            </a:r>
            <a:r>
              <a:rPr lang="ko-KR" altLang="en-US" sz="1300" dirty="0">
                <a:solidFill>
                  <a:schemeClr val="tx1"/>
                </a:solidFill>
              </a:rPr>
              <a:t>  Σj  c(k) · </a:t>
            </a:r>
            <a:r>
              <a:rPr lang="ko-KR" altLang="en-US" sz="1300" dirty="0">
                <a:solidFill>
                  <a:schemeClr val="tx1"/>
                </a:solidFill>
              </a:rPr>
              <a:t>p</a:t>
            </a:r>
            <a:r>
              <a:rPr lang="ko-KR" altLang="en-US" sz="1300" baseline="-40000" dirty="0">
                <a:solidFill>
                  <a:schemeClr val="tx1"/>
                </a:solidFill>
              </a:rPr>
              <a:t>e2</a:t>
            </a:r>
            <a:r>
              <a:rPr lang="ko-KR" altLang="en-US" sz="1300" dirty="0">
                <a:solidFill>
                  <a:schemeClr val="tx1"/>
                </a:solidFill>
              </a:rPr>
              <a:t> · a(j) · [ b·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min</a:t>
            </a:r>
            <a:r>
              <a:rPr lang="ko-KR" altLang="en-US" sz="1300" dirty="0">
                <a:solidFill>
                  <a:schemeClr val="tx1"/>
                </a:solidFill>
              </a:rPr>
              <a:t> + (1−b)·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a</a:t>
            </a:r>
            <a:r>
              <a:rPr lang="ko-KR" altLang="en-US" sz="1300" dirty="0">
                <a:solidFill>
                  <a:schemeClr val="tx1"/>
                </a:solidFill>
              </a:rPr>
              <a:t> − b·</a:t>
            </a:r>
            <a:r>
              <a:rPr lang="ko-KR" altLang="en-US" sz="1300" dirty="0">
                <a:solidFill>
                  <a:schemeClr val="tx1"/>
                </a:solidFill>
              </a:rPr>
              <a:t>q</a:t>
            </a:r>
            <a:r>
              <a:rPr lang="ko-KR" altLang="en-US" sz="1300" baseline="-40000" dirty="0">
                <a:solidFill>
                  <a:schemeClr val="tx1"/>
                </a:solidFill>
              </a:rPr>
              <a:t>b</a:t>
            </a:r>
            <a:r>
              <a:rPr lang="ko-KR" altLang="en-US" sz="1300" dirty="0">
                <a:solidFill>
                  <a:schemeClr val="tx1"/>
                </a:solidFill>
              </a:rPr>
              <a:t> ]        (예: 저층 상가 → 고층 패널)</a:t>
            </a:r>
            <a:endParaRPr lang="ko-KR" sz="1300" dirty="0"/>
          </a:p>
        </p:txBody>
      </p:sp>
      <p:sp>
        <p:nvSpPr>
          <p:cNvPr id="12" name="f_i 발화 빈도"/>
          <p:cNvSpPr/>
          <p:nvPr/>
        </p:nvSpPr>
        <p:spPr>
          <a:xfrm>
            <a:off x="457200" y="4041648"/>
            <a:ext cx="21091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0965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f</a:t>
            </a:r>
            <a:r>
              <a:rPr lang="ko-KR" altLang="en-US" sz="1150" b="1" baseline="-40000" dirty="0">
                <a:solidFill>
                  <a:schemeClr val="tx1"/>
                </a:solidFill>
              </a:rPr>
              <a:t>i</a:t>
            </a:r>
            <a:r>
              <a:rPr lang="ko-KR" altLang="en-US" sz="1150" b="1" dirty="0">
                <a:solidFill>
                  <a:schemeClr val="tx1"/>
                </a:solidFill>
              </a:rPr>
              <a:t> 발화 빈도</a:t>
            </a:r>
            <a:endParaRPr lang="ko-KR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389120"/>
            <a:ext cx="18896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세대 · 실 화재 × (1 −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s</a:t>
            </a:r>
            <a:r>
              <a:rPr lang="ko-KR" altLang="en-US" sz="1050" dirty="0">
                <a:solidFill>
                  <a:schemeClr val="tx1"/>
                </a:solidFill>
              </a:rPr>
              <a:t> · 스프링클러) ×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FO</a:t>
            </a:r>
            <a:r>
              <a:rPr lang="ko-KR" altLang="en-US" sz="1050" dirty="0">
                <a:solidFill>
                  <a:schemeClr val="tx1"/>
                </a:solidFill>
              </a:rPr>
              <a:t> ×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v</a:t>
            </a:r>
            <a:r>
              <a:rPr lang="ko-KR" altLang="en-US" sz="1050" dirty="0">
                <a:solidFill>
                  <a:schemeClr val="tx1"/>
                </a:solidFill>
              </a:rPr>
              <a:t> × 창 계수</a:t>
            </a:r>
            <a:endParaRPr lang="ko-KR" sz="1050" dirty="0"/>
          </a:p>
        </p:txBody>
      </p:sp>
      <p:sp>
        <p:nvSpPr>
          <p:cNvPr id="15" name="a(j) 외벽 경로"/>
          <p:cNvSpPr/>
          <p:nvPr/>
        </p:nvSpPr>
        <p:spPr>
          <a:xfrm>
            <a:off x="2749235" y="4041648"/>
            <a:ext cx="21091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58963" y="40965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a(j) 외벽 경로</a:t>
            </a:r>
            <a:endParaRPr lang="ko-KR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858963" y="4389120"/>
            <a:ext cx="18896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(1 −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cb</a:t>
            </a:r>
            <a:r>
              <a:rPr lang="ko-KR" altLang="en-US" sz="1050" dirty="0">
                <a:solidFill>
                  <a:schemeClr val="tx1"/>
                </a:solidFill>
              </a:rPr>
              <a:t>)^j · </a:t>
            </a:r>
            <a:r>
              <a:rPr lang="ko-KR" altLang="en-US" sz="1050" dirty="0">
                <a:solidFill>
                  <a:schemeClr val="tx1"/>
                </a:solidFill>
              </a:rPr>
              <a:t>S</a:t>
            </a:r>
            <a:r>
              <a:rPr lang="ko-KR" altLang="en-US" sz="1050" baseline="-40000" dirty="0">
                <a:solidFill>
                  <a:schemeClr val="tx1"/>
                </a:solidFill>
              </a:rPr>
              <a:t>FS</a:t>
            </a:r>
            <a:r>
              <a:rPr lang="ko-KR" altLang="en-US" sz="1050" dirty="0">
                <a:solidFill>
                  <a:schemeClr val="tx1"/>
                </a:solidFill>
              </a:rPr>
              <a:t>(jτ) · [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B</a:t>
            </a:r>
            <a:r>
              <a:rPr lang="ko-KR" altLang="en-US" sz="1050" dirty="0">
                <a:solidFill>
                  <a:schemeClr val="tx1"/>
                </a:solidFill>
              </a:rPr>
              <a:t> + (1 −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B</a:t>
            </a:r>
            <a:r>
              <a:rPr lang="ko-KR" altLang="en-US" sz="1050" dirty="0">
                <a:solidFill>
                  <a:schemeClr val="tx1"/>
                </a:solidFill>
              </a:rPr>
              <a:t>) · </a:t>
            </a:r>
            <a:r>
              <a:rPr lang="ko-KR" altLang="en-US" sz="1050" dirty="0">
                <a:solidFill>
                  <a:schemeClr val="tx1"/>
                </a:solidFill>
              </a:rPr>
              <a:t>S</a:t>
            </a:r>
            <a:r>
              <a:rPr lang="ko-KR" altLang="en-US" sz="1050" baseline="-40000" dirty="0">
                <a:solidFill>
                  <a:schemeClr val="tx1"/>
                </a:solidFill>
              </a:rPr>
              <a:t>e</a:t>
            </a:r>
            <a:r>
              <a:rPr lang="ko-KR" altLang="en-US" sz="1050" dirty="0">
                <a:solidFill>
                  <a:schemeClr val="tx1"/>
                </a:solidFill>
              </a:rPr>
              <a:t>(jτ)],  τ = s · </a:t>
            </a:r>
            <a:r>
              <a:rPr lang="ko-KR" altLang="en-US" sz="1050" dirty="0">
                <a:solidFill>
                  <a:schemeClr val="tx1"/>
                </a:solidFill>
              </a:rPr>
              <a:t>t</a:t>
            </a:r>
            <a:r>
              <a:rPr lang="ko-KR" altLang="en-US" sz="10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050" dirty="0">
                <a:solidFill>
                  <a:schemeClr val="tx1"/>
                </a:solidFill>
              </a:rPr>
              <a:t> · h / 3 m</a:t>
            </a:r>
            <a:endParaRPr lang="ko-KR" sz="1050" dirty="0"/>
          </a:p>
        </p:txBody>
      </p:sp>
      <p:sp>
        <p:nvSpPr>
          <p:cNvPr id="18" name="b(j) 창→창 도약"/>
          <p:cNvSpPr/>
          <p:nvPr/>
        </p:nvSpPr>
        <p:spPr>
          <a:xfrm>
            <a:off x="5041270" y="4041648"/>
            <a:ext cx="21091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50998" y="40965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b(j) 창→창 도약</a:t>
            </a:r>
            <a:endParaRPr lang="ko-KR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150998" y="4389120"/>
            <a:ext cx="18896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L</a:t>
            </a:r>
            <a:r>
              <a:rPr lang="ko-KR" altLang="en-US" sz="1050" dirty="0">
                <a:solidFill>
                  <a:schemeClr val="tx1"/>
                </a:solidFill>
              </a:rPr>
              <a:t>^j · (1 −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s</a:t>
            </a:r>
            <a:r>
              <a:rPr lang="ko-KR" altLang="en-US" sz="1050" dirty="0">
                <a:solidFill>
                  <a:schemeClr val="tx1"/>
                </a:solidFill>
              </a:rPr>
              <a:t>)^(위층 스프링클러 층 수) · </a:t>
            </a:r>
            <a:r>
              <a:rPr lang="ko-KR" altLang="en-US" sz="1050" dirty="0">
                <a:solidFill>
                  <a:schemeClr val="tx1"/>
                </a:solidFill>
              </a:rPr>
              <a:t>S</a:t>
            </a:r>
            <a:r>
              <a:rPr lang="ko-KR" altLang="en-US" sz="1050" baseline="-40000" dirty="0">
                <a:solidFill>
                  <a:schemeClr val="tx1"/>
                </a:solidFill>
              </a:rPr>
              <a:t>FS</a:t>
            </a:r>
            <a:r>
              <a:rPr lang="ko-KR" altLang="en-US" sz="1050" dirty="0">
                <a:solidFill>
                  <a:schemeClr val="tx1"/>
                </a:solidFill>
              </a:rPr>
              <a:t>(j · </a:t>
            </a:r>
            <a:r>
              <a:rPr lang="ko-KR" altLang="en-US" sz="1050" dirty="0">
                <a:solidFill>
                  <a:schemeClr val="tx1"/>
                </a:solidFill>
              </a:rPr>
              <a:t>τ</a:t>
            </a:r>
            <a:r>
              <a:rPr lang="ko-KR" altLang="en-US" sz="1050" baseline="-40000" dirty="0">
                <a:solidFill>
                  <a:schemeClr val="tx1"/>
                </a:solidFill>
              </a:rPr>
              <a:t>L</a:t>
            </a:r>
            <a:r>
              <a:rPr lang="ko-KR" altLang="en-US" sz="1050" dirty="0">
                <a:solidFill>
                  <a:schemeClr val="tx1"/>
                </a:solidFill>
              </a:rPr>
              <a:t>)</a:t>
            </a:r>
            <a:endParaRPr lang="ko-KR" sz="1050" dirty="0"/>
          </a:p>
        </p:txBody>
      </p:sp>
      <p:sp>
        <p:nvSpPr>
          <p:cNvPr id="21" name="q(t) 피난 지연"/>
          <p:cNvSpPr/>
          <p:nvPr/>
        </p:nvSpPr>
        <p:spPr>
          <a:xfrm>
            <a:off x="7333305" y="4041648"/>
            <a:ext cx="21091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43033" y="40965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q(t) 피난 지연</a:t>
            </a:r>
            <a:endParaRPr lang="ko-KR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43033" y="4389120"/>
            <a:ext cx="18896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P(RSET &gt; t) — 필로티 화재 + 1층 방화구획 없음이면 +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st</a:t>
            </a:r>
            <a:endParaRPr lang="ko-KR" sz="1050" dirty="0"/>
          </a:p>
        </p:txBody>
      </p:sp>
      <p:sp>
        <p:nvSpPr>
          <p:cNvPr id="24" name="c(k) 노출 재실자"/>
          <p:cNvSpPr/>
          <p:nvPr/>
        </p:nvSpPr>
        <p:spPr>
          <a:xfrm>
            <a:off x="9625340" y="4041648"/>
            <a:ext cx="21091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5068" y="4096512"/>
            <a:ext cx="18896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c(k) 노출 재실자</a:t>
            </a:r>
            <a:endParaRPr lang="ko-KR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735068" y="4389120"/>
            <a:ext cx="18896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확산 띠 세대 × 세대당 인원 × 실내 유입 (층별)</a:t>
            </a:r>
            <a:endParaRPr lang="ko-KR" sz="1050" dirty="0"/>
          </a:p>
        </p:txBody>
      </p:sp>
      <p:sp>
        <p:nvSpPr>
          <p:cNvPr id="27" name="judge"/>
          <p:cNvSpPr/>
          <p:nvPr/>
        </p:nvSpPr>
        <p:spPr>
          <a:xfrm>
            <a:off x="457200" y="5468112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48640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판정  </a:t>
            </a:r>
            <a:r>
              <a:rPr lang="ko-KR" altLang="en-US" sz="1200" dirty="0">
                <a:solidFill>
                  <a:schemeClr val="bg1"/>
                </a:solidFill>
              </a:rPr>
              <a:t>IR = R ÷ 재실자,  r = IR ÷ </a:t>
            </a:r>
            <a:r>
              <a:rPr lang="ko-KR" altLang="en-US" sz="1200" dirty="0">
                <a:solidFill>
                  <a:schemeClr val="bg1"/>
                </a:solidFill>
              </a:rPr>
              <a:t>λ</a:t>
            </a:r>
            <a:r>
              <a:rPr lang="ko-KR" altLang="en-US" sz="1200" baseline="-40000" dirty="0">
                <a:solidFill>
                  <a:schemeClr val="bg1"/>
                </a:solidFill>
              </a:rPr>
              <a:t>res</a:t>
            </a:r>
            <a:r>
              <a:rPr lang="ko-KR" altLang="en-US" sz="1200" dirty="0">
                <a:solidFill>
                  <a:schemeClr val="bg1"/>
                </a:solidFill>
              </a:rPr>
              <a:t>(자택 화재 위험) → 1등급 &lt; 0.01 ≤ 2 &lt; 0.1 ≤ 3 &lt; 1 ≤ 4 &lt; 10 ≤ 5</a:t>
            </a:r>
            <a:endParaRPr lang="ko-KR" sz="12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기준  </a:t>
            </a:r>
            <a:r>
              <a:rPr lang="ko-KR" altLang="en-US" sz="1200" dirty="0">
                <a:solidFill>
                  <a:schemeClr val="bg1"/>
                </a:solidFill>
              </a:rPr>
              <a:t>R</a:t>
            </a:r>
            <a:r>
              <a:rPr lang="ko-KR" altLang="en-US" sz="1200" baseline="-40000" dirty="0">
                <a:solidFill>
                  <a:schemeClr val="bg1"/>
                </a:solidFill>
              </a:rPr>
              <a:t>ref</a:t>
            </a:r>
            <a:r>
              <a:rPr lang="ko-KR" altLang="en-US" sz="1200" dirty="0">
                <a:solidFill>
                  <a:schemeClr val="bg1"/>
                </a:solidFill>
              </a:rPr>
              <a:t> = 같은 건물의 외벽을 모두 불연으로 바꿨을 때(창→창 도약만) → 외벽 기여 RR = R / </a:t>
            </a:r>
            <a:r>
              <a:rPr lang="ko-KR" altLang="en-US" sz="1200" dirty="0">
                <a:solidFill>
                  <a:schemeClr val="bg1"/>
                </a:solidFill>
              </a:rPr>
              <a:t>R</a:t>
            </a:r>
            <a:r>
              <a:rPr lang="ko-KR" altLang="en-US" sz="1200" baseline="-40000" dirty="0">
                <a:solidFill>
                  <a:schemeClr val="bg1"/>
                </a:solidFill>
              </a:rPr>
              <a:t>ref</a:t>
            </a:r>
            <a:r>
              <a:rPr lang="ko-KR" altLang="en-US" sz="1200" dirty="0">
                <a:solidFill>
                  <a:schemeClr val="bg1"/>
                </a:solidFill>
              </a:rPr>
              <a:t>, ΔR = R − </a:t>
            </a:r>
            <a:r>
              <a:rPr lang="ko-KR" altLang="en-US" sz="1200" dirty="0">
                <a:solidFill>
                  <a:schemeClr val="bg1"/>
                </a:solidFill>
              </a:rPr>
              <a:t>R</a:t>
            </a:r>
            <a:r>
              <a:rPr lang="ko-KR" altLang="en-US" sz="1200" baseline="-40000" dirty="0">
                <a:solidFill>
                  <a:schemeClr val="bg1"/>
                </a:solidFill>
              </a:rPr>
              <a:t>ref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어떤 형태든 — 외벽을 '구간'으로 나누는 방법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같은 외벽 시스템 · 같은 노출(창 유무 · 하단 화원)의 수직 구간으로 나누면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필로티 · 저층 상가 + 고층 주거 · 측벽 · 커튼월이 모두 구간의 조합</a:t>
            </a:r>
            <a:endParaRPr lang="ko-KR" sz="2000" dirty="0"/>
          </a:p>
        </p:txBody>
      </p:sp>
      <p:sp>
        <p:nvSpPr>
          <p:cNvPr id="4" name="piloti"/>
          <p:cNvSpPr/>
          <p:nvPr/>
        </p:nvSpPr>
        <p:spPr>
          <a:xfrm>
            <a:off x="777240" y="5020056"/>
            <a:ext cx="1554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77240" y="5020056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필로티 주차</a:t>
            </a:r>
            <a:endParaRPr lang="ko-KR" sz="1000" dirty="0"/>
          </a:p>
        </p:txBody>
      </p:sp>
      <p:sp>
        <p:nvSpPr>
          <p:cNvPr id="6" name="zone A1"/>
          <p:cNvSpPr/>
          <p:nvPr/>
        </p:nvSpPr>
        <p:spPr>
          <a:xfrm>
            <a:off x="777240" y="1874520"/>
            <a:ext cx="1057046" cy="3145536"/>
          </a:xfrm>
          <a:prstGeom prst="rect">
            <a:avLst/>
          </a:prstGeom>
          <a:solidFill>
            <a:srgbClr val="F8DEDE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929384"/>
            <a:ext cx="983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A1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전면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(필로티 위)</a:t>
            </a:r>
            <a:endParaRPr lang="ko-KR" sz="1000" dirty="0"/>
          </a:p>
        </p:txBody>
      </p:sp>
      <p:sp>
        <p:nvSpPr>
          <p:cNvPr id="8" name="zone A2"/>
          <p:cNvSpPr/>
          <p:nvPr/>
        </p:nvSpPr>
        <p:spPr>
          <a:xfrm>
            <a:off x="1834286" y="1874520"/>
            <a:ext cx="497434" cy="3145536"/>
          </a:xfrm>
          <a:prstGeom prst="rect">
            <a:avLst/>
          </a:prstGeom>
          <a:solidFill>
            <a:srgbClr val="F8DEDE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0862" y="1929384"/>
            <a:ext cx="4242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A2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측 · 후면</a:t>
            </a:r>
            <a:endParaRPr lang="ko-KR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A  필로티 다세대주택</a:t>
            </a:r>
            <a:endParaRPr lang="ko-KR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5833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5층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1828800" cy="0"/>
          </a:xfrm>
          <a:prstGeom prst="line">
            <a:avLst/>
          </a:prstGeom>
          <a:noFill/>
          <a:ln w="19050">
            <a:solidFill>
              <a:srgbClr val="233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5074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B42318"/>
                </a:solidFill>
              </a:rPr>
              <a:t>IE2 차량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 flipV="1">
            <a:off x="1143000" y="4791456"/>
            <a:ext cx="914" cy="905256"/>
          </a:xfrm>
          <a:prstGeom prst="line">
            <a:avLst/>
          </a:prstGeom>
          <a:noFill/>
          <a:ln w="2540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5" name="zone B1"/>
          <p:cNvSpPr/>
          <p:nvPr/>
        </p:nvSpPr>
        <p:spPr>
          <a:xfrm>
            <a:off x="2971800" y="1874520"/>
            <a:ext cx="1057046" cy="3931920"/>
          </a:xfrm>
          <a:prstGeom prst="rect">
            <a:avLst/>
          </a:prstGeom>
          <a:solidFill>
            <a:srgbClr val="FDF0D5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08376" y="1929384"/>
            <a:ext cx="983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B1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세대 창 면</a:t>
            </a:r>
            <a:endParaRPr lang="ko-KR" sz="1000" dirty="0"/>
          </a:p>
        </p:txBody>
      </p:sp>
      <p:sp>
        <p:nvSpPr>
          <p:cNvPr id="17" name="zone B2"/>
          <p:cNvSpPr/>
          <p:nvPr/>
        </p:nvSpPr>
        <p:spPr>
          <a:xfrm>
            <a:off x="4028846" y="1874520"/>
            <a:ext cx="497434" cy="3931920"/>
          </a:xfrm>
          <a:prstGeom prst="rect">
            <a:avLst/>
          </a:prstGeom>
          <a:solidFill>
            <a:srgbClr val="FDF0D5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65422" y="1929384"/>
            <a:ext cx="4242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B2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측벽</a:t>
            </a:r>
            <a:endParaRPr lang="ko-KR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B  15층 아파트</a:t>
            </a:r>
            <a:endParaRPr lang="ko-KR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5833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15층</a:t>
            </a:r>
            <a:endParaRPr lang="ko-KR" sz="950" dirty="0"/>
          </a:p>
        </p:txBody>
      </p:sp>
      <p:sp>
        <p:nvSpPr>
          <p:cNvPr id="21" name="Shape 19"/>
          <p:cNvSpPr/>
          <p:nvPr/>
        </p:nvSpPr>
        <p:spPr>
          <a:xfrm>
            <a:off x="2834640" y="5806440"/>
            <a:ext cx="1828800" cy="0"/>
          </a:xfrm>
          <a:prstGeom prst="line">
            <a:avLst/>
          </a:prstGeom>
          <a:noFill/>
          <a:ln w="19050">
            <a:solidFill>
              <a:srgbClr val="2330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429000" y="3552139"/>
            <a:ext cx="914" cy="550469"/>
          </a:xfrm>
          <a:prstGeom prst="line">
            <a:avLst/>
          </a:prstGeom>
          <a:noFill/>
          <a:ln w="2540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83864" y="365699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B42318"/>
                </a:solidFill>
              </a:rPr>
              <a:t>IE1</a:t>
            </a:r>
            <a:endParaRPr lang="ko-KR" sz="950" dirty="0"/>
          </a:p>
        </p:txBody>
      </p:sp>
      <p:sp>
        <p:nvSpPr>
          <p:cNvPr id="24" name="zone C1"/>
          <p:cNvSpPr/>
          <p:nvPr/>
        </p:nvSpPr>
        <p:spPr>
          <a:xfrm>
            <a:off x="5166360" y="5334610"/>
            <a:ext cx="1181405" cy="471830"/>
          </a:xfrm>
          <a:prstGeom prst="rect">
            <a:avLst/>
          </a:prstGeom>
          <a:solidFill>
            <a:srgbClr val="E5E7EB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02936" y="5389474"/>
            <a:ext cx="1108253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C1</a:t>
            </a:r>
            <a:endParaRPr lang="ko-KR" sz="850" dirty="0"/>
          </a:p>
          <a:p>
            <a:pPr algn="ctr"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저층 상가</a:t>
            </a:r>
            <a:endParaRPr lang="ko-KR" sz="850" dirty="0"/>
          </a:p>
        </p:txBody>
      </p:sp>
      <p:sp>
        <p:nvSpPr>
          <p:cNvPr id="26" name="zone C2"/>
          <p:cNvSpPr/>
          <p:nvPr/>
        </p:nvSpPr>
        <p:spPr>
          <a:xfrm>
            <a:off x="5166360" y="1874520"/>
            <a:ext cx="1181405" cy="3460090"/>
          </a:xfrm>
          <a:prstGeom prst="rect">
            <a:avLst/>
          </a:prstGeom>
          <a:solidFill>
            <a:srgbClr val="F8DEDE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02936" y="1929384"/>
            <a:ext cx="11082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C2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고층 주거</a:t>
            </a:r>
            <a:endParaRPr lang="ko-KR" sz="1000" dirty="0"/>
          </a:p>
        </p:txBody>
      </p:sp>
      <p:sp>
        <p:nvSpPr>
          <p:cNvPr id="28" name="zone C3"/>
          <p:cNvSpPr/>
          <p:nvPr/>
        </p:nvSpPr>
        <p:spPr>
          <a:xfrm>
            <a:off x="6347765" y="1874520"/>
            <a:ext cx="555955" cy="3460090"/>
          </a:xfrm>
          <a:prstGeom prst="rect">
            <a:avLst/>
          </a:prstGeom>
          <a:solidFill>
            <a:srgbClr val="F8DEDE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4341" y="1929384"/>
            <a:ext cx="482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C3</a:t>
            </a:r>
            <a:endParaRPr lang="ko-KR" sz="1000" dirty="0"/>
          </a:p>
          <a:p>
            <a:pPr algn="ctr"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측면</a:t>
            </a:r>
            <a:endParaRPr lang="ko-KR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C  주상복합</a:t>
            </a:r>
            <a:endParaRPr lang="ko-KR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5833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25층</a:t>
            </a:r>
            <a:endParaRPr lang="ko-KR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5806440"/>
            <a:ext cx="2011680" cy="0"/>
          </a:xfrm>
          <a:prstGeom prst="line">
            <a:avLst/>
          </a:prstGeom>
          <a:noFill/>
          <a:ln w="19050">
            <a:solidFill>
              <a:srgbClr val="2330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3290011"/>
            <a:ext cx="21945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5212080" y="3061411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rgbClr val="4B5563"/>
                </a:solidFill>
              </a:rPr>
              <a:t>고가사다리 50 m</a:t>
            </a:r>
            <a:endParaRPr lang="ko-KR" sz="850" dirty="0"/>
          </a:p>
        </p:txBody>
      </p:sp>
      <p:sp>
        <p:nvSpPr>
          <p:cNvPr id="35" name="Shape 33"/>
          <p:cNvSpPr/>
          <p:nvPr/>
        </p:nvSpPr>
        <p:spPr>
          <a:xfrm flipV="1">
            <a:off x="5715000" y="4988601"/>
            <a:ext cx="914" cy="408920"/>
          </a:xfrm>
          <a:prstGeom prst="line">
            <a:avLst/>
          </a:prstGeom>
          <a:noFill/>
          <a:ln w="2540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769864" y="50357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b="1" dirty="0">
                <a:solidFill>
                  <a:srgbClr val="B42318"/>
                </a:solidFill>
              </a:rPr>
              <a:t>IE3</a:t>
            </a:r>
            <a:endParaRPr lang="ko-KR" sz="950" dirty="0"/>
          </a:p>
        </p:txBody>
      </p:sp>
      <p:sp>
        <p:nvSpPr>
          <p:cNvPr id="37" name="card 구간 나누는 규칙"/>
          <p:cNvSpPr/>
          <p:nvPr/>
        </p:nvSpPr>
        <p:spPr>
          <a:xfrm>
            <a:off x="7406640" y="1645920"/>
            <a:ext cx="4327855" cy="3063240"/>
          </a:xfrm>
          <a:prstGeom prst="roundRect">
            <a:avLst>
              <a:gd name="adj" fmla="val 2388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183794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0" y="1737360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구간 나누는 규칙</a:t>
            </a:r>
            <a:endParaRPr lang="ko-KR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607808" y="2176272"/>
            <a:ext cx="3943807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외벽 시스템이 바뀌는 높이 · 면에서 나눔(석재 저층부 / 패널 고층부)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창이 있는 면과 거의 없는 면(측벽)은 나눔 — 창 계수 1 · 0.4 · 0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수직으로 이어진 구간은 같은 '열': 위층 도약 · 하부 분출이 이어짐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하단 화원(필로티 차량 · 쓰레기 · 실외기)은 그 위 구간에 붙임</a:t>
            </a:r>
            <a:endParaRPr lang="ko-KR" sz="1150" dirty="0"/>
          </a:p>
        </p:txBody>
      </p:sp>
      <p:sp>
        <p:nvSpPr>
          <p:cNvPr id="41" name="card 건물 단위 입력"/>
          <p:cNvSpPr/>
          <p:nvPr/>
        </p:nvSpPr>
        <p:spPr>
          <a:xfrm>
            <a:off x="7406640" y="4846320"/>
            <a:ext cx="4327855" cy="1234440"/>
          </a:xfrm>
          <a:prstGeom prst="roundRect">
            <a:avLst>
              <a:gd name="adj" fmla="val 5926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503834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0" y="4937760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건물 단위 입력</a:t>
            </a:r>
            <a:endParaRPr lang="ko-KR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607808" y="5376672"/>
            <a:ext cx="3943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층수 · 층고 · 사다리 도달 높이 · 스프링클러 설치 층 · 필로티(천장 마감, 1층 방화구획)</a:t>
            </a:r>
            <a:endParaRPr lang="ko-KR" sz="1150" dirty="0"/>
          </a:p>
        </p:txBody>
      </p:sp>
      <p:sp>
        <p:nvSpPr>
          <p:cNvPr id="45" name="Shape 43"/>
          <p:cNvSpPr/>
          <p:nvPr/>
        </p:nvSpPr>
        <p:spPr>
          <a:xfrm>
            <a:off x="713232" y="6163056"/>
            <a:ext cx="182880" cy="146304"/>
          </a:xfrm>
          <a:prstGeom prst="rect">
            <a:avLst/>
          </a:prstGeom>
          <a:solidFill>
            <a:srgbClr val="F8DEDE"/>
          </a:solidFill>
          <a:ln w="6350">
            <a:solidFill>
              <a:srgbClr val="F8DED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42416" y="6108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가연</a:t>
            </a:r>
            <a:endParaRPr lang="ko-KR" sz="1100" dirty="0"/>
          </a:p>
        </p:txBody>
      </p:sp>
      <p:sp>
        <p:nvSpPr>
          <p:cNvPr id="47" name="Shape 45"/>
          <p:cNvSpPr/>
          <p:nvPr/>
        </p:nvSpPr>
        <p:spPr>
          <a:xfrm>
            <a:off x="1801368" y="6163056"/>
            <a:ext cx="182880" cy="146304"/>
          </a:xfrm>
          <a:prstGeom prst="rect">
            <a:avLst/>
          </a:prstGeom>
          <a:solidFill>
            <a:srgbClr val="FDF0D5"/>
          </a:solidFill>
          <a:ln w="6350">
            <a:solidFill>
              <a:srgbClr val="FDF0D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30552" y="6108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준불연</a:t>
            </a:r>
            <a:endParaRPr lang="ko-KR" sz="1100" dirty="0"/>
          </a:p>
        </p:txBody>
      </p:sp>
      <p:sp>
        <p:nvSpPr>
          <p:cNvPr id="49" name="Shape 47"/>
          <p:cNvSpPr/>
          <p:nvPr/>
        </p:nvSpPr>
        <p:spPr>
          <a:xfrm>
            <a:off x="3026664" y="6163056"/>
            <a:ext cx="182880" cy="146304"/>
          </a:xfrm>
          <a:prstGeom prst="rect">
            <a:avLst/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55848" y="6108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불연</a:t>
            </a:r>
            <a:endParaRPr lang="ko-KR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840480" y="61356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예제 3동의 구간 · 건물마다 높이 축척이 다름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F 항 — 외벽이 화염에 노출되는 빈도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실내 화재는 통계로(2023년 아파트 화재 2,993건), 외부 화원은 자료가 없어 예시값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자료를 넣을 자리와 대체할 출처를 함께 둠</a:t>
            </a:r>
            <a:endParaRPr lang="ko-KR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050792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식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값 · 출처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IE1 실내 화재 → 창 분출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u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res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(1 −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스프링클러(i층))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창 계수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res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2.4×10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/세대·년 = 2023 아파트 화재 2,993건 ÷ 아파트 약 1,260만 호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근거 있음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비주거: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u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res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대신 면적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com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com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7.0×10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/m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·년 (예시) → 용도별 화재 ÷ 연면적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대체 필요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스프링클러 작동 · 제어,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최성기 도달,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창 분출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0.9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0.15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0.7 (예시)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대체 필요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IE2 필로티 차량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 =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car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주차면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x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(천장 가연 0.9 / 불연 0.5)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car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5.0×10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/주차면·년 (예시) → 주차 중 차량 화재 통계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대체 필요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IE2 기타 하단 화원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 =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adj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개소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x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(0.3)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adj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5.0×10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/개소·년 (예시) → 건물 외부 발화 통계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대체 필요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IE3 하부 구간 분출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 = 아래 구간 최상층의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IE1과 같은 자료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근거 있음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029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스프링클러는 층별 입력(예: 11층 이상만) — 기축 아파트는 허가 시점에 따라 일부 층만 설치된 경우가 많아 층마다 (1 −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s</a:t>
            </a:r>
            <a:r>
              <a:rPr lang="ko-KR" altLang="en-US" sz="1050" dirty="0">
                <a:solidFill>
                  <a:schemeClr val="tx2"/>
                </a:solidFill>
              </a:rPr>
              <a:t>)를 적용.</a:t>
            </a:r>
            <a:endParaRPr lang="ko-K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49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통계 출처: 소방청 2023 화재 통계(공동주택 4,868건 · 아파트 2,993건 보도), 인구주택총조사(아파트 2020년 1,166만 호 · 2025년 약 1,330만 호).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E 항 — 외벽을 타고 위층에 닿을 확률: 재료 인자가 들어가는 곳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 재료는 층당 확산시간 τ와 자립 연소 </a:t>
            </a:r>
            <a:r>
              <a:rPr lang="ko-KR" altLang="en-US" sz="2000" b="1" dirty="0">
                <a:solidFill>
                  <a:schemeClr val="tx1"/>
                </a:solidFill>
              </a:rPr>
              <a:t>p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B</a:t>
            </a:r>
            <a:r>
              <a:rPr lang="ko-KR" altLang="en-US" sz="2000" b="1" dirty="0">
                <a:solidFill>
                  <a:schemeClr val="tx1"/>
                </a:solidFill>
              </a:rPr>
              <a:t>로만 들어감 — 가연 외단열은 끝까지,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준불연 중공층은 1–3개 층, 불연 외벽은 창→창 도약만 남음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외벽 경로  </a:t>
            </a:r>
            <a:r>
              <a:rPr lang="ko-KR" altLang="en-US" sz="1200" dirty="0">
                <a:solidFill>
                  <a:schemeClr val="tx1"/>
                </a:solidFill>
              </a:rPr>
              <a:t>a(j) = (1 −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200" dirty="0">
                <a:solidFill>
                  <a:schemeClr val="tx1"/>
                </a:solidFill>
              </a:rPr>
              <a:t>)^j · </a:t>
            </a:r>
            <a:r>
              <a:rPr lang="ko-KR" altLang="en-US" sz="1200" dirty="0">
                <a:solidFill>
                  <a:schemeClr val="tx1"/>
                </a:solidFill>
              </a:rPr>
              <a:t>S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(jτ) · [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 + (1 −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) · </a:t>
            </a:r>
            <a:r>
              <a:rPr lang="ko-KR" altLang="en-US" sz="1200" dirty="0">
                <a:solidFill>
                  <a:schemeClr val="tx1"/>
                </a:solidFill>
              </a:rPr>
              <a:t>S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</a:t>
            </a:r>
            <a:r>
              <a:rPr lang="ko-KR" altLang="en-US" sz="1200" dirty="0">
                <a:solidFill>
                  <a:schemeClr val="tx1"/>
                </a:solidFill>
              </a:rPr>
              <a:t>(jτ)]</a:t>
            </a:r>
            <a:endParaRPr lang="ko-KR" sz="1200" dirty="0"/>
          </a:p>
          <a:p>
            <a:pPr indent="0" marL="0">
              <a:spcAft>
                <a:spcPts val="700"/>
              </a:spcAft>
              <a:buNone/>
            </a:pPr>
            <a:pPr indent="0" marL="0"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진압 전(</a:t>
            </a:r>
            <a:r>
              <a:rPr lang="ko-KR" altLang="en-US" sz="1200" dirty="0">
                <a:solidFill>
                  <a:schemeClr val="tx1"/>
                </a:solidFill>
              </a:rPr>
              <a:t>S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)이고, 분출화염이 남아 있거나(</a:t>
            </a:r>
            <a:r>
              <a:rPr lang="ko-KR" altLang="en-US" sz="1200" dirty="0">
                <a:solidFill>
                  <a:schemeClr val="tx1"/>
                </a:solidFill>
              </a:rPr>
              <a:t>S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</a:t>
            </a:r>
            <a:r>
              <a:rPr lang="ko-KR" altLang="en-US" sz="1200" dirty="0">
                <a:solidFill>
                  <a:schemeClr val="tx1"/>
                </a:solidFill>
              </a:rPr>
              <a:t>) 스스로 타면(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) 다음 층으로</a:t>
            </a:r>
            <a:endParaRPr lang="ko-KR" sz="120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창→창 도약  </a:t>
            </a:r>
            <a:r>
              <a:rPr lang="ko-KR" altLang="en-US" sz="1200" dirty="0">
                <a:solidFill>
                  <a:schemeClr val="tx1"/>
                </a:solidFill>
              </a:rPr>
              <a:t>b(j) =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L</a:t>
            </a:r>
            <a:r>
              <a:rPr lang="ko-KR" altLang="en-US" sz="1200" dirty="0">
                <a:solidFill>
                  <a:schemeClr val="tx1"/>
                </a:solidFill>
              </a:rPr>
              <a:t>^j · (1 −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s</a:t>
            </a:r>
            <a:r>
              <a:rPr lang="ko-KR" altLang="en-US" sz="1200" dirty="0">
                <a:solidFill>
                  <a:schemeClr val="tx1"/>
                </a:solidFill>
              </a:rPr>
              <a:t>)^(위층 스프링클러 층) · </a:t>
            </a:r>
            <a:r>
              <a:rPr lang="ko-KR" altLang="en-US" sz="1200" dirty="0">
                <a:solidFill>
                  <a:schemeClr val="tx1"/>
                </a:solidFill>
              </a:rPr>
              <a:t>S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(j ·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L</a:t>
            </a:r>
            <a:r>
              <a:rPr lang="ko-KR" altLang="en-US" sz="1200" dirty="0">
                <a:solidFill>
                  <a:schemeClr val="tx1"/>
                </a:solidFill>
              </a:rPr>
              <a:t>)</a:t>
            </a:r>
            <a:endParaRPr lang="ko-KR" sz="120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진압 시각  </a:t>
            </a:r>
            <a:r>
              <a:rPr lang="ko-KR" altLang="en-US" sz="1200" dirty="0">
                <a:solidFill>
                  <a:schemeClr val="tx1"/>
                </a:solidFill>
              </a:rPr>
              <a:t>고가사다리 도달 범위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 중앙값 15분, 범위 밖 45분(예시)</a:t>
            </a:r>
            <a:endParaRPr lang="ko-KR" sz="120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대책  </a:t>
            </a:r>
            <a:r>
              <a:rPr lang="ko-KR" altLang="en-US" sz="1200" dirty="0">
                <a:solidFill>
                  <a:schemeClr val="tx1"/>
                </a:solidFill>
              </a:rPr>
              <a:t>화재확산방지구조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200" dirty="0">
                <a:solidFill>
                  <a:schemeClr val="tx1"/>
                </a:solidFill>
              </a:rPr>
              <a:t> 0.7/층 경계, 개구부 차단재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</a:t>
            </a:r>
            <a:r>
              <a:rPr lang="ko-KR" altLang="en-US" sz="1200" dirty="0">
                <a:solidFill>
                  <a:schemeClr val="tx1"/>
                </a:solidFill>
              </a:rPr>
              <a:t> 0.9 → 0.3</a:t>
            </a:r>
            <a:endParaRPr lang="ko-KR" sz="120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인정 규칙  </a:t>
            </a:r>
            <a:r>
              <a:rPr lang="ko-KR" altLang="en-US" sz="1200" dirty="0">
                <a:solidFill>
                  <a:schemeClr val="tx1"/>
                </a:solidFill>
              </a:rPr>
              <a:t>가연재가 바깥 면이거나 패널 심재로 이어진 유형(PE 심재 복합패널 · 샌드위치패널 · 미상 가연)은 확산방지구조 · 차단재 효과를 인정하지 않음(EFFECT와 같은 판단)</a:t>
            </a:r>
            <a:endParaRPr lang="ko-KR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806440" y="1645920"/>
          <a:ext cx="592805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99246" y="5184648"/>
            <a:ext cx="50981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발화층 위 j번째 층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 rot="16200000">
            <a:off x="4910328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그 층까지 닿을 확률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897880" y="5724144"/>
            <a:ext cx="329184" cy="0"/>
          </a:xfrm>
          <a:prstGeom prst="line">
            <a:avLst/>
          </a:prstGeom>
          <a:noFill/>
          <a:ln w="25400">
            <a:solidFill>
              <a:srgbClr val="EDA1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0216" y="5596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외단열 미장 EPS(가연)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8083296" y="5724144"/>
            <a:ext cx="329184" cy="0"/>
          </a:xfrm>
          <a:prstGeom prst="line">
            <a:avLst/>
          </a:prstGeom>
          <a:noFill/>
          <a:ln w="25400">
            <a:solidFill>
              <a:srgbClr val="E349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85632" y="5596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중공층 PF 내부용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10268712" y="5724144"/>
            <a:ext cx="329184" cy="0"/>
          </a:xfrm>
          <a:prstGeom prst="line">
            <a:avLst/>
          </a:prstGeom>
          <a:noFill/>
          <a:ln w="25400">
            <a:solidFill>
              <a:srgbClr val="0083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71048" y="5596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중공층 PIR 준불연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5897880" y="5980176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0216" y="5852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중공층 PF 외부용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8083296" y="5980176"/>
            <a:ext cx="329184" cy="0"/>
          </a:xfrm>
          <a:prstGeom prst="line">
            <a:avLst/>
          </a:prstGeom>
          <a:noFill/>
          <a:ln w="25400">
            <a:solidFill>
              <a:srgbClr val="8A8F9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85632" y="5852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불연(도약만)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6126480"/>
            <a:ext cx="5928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조건: 실내 화재 분출 · 스프링클러 없음 · 사다리 도달 범위 · 대책 없음 · s = 0.5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C 항과 판정 — 누가 노출되고, 몇 등급인가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위층에 화재가 닿을 때 아직 피난하지 못한 재실자를 세고, 1인당 위험을 자택 화재 위험(</a:t>
            </a:r>
            <a:r>
              <a:rPr lang="ko-KR" altLang="en-US" sz="2000" b="1" dirty="0">
                <a:solidFill>
                  <a:schemeClr val="tx1"/>
                </a:solidFill>
              </a:rPr>
              <a:t>λ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res</a:t>
            </a:r>
            <a:r>
              <a:rPr lang="ko-KR" altLang="en-US" sz="2000" b="1" dirty="0">
                <a:solidFill>
                  <a:schemeClr val="tx1"/>
                </a:solidFill>
              </a:rPr>
              <a:t>)과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비교해 등급을 매김 — 자택 화재 위험의 1 % · 10 % · 같은 수준 · 10배가 경계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노출 재실자  </a:t>
            </a:r>
            <a:r>
              <a:rPr lang="ko-KR" altLang="en-US" sz="1200" dirty="0">
                <a:solidFill>
                  <a:schemeClr val="tx1"/>
                </a:solidFill>
              </a:rPr>
              <a:t>c(k) = 확산 띠 세대(발화 세대 열 + 이웃 1열) × 세대당 인원 × 실내 유입</a:t>
            </a:r>
            <a:endParaRPr lang="ko-KR" sz="12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피난 지연  </a:t>
            </a:r>
            <a:r>
              <a:rPr lang="ko-KR" altLang="en-US" sz="1200" dirty="0">
                <a:solidFill>
                  <a:schemeClr val="tx1"/>
                </a:solidFill>
              </a:rPr>
              <a:t>q(t) = P(RSET &gt; t): 주거(취침) 중앙값 15분, 비주거 8분(예시)</a:t>
            </a:r>
            <a:endParaRPr lang="ko-KR" sz="12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필로티 · 계단  </a:t>
            </a:r>
            <a:r>
              <a:rPr lang="ko-KR" altLang="en-US" sz="1200" dirty="0">
                <a:solidFill>
                  <a:schemeClr val="tx1"/>
                </a:solidFill>
              </a:rPr>
              <a:t>필로티 화재 + 1층 방화구획 없음 → 계단 연기로 피난 실패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st</a:t>
            </a:r>
            <a:r>
              <a:rPr lang="ko-KR" altLang="en-US" sz="1200" dirty="0">
                <a:solidFill>
                  <a:schemeClr val="tx1"/>
                </a:solidFill>
              </a:rPr>
              <a:t> 0.5를 더함</a:t>
            </a:r>
            <a:endParaRPr lang="ko-KR" sz="12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개인 위험  </a:t>
            </a:r>
            <a:r>
              <a:rPr lang="ko-KR" altLang="en-US" sz="1200" dirty="0">
                <a:solidFill>
                  <a:schemeClr val="tx1"/>
                </a:solidFill>
              </a:rPr>
              <a:t>IR = R ÷ 재실자(/인 · 년),  r = IR ÷ </a:t>
            </a:r>
            <a:r>
              <a:rPr lang="ko-KR" altLang="en-US" sz="1200" dirty="0">
                <a:solidFill>
                  <a:schemeClr val="tx1"/>
                </a:solidFill>
              </a:rPr>
              <a:t>λ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res</a:t>
            </a:r>
            <a:endParaRPr lang="ko-KR" sz="1200" dirty="0"/>
          </a:p>
          <a:p>
            <a:pPr indent="0" marL="0"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표시  </a:t>
            </a:r>
            <a:r>
              <a:rPr lang="ko-KR" altLang="en-US" sz="1200" dirty="0">
                <a:solidFill>
                  <a:schemeClr val="tx1"/>
                </a:solidFill>
              </a:rPr>
              <a:t>M: 노출 1건당 노출 인원 C̄ ≥ 10명(대형 피해) · A: 급발(용융 · 가연 전면 화염)</a:t>
            </a:r>
            <a:endParaRPr lang="ko-KR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91640"/>
          <a:ext cx="60652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1371600"/>
                <a:gridCol w="213329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r = IR /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λ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res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IR (/인·년)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 낮음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r &lt; 0.01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&lt; 2.4×10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자택 화재 위험의 1 % 미만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보통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0.01 – 0.1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1–10 %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 높음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 – 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10 % – 같은 수준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 매우 높음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 – 10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같은 수준 – 10배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5 심각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≥ 10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≥ 2.4×10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10배 이상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4434840"/>
            <a:ext cx="6065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2"/>
                </a:solidFill>
              </a:rPr>
              <a:t>res</a:t>
            </a:r>
            <a:r>
              <a:rPr lang="ko-KR" altLang="en-US" sz="1100" dirty="0">
                <a:solidFill>
                  <a:schemeClr val="tx2"/>
                </a:solidFill>
              </a:rPr>
              <a:t> = 2.4×10</a:t>
            </a:r>
            <a:r>
              <a:rPr lang="ko-KR" altLang="en-US" sz="1100" baseline="30000" dirty="0">
                <a:solidFill>
                  <a:schemeClr val="tx2"/>
                </a:solidFill>
              </a:rPr>
              <a:t>−4</a:t>
            </a:r>
            <a:r>
              <a:rPr lang="ko-KR" altLang="en-US" sz="1100" dirty="0">
                <a:solidFill>
                  <a:schemeClr val="tx2"/>
                </a:solidFill>
              </a:rPr>
              <a:t>/세대·년(2023 아파트 화재 통계) — 내 집에서 불이 날 연간 확률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실내 화재가 주된 건물은 </a:t>
            </a:r>
            <a:r>
              <a:rPr lang="ko-KR" altLang="en-US" sz="1100" dirty="0">
                <a:solidFill>
                  <a:schemeClr val="tx2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2"/>
                </a:solidFill>
              </a:rPr>
              <a:t>res</a:t>
            </a:r>
            <a:r>
              <a:rPr lang="ko-KR" altLang="en-US" sz="1100" dirty="0">
                <a:solidFill>
                  <a:schemeClr val="tx2"/>
                </a:solidFill>
              </a:rPr>
              <a:t>가 분자 · 분모에서 상쇄되어 r이 화재 빈도의 불확실성에 덜 민감함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등급 경계는 제안값 — 사례 · 사회적 합의로 보정할 연구 대상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 인자 — 외벽 유형별 </a:t>
            </a:r>
            <a:r>
              <a:rPr lang="ko-KR" altLang="en-US" sz="1200" b="1" dirty="0">
                <a:solidFill>
                  <a:schemeClr val="tx2"/>
                </a:solidFill>
              </a:rPr>
              <a:t>t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600</a:t>
            </a:r>
            <a:r>
              <a:rPr lang="ko-KR" altLang="en-US" sz="1200" b="1" dirty="0">
                <a:solidFill>
                  <a:schemeClr val="tx2"/>
                </a:solidFill>
              </a:rPr>
              <a:t> · </a:t>
            </a:r>
            <a:r>
              <a:rPr lang="ko-KR" altLang="en-US" sz="1200" b="1" dirty="0">
                <a:solidFill>
                  <a:schemeClr val="tx2"/>
                </a:solidFill>
              </a:rPr>
              <a:t>p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B</a:t>
            </a:r>
            <a:r>
              <a:rPr lang="ko-KR" altLang="en-US" sz="1200" b="1" dirty="0">
                <a:solidFill>
                  <a:schemeClr val="tx2"/>
                </a:solidFill>
              </a:rPr>
              <a:t> · 급발, 시험한 것과 경계값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시험한 중공층 5종은 시험값(E3), 드라이비트 · 복합패널 · 샌드위치패널은 경계값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시험 자료가 없어 가연 경계값(30 s)으로 두고, 시료 · 시스템 시험이 들어오면 바뀜</a:t>
            </a:r>
            <a:endParaRPr lang="ko-KR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  <a:gridCol w="777240"/>
                <a:gridCol w="594360"/>
                <a:gridCol w="548640"/>
                <a:gridCol w="1143000"/>
                <a:gridCol w="594360"/>
                <a:gridCol w="423367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외벽 유형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(s)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급발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확산방지 · 차단재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근거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값의 출처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건식 마감 + 중공층 + PIR(PUR) 준불연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1079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0.17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중공층 시험 2회: </a:t>
                      </a: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9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 1068·1091 s(기하평균) · 자립연소 0/2 → (0+½)/(2+1)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건식 마감 + 중공층 + PF 준불연(외부용)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1346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0.83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중공층 시험 2회: 1245·1455 s · 자립연소 2/2 → 2.5/3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건식 마감 + 중공층 + PF 준불연(내부용)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512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중공층 시험 2회: 556·472 s · 자립연소 1/2 → 1.5/3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건식 마감 + 중공층 + 난연 EPS 준불연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968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중공층 시험 3회: 962·975 s(1회 미도달) · 자립연소 0/3 → 0.5/4 · 용융(급발 A)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건식 마감 + 중공층 + PIR(PUR) 가연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가연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0.17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중공층 시험 2회: 29·31 s(30 s 만에 전면 화염)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외단열 미장(드라이비트) + EPS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가연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시스템 시험 자료 없음 → 가연 경계값(시험한 가연재 30 s) · 외단열 미장 시스템 시험으로 대체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금속복합패널(PE 심재)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가연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불인정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시스템 시험 자료 없음 → 가연 경계값 · 복합패널 외벽 시험으로 대체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샌드위치패널(EPS·우레탄 심재)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가연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불인정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시스템 시험 자료 없음 → 가연 경계값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준불연(제품·시스템 미상)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512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시험한 준불연 4종 중 가장 빠른 값(PF 내부용) · 자립연소 미상(½)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가연(제품·시스템 미상)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가연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불인정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시험한 가연재(PIR(PUR) 가연) 값을 경계로 사용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불연 외벽</a:t>
                      </a:r>
                      <a:endParaRPr lang="ko-KR" sz="105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불연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1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00" dirty="0">
                          <a:solidFill>
                            <a:srgbClr val="23303D"/>
                          </a:solidFill>
                        </a:rPr>
                        <a:t>외벽 경로 없음(창→창 도약만 남음)</a:t>
                      </a:r>
                      <a:endParaRPr lang="ko-KR" sz="9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7607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050" dirty="0">
                <a:solidFill>
                  <a:schemeClr val="tx2"/>
                </a:solidFill>
              </a:rPr>
              <a:t>: 3 m 중공층 시험(30 kW 버너)에서 3000 mm 높이가 600 K 오르는 시간 = 층당 확산시간.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B</a:t>
            </a:r>
            <a:r>
              <a:rPr lang="ko-KR" altLang="en-US" sz="1050" dirty="0">
                <a:solidFill>
                  <a:schemeClr val="tx2"/>
                </a:solidFill>
              </a:rPr>
              <a:t>: 버너 소화 뒤 스스로 탈 확률(시험 횟수로 추정).</a:t>
            </a:r>
            <a:endParaRPr lang="ko-K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035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외단열 미장(드라이비트) · 복합패널 · 샌드위치패널의 시스템 시험 DB를 만드는 것이 이 방법을 쓰기 위한 첫 연구 과제.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2단계 시료 시험 — FT-IR로 식별, 콘으로 등급, TGA로 </a:t>
            </a:r>
            <a:r>
              <a:rPr lang="ko-KR" altLang="en-US" sz="1200" b="1" dirty="0">
                <a:solidFill>
                  <a:schemeClr val="tx2"/>
                </a:solidFill>
              </a:rPr>
              <a:t>t̂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600</a:t>
            </a:r>
            <a:r>
              <a:rPr lang="ko-KR" altLang="en-US" sz="1200" b="1" dirty="0">
                <a:solidFill>
                  <a:schemeClr val="tx2"/>
                </a:solidFill>
              </a:rPr>
              <a:t> · </a:t>
            </a:r>
            <a:r>
              <a:rPr lang="ko-KR" altLang="en-US" sz="1200" b="1" dirty="0">
                <a:solidFill>
                  <a:schemeClr val="tx2"/>
                </a:solidFill>
              </a:rPr>
              <a:t>p̂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B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시료로 재료 인자를 측정값으로 바꿈 — 콘이 가연이면 가연 경계값,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준불연 탄화형이면 TGA 예측식, 용융형이면 급발 A</a:t>
            </a:r>
            <a:endParaRPr lang="ko-KR" sz="2000" dirty="0"/>
          </a:p>
        </p:txBody>
      </p:sp>
      <p:sp>
        <p:nvSpPr>
          <p:cNvPr id="4" name="채취"/>
          <p:cNvSpPr/>
          <p:nvPr/>
        </p:nvSpPr>
        <p:spPr>
          <a:xfrm>
            <a:off x="457200" y="1737360"/>
            <a:ext cx="2579294" cy="1463040"/>
          </a:xfrm>
          <a:prstGeom prst="roundRect">
            <a:avLst>
              <a:gd name="adj" fmla="val 5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panel 1"/>
          <p:cNvSpPr/>
          <p:nvPr/>
        </p:nvSpPr>
        <p:spPr>
          <a:xfrm>
            <a:off x="594360" y="184708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792224"/>
            <a:ext cx="2030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채취</a:t>
            </a:r>
            <a:endParaRPr lang="ko-K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40280"/>
            <a:ext cx="22866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구간 유형마다 2개소 이상(개구부 둘레 · 하단 포함), 마감 + 단열재 + 접착층</a:t>
            </a:r>
            <a:endParaRPr lang="ko-KR" sz="1150" dirty="0"/>
          </a:p>
        </p:txBody>
      </p:sp>
      <p:sp>
        <p:nvSpPr>
          <p:cNvPr id="9" name="Shape 7"/>
          <p:cNvSpPr/>
          <p:nvPr/>
        </p:nvSpPr>
        <p:spPr>
          <a:xfrm>
            <a:off x="3063926" y="2468880"/>
            <a:ext cx="265176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0" name="FT-IR"/>
          <p:cNvSpPr/>
          <p:nvPr/>
        </p:nvSpPr>
        <p:spPr>
          <a:xfrm>
            <a:off x="3356534" y="1737360"/>
            <a:ext cx="2579294" cy="1463040"/>
          </a:xfrm>
          <a:prstGeom prst="roundRect">
            <a:avLst>
              <a:gd name="adj" fmla="val 5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1" name="panel 2"/>
          <p:cNvSpPr/>
          <p:nvPr/>
        </p:nvSpPr>
        <p:spPr>
          <a:xfrm>
            <a:off x="3493694" y="184708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69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59454" y="1792224"/>
            <a:ext cx="2030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FT-IR</a:t>
            </a:r>
            <a:endParaRPr lang="ko-K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1126" y="2240280"/>
            <a:ext cx="22866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고분자(EPS · PIR/PUR · PF · PE 심재) · 난연제(P=O 등) 식별 → 유형 확정</a:t>
            </a:r>
            <a:endParaRPr lang="ko-KR" sz="1150" dirty="0"/>
          </a:p>
        </p:txBody>
      </p:sp>
      <p:sp>
        <p:nvSpPr>
          <p:cNvPr id="15" name="Shape 13"/>
          <p:cNvSpPr/>
          <p:nvPr/>
        </p:nvSpPr>
        <p:spPr>
          <a:xfrm>
            <a:off x="5963260" y="2468880"/>
            <a:ext cx="265176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6" name="콘"/>
          <p:cNvSpPr/>
          <p:nvPr/>
        </p:nvSpPr>
        <p:spPr>
          <a:xfrm>
            <a:off x="6255868" y="1737360"/>
            <a:ext cx="2579294" cy="1463040"/>
          </a:xfrm>
          <a:prstGeom prst="roundRect">
            <a:avLst>
              <a:gd name="adj" fmla="val 5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7" name="panel 3"/>
          <p:cNvSpPr/>
          <p:nvPr/>
        </p:nvSpPr>
        <p:spPr>
          <a:xfrm>
            <a:off x="6393028" y="184708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3028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58788" y="1792224"/>
            <a:ext cx="2030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콘</a:t>
            </a:r>
            <a:endParaRPr lang="ko-KR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20460" y="2240280"/>
            <a:ext cx="22866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KS F ISO 5660-1, 50 kW/m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— 준불연 기준 통과 여부(게이트)</a:t>
            </a:r>
            <a:endParaRPr lang="ko-KR" sz="1150" dirty="0"/>
          </a:p>
        </p:txBody>
      </p:sp>
      <p:sp>
        <p:nvSpPr>
          <p:cNvPr id="21" name="Shape 19"/>
          <p:cNvSpPr/>
          <p:nvPr/>
        </p:nvSpPr>
        <p:spPr>
          <a:xfrm>
            <a:off x="8862593" y="2468880"/>
            <a:ext cx="265176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2" name="TGA"/>
          <p:cNvSpPr/>
          <p:nvPr/>
        </p:nvSpPr>
        <p:spPr>
          <a:xfrm>
            <a:off x="9155201" y="1737360"/>
            <a:ext cx="2579294" cy="1463040"/>
          </a:xfrm>
          <a:prstGeom prst="roundRect">
            <a:avLst>
              <a:gd name="adj" fmla="val 5000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23" name="panel 4"/>
          <p:cNvSpPr/>
          <p:nvPr/>
        </p:nvSpPr>
        <p:spPr>
          <a:xfrm>
            <a:off x="9292361" y="184708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2361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58121" y="1792224"/>
            <a:ext cx="2030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TGA</a:t>
            </a:r>
            <a:endParaRPr lang="ko-KR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19793" y="2240280"/>
            <a:ext cx="22866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공기 · </a:t>
            </a:r>
            <a:r>
              <a:rPr lang="ko-KR" altLang="en-US" sz="1150" dirty="0">
                <a:solidFill>
                  <a:schemeClr val="tx1"/>
                </a:solidFill>
              </a:rPr>
              <a:t>N</a:t>
            </a:r>
            <a:r>
              <a:rPr lang="ko-KR" altLang="en-US" sz="1150" baseline="-4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, 5 °C/min — 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max,air</a:t>
            </a:r>
            <a:r>
              <a:rPr lang="ko-KR" altLang="en-US" sz="1150" dirty="0">
                <a:solidFill>
                  <a:schemeClr val="tx1"/>
                </a:solidFill>
              </a:rPr>
              <a:t> · 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400,air</a:t>
            </a:r>
            <a:endParaRPr lang="ko-KR" sz="1150" dirty="0"/>
          </a:p>
        </p:txBody>
      </p:sp>
      <p:sp>
        <p:nvSpPr>
          <p:cNvPr id="27" name="콘: 준불연 기준 미달"/>
          <p:cNvSpPr/>
          <p:nvPr/>
        </p:nvSpPr>
        <p:spPr>
          <a:xfrm>
            <a:off x="457200" y="3474720"/>
            <a:ext cx="11277295" cy="548640"/>
          </a:xfrm>
          <a:prstGeom prst="roundRect">
            <a:avLst>
              <a:gd name="adj" fmla="val 10000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콘: 준불연 기준 미달</a:t>
            </a:r>
            <a:endParaRPr lang="ko-KR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47472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가연 경계값(</a:t>
            </a: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50" dirty="0">
                <a:solidFill>
                  <a:schemeClr val="tx1"/>
                </a:solidFill>
              </a:rPr>
              <a:t> 30 s,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B</a:t>
            </a:r>
            <a:r>
              <a:rPr lang="ko-KR" altLang="en-US" sz="1250" dirty="0">
                <a:solidFill>
                  <a:schemeClr val="tx1"/>
                </a:solidFill>
              </a:rPr>
              <a:t> 0.5, A)</a:t>
            </a:r>
            <a:endParaRPr lang="ko-KR" sz="1250" dirty="0"/>
          </a:p>
        </p:txBody>
      </p:sp>
      <p:sp>
        <p:nvSpPr>
          <p:cNvPr id="30" name="준불연 · 탄화형(f₄₀₀,air ≥ 0.5)"/>
          <p:cNvSpPr/>
          <p:nvPr/>
        </p:nvSpPr>
        <p:spPr>
          <a:xfrm>
            <a:off x="457200" y="4133088"/>
            <a:ext cx="11277295" cy="548640"/>
          </a:xfrm>
          <a:prstGeom prst="roundRect">
            <a:avLst>
              <a:gd name="adj" fmla="val 10000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133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준불연 · 탄화형(</a:t>
            </a:r>
            <a:r>
              <a:rPr lang="ko-KR" altLang="en-US" sz="1250" b="1" dirty="0">
                <a:solidFill>
                  <a:schemeClr val="tx1"/>
                </a:solidFill>
              </a:rPr>
              <a:t>f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250" b="1" dirty="0">
                <a:solidFill>
                  <a:schemeClr val="tx1"/>
                </a:solidFill>
              </a:rPr>
              <a:t> ≥ 0.5)</a:t>
            </a:r>
            <a:endParaRPr lang="ko-KR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4133088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t̂</a:t>
            </a:r>
            <a:r>
              <a:rPr lang="ko-KR" altLang="en-US" sz="12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50" dirty="0">
                <a:solidFill>
                  <a:schemeClr val="tx1"/>
                </a:solidFill>
              </a:rPr>
              <a:t> = 247.5 + 422.97 / </a:t>
            </a:r>
            <a:r>
              <a:rPr lang="ko-KR" altLang="en-US" sz="1250" dirty="0">
                <a:solidFill>
                  <a:schemeClr val="tx1"/>
                </a:solidFill>
              </a:rPr>
              <a:t>r</a:t>
            </a:r>
            <a:r>
              <a:rPr lang="ko-KR" altLang="en-US" sz="1250" baseline="-40000" dirty="0">
                <a:solidFill>
                  <a:schemeClr val="tx1"/>
                </a:solidFill>
              </a:rPr>
              <a:t>max,air</a:t>
            </a:r>
            <a:r>
              <a:rPr lang="ko-KR" altLang="en-US" sz="1250" dirty="0">
                <a:solidFill>
                  <a:schemeClr val="tx1"/>
                </a:solidFill>
              </a:rPr>
              <a:t>,  </a:t>
            </a:r>
            <a:r>
              <a:rPr lang="ko-KR" altLang="en-US" sz="1250" dirty="0">
                <a:solidFill>
                  <a:schemeClr val="tx1"/>
                </a:solidFill>
              </a:rPr>
              <a:t>p̂</a:t>
            </a:r>
            <a:r>
              <a:rPr lang="ko-KR" altLang="en-US" sz="1250" baseline="-40000" dirty="0">
                <a:solidFill>
                  <a:schemeClr val="tx1"/>
                </a:solidFill>
              </a:rPr>
              <a:t>B</a:t>
            </a:r>
            <a:r>
              <a:rPr lang="ko-KR" altLang="en-US" sz="1250" dirty="0">
                <a:solidFill>
                  <a:schemeClr val="tx1"/>
                </a:solidFill>
              </a:rPr>
              <a:t> = (</a:t>
            </a:r>
            <a:r>
              <a:rPr lang="ko-KR" altLang="en-US" sz="1250" dirty="0">
                <a:solidFill>
                  <a:schemeClr val="tx1"/>
                </a:solidFill>
              </a:rPr>
              <a:t>f</a:t>
            </a:r>
            <a:r>
              <a:rPr lang="ko-KR" altLang="en-US" sz="1250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250" dirty="0">
                <a:solidFill>
                  <a:schemeClr val="tx1"/>
                </a:solidFill>
              </a:rPr>
              <a:t> − 0.60)/0.10 (0.05–0.95)</a:t>
            </a:r>
            <a:endParaRPr lang="ko-KR" sz="1250" dirty="0"/>
          </a:p>
        </p:txBody>
      </p:sp>
      <p:sp>
        <p:nvSpPr>
          <p:cNvPr id="33" name="준불연 · 용융형(f₄₀₀,air &lt; 0.5)"/>
          <p:cNvSpPr/>
          <p:nvPr/>
        </p:nvSpPr>
        <p:spPr>
          <a:xfrm>
            <a:off x="457200" y="4791456"/>
            <a:ext cx="11277295" cy="548640"/>
          </a:xfrm>
          <a:prstGeom prst="roundRect">
            <a:avLst>
              <a:gd name="adj" fmla="val 10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47914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준불연 · 용융형(</a:t>
            </a:r>
            <a:r>
              <a:rPr lang="ko-KR" altLang="en-US" sz="1250" b="1" dirty="0">
                <a:solidFill>
                  <a:schemeClr val="tx1"/>
                </a:solidFill>
              </a:rPr>
              <a:t>f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250" b="1" dirty="0">
                <a:solidFill>
                  <a:schemeClr val="tx1"/>
                </a:solidFill>
              </a:rPr>
              <a:t> &lt; 0.5)</a:t>
            </a:r>
            <a:endParaRPr lang="ko-KR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4791456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유형 기본값 + 급발 A (확산식 미적용)</a:t>
            </a:r>
            <a:endParaRPr lang="ko-KR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468112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TGA 예측식: 준불연 탄화형 3종 · 시험 6회로 보정, 제품을 빼고 맞춘 교차검증에서 확산등급 6/6 일치(integrated_model)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가연성 PIR(PUR)은 TGA로 812 s를 예측했지만 실측 30 s — 콘 게이트가 없으면 위험을 크게 낮게 봄(multiscale_fra)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EFFECT도 시료 · 실험실 시험(콘 · FT-IR · TGA)을 권하지만 식별에만 씀 → 여기서는 평가식의 입력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0단계 선별 — 건축물대장 · 사진 · 허가 시점 기준으로 E0 기본값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허가(신청) 시점 기준으로 '가연 가능 건물'을 가려 보수값을 둠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기준은 요구일 뿐 시공 사실이 아니므로 0단계 등급은 위로 치우침(현장 · 시료로 낮아짐)</a:t>
            </a:r>
            <a:endParaRPr lang="ko-KR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2651760"/>
                <a:gridCol w="21031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구간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허가 시점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외벽 기준 대상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E0 추정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확인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… – 2010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외벽 마감재료 방화 기준 대상이 거의 없음(일부 용도·지역 제외)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가연 추정(C_UNKNOWN)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연도 확정 필요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2010 – 2015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30층 이상 고층건축물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30층 이상: 준불연 추정 / 그 밖: 가연 추정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시행일 확정 필요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2015 – 2019-11-06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6층 이상 또는 높이 22 m 이상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6층·22 m 이상: 준불연 추정 / 미만: 가연 추정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시작 시행일 확정 필요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2019-11-07 – 현재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3층 이상 또는 높이 9 m 이상 + 의료·교육연구·노유자·수련시설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3층·9 m 이상: 준불연 추정 / 5층·22 m 이하 예외 확인</a:t>
                      </a:r>
                      <a:endParaRPr lang="ko-KR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확인(대통령령 제30030호 · 건축허가·신고 신청일 기준)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5" name="card 건축물대장에서"/>
          <p:cNvSpPr/>
          <p:nvPr/>
        </p:nvSpPr>
        <p:spPr>
          <a:xfrm>
            <a:off x="8549640" y="1691640"/>
            <a:ext cx="3184855" cy="2971800"/>
          </a:xfrm>
          <a:prstGeom prst="roundRect">
            <a:avLst>
              <a:gd name="adj" fmla="val 2462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006840" y="1783080"/>
            <a:ext cx="2590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건축물대장에서</a:t>
            </a:r>
            <a:endParaRPr lang="ko-KR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750808" y="2221992"/>
            <a:ext cx="2800807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용도 · 층수 · 높이 · 구조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허가일(사용승인일 아님)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세대 수 · 연면적 → 재실자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필로티 여부(1층 용도)</a:t>
            </a:r>
            <a:endParaRPr lang="ko-KR" sz="1200" dirty="0"/>
          </a:p>
        </p:txBody>
      </p:sp>
      <p:sp>
        <p:nvSpPr>
          <p:cNvPr id="9" name="card 사진(로드뷰)에서"/>
          <p:cNvSpPr/>
          <p:nvPr/>
        </p:nvSpPr>
        <p:spPr>
          <a:xfrm>
            <a:off x="8549640" y="4800600"/>
            <a:ext cx="3184855" cy="1280160"/>
          </a:xfrm>
          <a:prstGeom prst="roundRect">
            <a:avLst>
              <a:gd name="adj" fmla="val 5714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32520" y="499262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06840" y="4892040"/>
            <a:ext cx="2590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사진(로드뷰)에서</a:t>
            </a:r>
            <a:endParaRPr lang="ko-KR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50808" y="5330952"/>
            <a:ext cx="28008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외벽 유형 · 구간 · 창 비율 · 필로티 주차</a:t>
            </a:r>
            <a:endParaRPr lang="ko-KR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983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2019.11.7 시행 기준은 대통령령 제30030호로 확인 · 2010 · 2015년 경계는 법령 원문(국가법령정보센터)으로 확정 후 사용 — 엑셀 3_허가시점기준에 계산기.</a:t>
            </a:r>
            <a:endParaRPr lang="ko-KR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532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P3에서도 5층 · 22 m 이하는 화재확산방지구조를 두면 가연 단열재 허용 → 1단계에서 확인.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1단계 현장 조사 — 조사 항목이 평가식의 어느 입력이 되나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현장 조사표 항목을 평가식 입력과 1:1로 맞춤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구간 나누기 · 외부 화원 · 필로티 · 스프링클러 층이 등급을 가장 크게 바꿈</a:t>
            </a:r>
            <a:endParaRPr lang="ko-KR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0"/>
                <a:gridCol w="3776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현장에서 볼 것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평가식 입력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구간 나누기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시스템이 바뀌는 높이 · 면, 창이 있는 면 / 측벽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구간 b–t, 열, 창 계수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외벽 구성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마감재 · 단열재 계열 · 공기층 유무 · 두께, 품질 표시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유형(키), 증거 E1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개구부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창 크기 · 간격, 스팬드럴 높이, 발코니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창 계수,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L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층간 · 개구부 처리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층간 불연 띠 · 캐비티 배리어, 창 둘레 불연 차단재, 슬래브 끝 틈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확산방지구조(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), 차단재(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e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), 층간 틈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외벽 하단 · 필로티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하단 마감, 필로티 천장 마감(가연/불연), 주차면 수, 1층 방화구획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하단 보호(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e2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), F 필로티,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st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외부 화원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쓰레기 · 적재물 · 실외기 · 전기설비 · 인접 건물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기타 외부 화원 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설비 · 피난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스프링클러 설치 층, 경보 방식, 계단 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스프링클러 시작층, RSET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재실자 · 소방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세대 수 · 용도, 고가사다리 접근 면 · 높이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c(k), 사다리 도달 높이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97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엑셀 건물 시트의 노란 칸이 이 표의 입력과 같은 순서입니다(건물 B6–B13, 구간 행 20–23).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3단계 정밀 평가 — 시스템 시험과 시뮬레이션으로 s와 </a:t>
            </a:r>
            <a:r>
              <a:rPr lang="ko-KR" altLang="en-US" sz="1200" b="1" dirty="0">
                <a:solidFill>
                  <a:schemeClr val="tx2"/>
                </a:solidFill>
              </a:rPr>
              <a:t>t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600</a:t>
            </a:r>
            <a:r>
              <a:rPr lang="ko-KR" altLang="en-US" sz="1200" b="1" dirty="0">
                <a:solidFill>
                  <a:schemeClr val="tx2"/>
                </a:solidFill>
              </a:rPr>
              <a:t> 확정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경계에 걸린 건물은 확산시간 비 s가 판정을 좌우 — 예제 B는 s ≥ 0.84이면 1등급,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중공층 · 실대형(KS F 8414) 시험과 FDS로 s를 정하는 것이 3단계</a:t>
            </a:r>
            <a:endParaRPr lang="ko-KR" sz="2000" dirty="0"/>
          </a:p>
        </p:txBody>
      </p:sp>
      <p:sp>
        <p:nvSpPr>
          <p:cNvPr id="4" name="card 시스템 시험"/>
          <p:cNvSpPr/>
          <p:nvPr/>
        </p:nvSpPr>
        <p:spPr>
          <a:xfrm>
            <a:off x="457200" y="169164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시스템 시험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중규모 3 m 중공층(30 kW 20분):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· 자립 연소(B)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실대형 KS F 8414: 층 단위 확산 → s 보정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배리어 · 차단재를 넣은 시험 →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cb</a:t>
            </a:r>
            <a:r>
              <a:rPr lang="ko-KR" altLang="en-US" sz="1150" dirty="0">
                <a:solidFill>
                  <a:schemeClr val="tx1"/>
                </a:solidFill>
              </a:rPr>
              <a:t> ·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e</a:t>
            </a:r>
            <a:endParaRPr lang="ko-KR" sz="1150" dirty="0"/>
          </a:p>
        </p:txBody>
      </p:sp>
      <p:sp>
        <p:nvSpPr>
          <p:cNvPr id="8" name="card 시뮬레이션(FDS)"/>
          <p:cNvSpPr/>
          <p:nvPr/>
        </p:nvSpPr>
        <p:spPr>
          <a:xfrm>
            <a:off x="457200" y="384048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03250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319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시뮬레이션(FDS)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370832"/>
            <a:ext cx="4645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중공층 시험 재현으로 검증(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±30 %, 최고온도 ±100 K)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건물 외벽 3–6개 층: 층별 도달시각 → s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용융 · 적하 · 박리는 재현 한계 → 시험 우선</a:t>
            </a:r>
            <a:endParaRPr lang="ko-KR" sz="1150" dirty="0"/>
          </a:p>
        </p:txBody>
      </p:sp>
      <p:sp>
        <p:nvSpPr>
          <p:cNvPr id="12" name="grade band 1"/>
          <p:cNvSpPr/>
          <p:nvPr/>
        </p:nvSpPr>
        <p:spPr>
          <a:xfrm>
            <a:off x="6537311" y="4099560"/>
            <a:ext cx="4659545" cy="1121664"/>
          </a:xfrm>
          <a:prstGeom prst="rect">
            <a:avLst/>
          </a:prstGeom>
          <a:solidFill>
            <a:srgbClr val="E2F3E2"/>
          </a:solidFill>
          <a:ln w="12700">
            <a:solidFill>
              <a:srgbClr val="E2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242575" y="4541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1등급</a:t>
            </a:r>
            <a:endParaRPr lang="ko-KR" sz="950" dirty="0"/>
          </a:p>
        </p:txBody>
      </p:sp>
      <p:sp>
        <p:nvSpPr>
          <p:cNvPr id="14" name="grade band 2"/>
          <p:cNvSpPr/>
          <p:nvPr/>
        </p:nvSpPr>
        <p:spPr>
          <a:xfrm>
            <a:off x="6537311" y="2977896"/>
            <a:ext cx="4659545" cy="1121664"/>
          </a:xfrm>
          <a:prstGeom prst="rect">
            <a:avLst/>
          </a:prstGeom>
          <a:solidFill>
            <a:srgbClr val="EEF6DF"/>
          </a:solidFill>
          <a:ln w="12700">
            <a:solidFill>
              <a:srgbClr val="EEF6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242575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2등급</a:t>
            </a:r>
            <a:endParaRPr lang="ko-KR" sz="950" dirty="0"/>
          </a:p>
        </p:txBody>
      </p:sp>
      <p:sp>
        <p:nvSpPr>
          <p:cNvPr id="16" name="grade band 3"/>
          <p:cNvSpPr/>
          <p:nvPr/>
        </p:nvSpPr>
        <p:spPr>
          <a:xfrm>
            <a:off x="6537311" y="1856232"/>
            <a:ext cx="4659545" cy="1121664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2575" y="22981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3등급</a:t>
            </a:r>
            <a:endParaRPr lang="ko-KR" sz="9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760720" y="1645920"/>
          <a:ext cx="597377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537311" y="5495544"/>
            <a:ext cx="46595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실물/시험 층당 확산시간 비 s</a:t>
            </a:r>
            <a:endParaRPr lang="ko-KR" sz="1100" dirty="0"/>
          </a:p>
        </p:txBody>
      </p:sp>
      <p:sp>
        <p:nvSpPr>
          <p:cNvPr id="20" name="Text 17"/>
          <p:cNvSpPr txBox="1"/>
          <p:nvPr/>
        </p:nvSpPr>
        <p:spPr>
          <a:xfrm rot="16200000">
            <a:off x="4864608" y="3355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예제 B의 r (로그)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4단계 판정 · 대책 — 등급, 표시, 대책별 위험 감소, 문서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등급(1인당 위험)과 우선순위(줄일 수 있는 노출 인원 ΔR)를 나눠 보고,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대책마다 같은 식으로 다시 계산해 등급이 몇 단계 내려가는지 보임</a:t>
            </a:r>
            <a:endParaRPr lang="ko-KR" sz="2000" dirty="0"/>
          </a:p>
        </p:txBody>
      </p:sp>
      <p:sp>
        <p:nvSpPr>
          <p:cNvPr id="4" name="card 등급 · 표시"/>
          <p:cNvSpPr/>
          <p:nvPr/>
        </p:nvSpPr>
        <p:spPr>
          <a:xfrm>
            <a:off x="457200" y="1691640"/>
            <a:ext cx="3606698" cy="2377440"/>
          </a:xfrm>
          <a:prstGeom prst="roundRect">
            <a:avLst>
              <a:gd name="adj" fmla="val 3077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3012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등급 · 표시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32226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1–5등급(r = IR / </a:t>
            </a:r>
            <a:r>
              <a:rPr lang="ko-KR" altLang="en-US" sz="1200" dirty="0">
                <a:solidFill>
                  <a:schemeClr val="tx1"/>
                </a:solidFill>
              </a:rPr>
              <a:t>λ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res</a:t>
            </a:r>
            <a:r>
              <a:rPr lang="ko-KR" altLang="en-US" sz="1200" dirty="0">
                <a:solidFill>
                  <a:schemeClr val="tx1"/>
                </a:solidFill>
              </a:rPr>
              <a:t>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M: 노출 1건당 10명 이상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A: 급발(용융 · 가연 전면 화염)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표기 예: 4등급(매우 높음)·M·A, 증거 E2</a:t>
            </a:r>
            <a:endParaRPr lang="ko-KR" sz="1200" dirty="0"/>
          </a:p>
        </p:txBody>
      </p:sp>
      <p:sp>
        <p:nvSpPr>
          <p:cNvPr id="8" name="card 우선순위"/>
          <p:cNvSpPr/>
          <p:nvPr/>
        </p:nvSpPr>
        <p:spPr>
          <a:xfrm>
            <a:off x="4292498" y="1691640"/>
            <a:ext cx="3606698" cy="2377440"/>
          </a:xfrm>
          <a:prstGeom prst="roundRect">
            <a:avLst>
              <a:gd name="adj" fmla="val 3077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5378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9698" y="1783080"/>
            <a:ext cx="3012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우선순위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3666" y="2221992"/>
            <a:ext cx="32226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ΔR = R − </a:t>
            </a:r>
            <a:r>
              <a:rPr lang="ko-KR" altLang="en-US" sz="1200" dirty="0">
                <a:solidFill>
                  <a:schemeClr val="tx1"/>
                </a:solidFill>
              </a:rPr>
              <a:t>R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ref</a:t>
            </a:r>
            <a:r>
              <a:rPr lang="ko-KR" altLang="en-US" sz="1200" dirty="0">
                <a:solidFill>
                  <a:schemeClr val="tx1"/>
                </a:solidFill>
              </a:rPr>
              <a:t>: 외벽을 불연으로 바꾸면 줄어드는 노출 인원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같은 등급이면 ΔR가 큰 건물부터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대책 비용이 있으면 ΔR ÷ 비용</a:t>
            </a:r>
            <a:endParaRPr lang="ko-KR" sz="1200" dirty="0"/>
          </a:p>
        </p:txBody>
      </p:sp>
      <p:sp>
        <p:nvSpPr>
          <p:cNvPr id="12" name="card 대책(같은 식으로 재계산)"/>
          <p:cNvSpPr/>
          <p:nvPr/>
        </p:nvSpPr>
        <p:spPr>
          <a:xfrm>
            <a:off x="8127797" y="1691640"/>
            <a:ext cx="3606698" cy="2377440"/>
          </a:xfrm>
          <a:prstGeom prst="roundRect">
            <a:avLst>
              <a:gd name="adj" fmla="val 3077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0677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84997" y="1783080"/>
            <a:ext cx="3012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대책(같은 식으로 재계산)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2221992"/>
            <a:ext cx="32226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개구부 차단재: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</a:t>
            </a:r>
            <a:r>
              <a:rPr lang="ko-KR" altLang="en-US" sz="1200" dirty="0">
                <a:solidFill>
                  <a:schemeClr val="tx1"/>
                </a:solidFill>
              </a:rPr>
              <a:t> 0.9 → 0.3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화재확산방지구조: 층 경계마다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200" dirty="0">
                <a:solidFill>
                  <a:schemeClr val="tx1"/>
                </a:solidFill>
              </a:rPr>
              <a:t> 0.7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하단 보호 · 필로티 개선: 천장 불연, 1층 방화구획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스프링클러 전층 · 외장재 불연 교체</a:t>
            </a:r>
            <a:endParaRPr lang="ko-KR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61969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문서 항목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이 방법에서 채우는 내용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NFPA 551 7.3.3.4 정량 결과 문서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평가식 · 변수 · 출처(이 덱 5–9쪽, 엑셀 4_공통변수)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모델 · 자료 평가와 한계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증거 수준(E0–E3), 예시값 표시, 재현 한계(용융 · 박리)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불확실성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몬테카를로 등급 확률, 민감도(무엇이 등급을 바꾸나)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검토(8장)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엑셀 수식 = 파이썬 계산(12_검증), 대책 스위치 재현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예제 A — 5층 · 1층 필로티 주차 8면 · 외단열 미장(드라이비트)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4등급(매우 높음)·M·A — 위험의 58 %가 필로티 차량 화재에서 옴: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차단재만으로는 4등급, 셋을 함께 하면 2등급, 외장재 교체면 1등급</a:t>
            </a:r>
            <a:endParaRPr lang="ko-KR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206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02920"/>
                <a:gridCol w="132588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구간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외벽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하단 화원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A1 전면(필로티 위)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2–5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EPS 외단열(가연)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필로티 8면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A2 측·후면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2–5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EPS 외단열(가연)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기타 1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스프링클러 없음 · 필로티 천장 가연 · 1층 방화구획 없음 · 허가 2013(6층 미만 → 당시 기준 없음)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R 1.1×10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−2</a:t>
            </a:r>
            <a:r>
              <a:rPr lang="ko-KR" altLang="en-US" sz="1100" dirty="0">
                <a:solidFill>
                  <a:schemeClr val="tx1"/>
                </a:solidFill>
              </a:rPr>
              <a:t>명/년 · 재실자 40명 → IR 2.8×10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100" dirty="0">
                <a:solidFill>
                  <a:schemeClr val="tx1"/>
                </a:solidFill>
              </a:rPr>
              <a:t> · r 1.16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노출 1건당 14.0명(M) · 외벽 기여 99.3 %</a:t>
            </a:r>
            <a:endParaRPr lang="ko-KR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411480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grade band 1"/>
          <p:cNvSpPr/>
          <p:nvPr/>
        </p:nvSpPr>
        <p:spPr>
          <a:xfrm>
            <a:off x="5781559" y="4145280"/>
            <a:ext cx="5063417" cy="1158240"/>
          </a:xfrm>
          <a:prstGeom prst="rect">
            <a:avLst/>
          </a:prstGeom>
          <a:solidFill>
            <a:srgbClr val="E2F3E2"/>
          </a:solidFill>
          <a:ln w="12700">
            <a:solidFill>
              <a:srgbClr val="E2F3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890696" y="4605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1등급</a:t>
            </a:r>
            <a:endParaRPr lang="ko-KR" sz="950" dirty="0"/>
          </a:p>
        </p:txBody>
      </p:sp>
      <p:sp>
        <p:nvSpPr>
          <p:cNvPr id="9" name="grade band 2"/>
          <p:cNvSpPr/>
          <p:nvPr/>
        </p:nvSpPr>
        <p:spPr>
          <a:xfrm>
            <a:off x="5781559" y="3566160"/>
            <a:ext cx="5063417" cy="579120"/>
          </a:xfrm>
          <a:prstGeom prst="rect">
            <a:avLst/>
          </a:prstGeom>
          <a:solidFill>
            <a:srgbClr val="EEF6DF"/>
          </a:solidFill>
          <a:ln w="12700">
            <a:solidFill>
              <a:srgbClr val="EEF6D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890696" y="3736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2등급</a:t>
            </a:r>
            <a:endParaRPr lang="ko-KR" sz="950" dirty="0"/>
          </a:p>
        </p:txBody>
      </p:sp>
      <p:sp>
        <p:nvSpPr>
          <p:cNvPr id="11" name="grade band 3"/>
          <p:cNvSpPr/>
          <p:nvPr/>
        </p:nvSpPr>
        <p:spPr>
          <a:xfrm>
            <a:off x="5781559" y="2987040"/>
            <a:ext cx="5063417" cy="5791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890696" y="3157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3등급</a:t>
            </a:r>
            <a:endParaRPr lang="ko-KR" sz="950" dirty="0"/>
          </a:p>
        </p:txBody>
      </p:sp>
      <p:sp>
        <p:nvSpPr>
          <p:cNvPr id="13" name="grade band 4"/>
          <p:cNvSpPr/>
          <p:nvPr/>
        </p:nvSpPr>
        <p:spPr>
          <a:xfrm>
            <a:off x="5781559" y="2407920"/>
            <a:ext cx="5063417" cy="579120"/>
          </a:xfrm>
          <a:prstGeom prst="rect">
            <a:avLst/>
          </a:prstGeom>
          <a:solidFill>
            <a:srgbClr val="FBE3D2"/>
          </a:solidFill>
          <a:ln w="12700">
            <a:solidFill>
              <a:srgbClr val="FBE3D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890696" y="25786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4등급</a:t>
            </a:r>
            <a:endParaRPr lang="ko-KR" sz="950" dirty="0"/>
          </a:p>
        </p:txBody>
      </p:sp>
      <p:sp>
        <p:nvSpPr>
          <p:cNvPr id="15" name="grade band 5"/>
          <p:cNvSpPr/>
          <p:nvPr/>
        </p:nvSpPr>
        <p:spPr>
          <a:xfrm>
            <a:off x="5781559" y="1828800"/>
            <a:ext cx="5063417" cy="579120"/>
          </a:xfrm>
          <a:prstGeom prst="rect">
            <a:avLst/>
          </a:prstGeom>
          <a:solidFill>
            <a:srgbClr val="F8DEDE"/>
          </a:solidFill>
          <a:ln w="12700">
            <a:solidFill>
              <a:srgbClr val="F8DED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890696" y="1999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5등급</a:t>
            </a:r>
            <a:endParaRPr lang="ko-KR" sz="95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4892040" y="1645920"/>
          <a:ext cx="68424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5781559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현재</a:t>
            </a:r>
            <a:endParaRPr lang="ko-KR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960352" y="2621515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4</a:t>
            </a:r>
            <a:endParaRPr lang="ko-KR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504904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차단재</a:t>
            </a:r>
            <a:endParaRPr lang="ko-KR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683697" y="26509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4</a:t>
            </a:r>
            <a:endParaRPr lang="ko-KR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228250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확산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방지구조</a:t>
            </a:r>
            <a:endParaRPr lang="ko-KR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7407042" y="31457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7951595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하단 보호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·필로티</a:t>
            </a:r>
            <a:endParaRPr lang="ko-KR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8130388" y="2877269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8674940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셋 함께</a:t>
            </a:r>
            <a:endParaRPr lang="ko-KR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853733" y="3453351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2</a:t>
            </a:r>
            <a:endParaRPr lang="ko-KR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9398285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스프링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클러</a:t>
            </a:r>
            <a:endParaRPr lang="ko-KR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9577078" y="2663939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10121631" y="5358384"/>
            <a:ext cx="723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외장재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교체</a:t>
            </a:r>
            <a:endParaRPr lang="ko-KR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10300423" y="3887617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1</a:t>
            </a:r>
            <a:endParaRPr lang="ko-KR" sz="950" dirty="0"/>
          </a:p>
        </p:txBody>
      </p:sp>
      <p:sp>
        <p:nvSpPr>
          <p:cNvPr id="32" name="Text 27"/>
          <p:cNvSpPr txBox="1"/>
          <p:nvPr/>
        </p:nvSpPr>
        <p:spPr>
          <a:xfrm rot="16200000">
            <a:off x="44348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 (로그)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예제 B — 15층 · 건식 마감 + 중공층(PIR 계열) · 스프링클러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2등급(보통): 사진 · 현장 r 0.088 → 시료 TGA 0.035 → 중공층 시험 0.029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시험할수록 3등급 이상일 확률이 25 % → 12 %로 줄어 2등급이 확정됨</a:t>
            </a:r>
            <a:endParaRPr lang="ko-KR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85800"/>
                <a:gridCol w="502920"/>
                <a:gridCol w="594360"/>
                <a:gridCol w="868680"/>
                <a:gridCol w="2514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수준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(s)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 인자 근거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0.088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보통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사진·건축물대장: 금속 패널 마감, 허가 2016년(6층 이상) → 준불연 추정, 보수값</a:t>
                      </a:r>
                      <a:endParaRPr lang="ko-KR" sz="9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0.088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보통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현장: 패널 뒤 공기층 + PIR 계열 단열재, 등급 표시 없음 → 준불연 보수값 유지</a:t>
                      </a:r>
                      <a:endParaRPr lang="ko-KR" sz="9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983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0.29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0.035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보통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시료: FT-IR PIR · 콘 준불연 기준 통과 · TGA 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r</a:t>
                      </a:r>
                      <a:r>
                        <a:rPr lang="ko-KR" altLang="en-US" sz="950" baseline="-40000" dirty="0">
                          <a:solidFill>
                            <a:srgbClr val="23303D"/>
                          </a:solidFill>
                        </a:rPr>
                        <a:t>max,air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 0.575 %/°C, 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950" baseline="-40000" dirty="0">
                          <a:solidFill>
                            <a:srgbClr val="23303D"/>
                          </a:solidFill>
                        </a:rPr>
                        <a:t>400,air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 0.629</a:t>
                      </a:r>
                      <a:endParaRPr lang="ko-KR" sz="9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1079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0.17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0.029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보통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같은 시스템의 중공층 시험 2회: 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9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 1068 · 1091 s, 자립연소 0/2</a:t>
                      </a:r>
                      <a:endParaRPr lang="ko-KR" sz="9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대책: 개구부 차단재 2등급 · 화재확산방지구조 1등급 · 셋 함께 1등급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스프링클러가 있어 실내 화재가 창으로 분출하는 빈도가 낮음 → 1인당 위험은 2등급</a:t>
            </a:r>
            <a:endParaRPr lang="ko-KR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0" y="1645920"/>
          <a:ext cx="5333695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예제 C — 25층 · 1–3층 근린생활(석재·커튼월) · 4–25층 주거(금속복합패널)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3등급(높음)·M·A: 위험의 33 %는 저층 상가의 분출화염이 고층 패널을 가열하는 경로(IE3)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PE 심재 패널은 확산방지구조 · 차단재 효과를 인정하지 않아 교체만 등급을 낮춤(1등급)</a:t>
            </a:r>
            <a:endParaRPr lang="ko-KR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"/>
                <a:gridCol w="137160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구간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외벽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C1 저층부 근린생활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1–3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석재 · 커튼월(불연)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층간 틈 미흡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C2 고층부 전·후면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4–25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PE 심재 복합패널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주거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C3 고층부 측면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4–25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PE 심재 복합패널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주거 · 창 적음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스프링클러 전층 · 고가사다리 50 m → 18층부터 외부 진압 늦음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R 1.7×10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−2</a:t>
            </a:r>
            <a:r>
              <a:rPr lang="ko-KR" altLang="en-US" sz="1100" dirty="0">
                <a:solidFill>
                  <a:schemeClr val="tx1"/>
                </a:solidFill>
              </a:rPr>
              <a:t>명/년 · 재실자 570명 → r 0.127 · 노출 1건당 29명(M)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ΔR 1.7×10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−2</a:t>
            </a:r>
            <a:r>
              <a:rPr lang="ko-KR" altLang="en-US" sz="1100" dirty="0">
                <a:solidFill>
                  <a:schemeClr val="tx1"/>
                </a:solidFill>
              </a:rPr>
              <a:t>명/년 — 세 건물 중 가장 큼(우선순위 1)</a:t>
            </a:r>
            <a:endParaRPr lang="ko-KR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4434840"/>
          <a:ext cx="42062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grade band 1"/>
          <p:cNvSpPr/>
          <p:nvPr/>
        </p:nvSpPr>
        <p:spPr>
          <a:xfrm>
            <a:off x="5781559" y="4145280"/>
            <a:ext cx="5063417" cy="1158240"/>
          </a:xfrm>
          <a:prstGeom prst="rect">
            <a:avLst/>
          </a:prstGeom>
          <a:solidFill>
            <a:srgbClr val="E2F3E2"/>
          </a:solidFill>
          <a:ln w="12700">
            <a:solidFill>
              <a:srgbClr val="E2F3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890696" y="4605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1등급</a:t>
            </a:r>
            <a:endParaRPr lang="ko-KR" sz="950" dirty="0"/>
          </a:p>
        </p:txBody>
      </p:sp>
      <p:sp>
        <p:nvSpPr>
          <p:cNvPr id="9" name="grade band 2"/>
          <p:cNvSpPr/>
          <p:nvPr/>
        </p:nvSpPr>
        <p:spPr>
          <a:xfrm>
            <a:off x="5781559" y="3566160"/>
            <a:ext cx="5063417" cy="579120"/>
          </a:xfrm>
          <a:prstGeom prst="rect">
            <a:avLst/>
          </a:prstGeom>
          <a:solidFill>
            <a:srgbClr val="EEF6DF"/>
          </a:solidFill>
          <a:ln w="12700">
            <a:solidFill>
              <a:srgbClr val="EEF6D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890696" y="3736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2등급</a:t>
            </a:r>
            <a:endParaRPr lang="ko-KR" sz="950" dirty="0"/>
          </a:p>
        </p:txBody>
      </p:sp>
      <p:sp>
        <p:nvSpPr>
          <p:cNvPr id="11" name="grade band 3"/>
          <p:cNvSpPr/>
          <p:nvPr/>
        </p:nvSpPr>
        <p:spPr>
          <a:xfrm>
            <a:off x="5781559" y="2987040"/>
            <a:ext cx="5063417" cy="579120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890696" y="3157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3등급</a:t>
            </a:r>
            <a:endParaRPr lang="ko-KR" sz="950" dirty="0"/>
          </a:p>
        </p:txBody>
      </p:sp>
      <p:sp>
        <p:nvSpPr>
          <p:cNvPr id="13" name="grade band 4"/>
          <p:cNvSpPr/>
          <p:nvPr/>
        </p:nvSpPr>
        <p:spPr>
          <a:xfrm>
            <a:off x="5781559" y="2407920"/>
            <a:ext cx="5063417" cy="579120"/>
          </a:xfrm>
          <a:prstGeom prst="rect">
            <a:avLst/>
          </a:prstGeom>
          <a:solidFill>
            <a:srgbClr val="FBE3D2"/>
          </a:solidFill>
          <a:ln w="12700">
            <a:solidFill>
              <a:srgbClr val="FBE3D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890696" y="25786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4등급</a:t>
            </a:r>
            <a:endParaRPr lang="ko-KR" sz="950" dirty="0"/>
          </a:p>
        </p:txBody>
      </p:sp>
      <p:sp>
        <p:nvSpPr>
          <p:cNvPr id="15" name="grade band 5"/>
          <p:cNvSpPr/>
          <p:nvPr/>
        </p:nvSpPr>
        <p:spPr>
          <a:xfrm>
            <a:off x="5781559" y="1828800"/>
            <a:ext cx="5063417" cy="579120"/>
          </a:xfrm>
          <a:prstGeom prst="rect">
            <a:avLst/>
          </a:prstGeom>
          <a:solidFill>
            <a:srgbClr val="F8DEDE"/>
          </a:solidFill>
          <a:ln w="12700">
            <a:solidFill>
              <a:srgbClr val="F8DED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890696" y="1999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5등급</a:t>
            </a:r>
            <a:endParaRPr lang="ko-KR" sz="95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4892040" y="1645920"/>
          <a:ext cx="68424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5781559" y="5358384"/>
            <a:ext cx="843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현재</a:t>
            </a:r>
            <a:endParaRPr lang="ko-KR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020631" y="31776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625462" y="5358384"/>
            <a:ext cx="843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차단재</a:t>
            </a:r>
            <a:endParaRPr lang="ko-KR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864533" y="31776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469365" y="5358384"/>
            <a:ext cx="843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확산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방지구조</a:t>
            </a:r>
            <a:endParaRPr lang="ko-KR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7708436" y="31776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8313268" y="5358384"/>
            <a:ext cx="843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하단 보호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·필로티</a:t>
            </a:r>
            <a:endParaRPr lang="ko-KR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8552339" y="31776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9157170" y="5358384"/>
            <a:ext cx="843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셋 함께</a:t>
            </a:r>
            <a:endParaRPr lang="ko-KR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9396242" y="31776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3</a:t>
            </a:r>
            <a:endParaRPr lang="ko-KR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10001073" y="5358384"/>
            <a:ext cx="8439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외장재</a:t>
            </a:r>
            <a:endParaRPr lang="ko-KR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23303D"/>
                </a:solidFill>
              </a:rPr>
              <a:t>교체</a:t>
            </a:r>
            <a:endParaRPr lang="ko-KR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10240145" y="484076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1</a:t>
            </a:r>
            <a:endParaRPr lang="ko-KR" sz="950" dirty="0"/>
          </a:p>
        </p:txBody>
      </p:sp>
      <p:sp>
        <p:nvSpPr>
          <p:cNvPr id="30" name="Text 25"/>
          <p:cNvSpPr txBox="1"/>
          <p:nvPr/>
        </p:nvSpPr>
        <p:spPr>
          <a:xfrm rot="16200000">
            <a:off x="44348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 (로그)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세 건물 비교 — 등급(1인당 위험)과 우선순위(줄일 수 있는 노출 인원)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등급은 필로티 다세대가 가장 높고(4등급) 우선순위는 주상복합이 가장 높음(ΔR 최대)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작은 건물의 높은 개인 위험과 큰 건물의 많은 노출 인원을 함께 보기 위해 두 지표를 나눔</a:t>
            </a:r>
            <a:endParaRPr lang="ko-KR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1371600"/>
                <a:gridCol w="731520"/>
                <a:gridCol w="1051560"/>
                <a:gridCol w="868680"/>
                <a:gridCol w="868680"/>
                <a:gridCol w="960120"/>
                <a:gridCol w="3931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건물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형태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IR (/인·년)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C̄ (명/건)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외벽 기여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ΔR (명/년)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A 필로티 다세대주택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5층 · 1층 필로티 주차 8면 · 외단열 미장(드라이비트)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 매우 높음·M·A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1.155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14.0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99.3 %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B 15층 아파트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15층 · 건식 마감 + 중공층(PIR 계열) · 스프링클러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보통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0.029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7.0×10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99.5 %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C 주상복합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25층 · 1–3층 근린생활(석재·커튼월) · 4–25층 주거(금속복합패널)</a:t>
                      </a:r>
                      <a:endParaRPr lang="ko-KR" sz="10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 높음·M·A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0.127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3.0×10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29.2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99.9 %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1.7×10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grade band 1"/>
          <p:cNvSpPr/>
          <p:nvPr/>
        </p:nvSpPr>
        <p:spPr>
          <a:xfrm>
            <a:off x="1225296" y="5274488"/>
            <a:ext cx="4864608" cy="431368"/>
          </a:xfrm>
          <a:prstGeom prst="rect">
            <a:avLst/>
          </a:prstGeom>
          <a:solidFill>
            <a:srgbClr val="E2F3E2"/>
          </a:solidFill>
          <a:ln w="12700">
            <a:solidFill>
              <a:srgbClr val="E2F3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35624" y="53713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1등급</a:t>
            </a:r>
            <a:endParaRPr lang="ko-KR" sz="950" dirty="0"/>
          </a:p>
        </p:txBody>
      </p:sp>
      <p:sp>
        <p:nvSpPr>
          <p:cNvPr id="7" name="grade band 2"/>
          <p:cNvSpPr/>
          <p:nvPr/>
        </p:nvSpPr>
        <p:spPr>
          <a:xfrm>
            <a:off x="1225296" y="4843120"/>
            <a:ext cx="4864608" cy="431368"/>
          </a:xfrm>
          <a:prstGeom prst="rect">
            <a:avLst/>
          </a:prstGeom>
          <a:solidFill>
            <a:srgbClr val="EEF6DF"/>
          </a:solidFill>
          <a:ln w="12700">
            <a:solidFill>
              <a:srgbClr val="EEF6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35624" y="49399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2등급</a:t>
            </a:r>
            <a:endParaRPr lang="ko-KR" sz="950" dirty="0"/>
          </a:p>
        </p:txBody>
      </p:sp>
      <p:sp>
        <p:nvSpPr>
          <p:cNvPr id="9" name="grade band 3"/>
          <p:cNvSpPr/>
          <p:nvPr/>
        </p:nvSpPr>
        <p:spPr>
          <a:xfrm>
            <a:off x="1225296" y="4411751"/>
            <a:ext cx="4864608" cy="431368"/>
          </a:xfrm>
          <a:prstGeom prst="rect">
            <a:avLst/>
          </a:prstGeom>
          <a:solidFill>
            <a:srgbClr val="FDF0D5"/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35624" y="45085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3등급</a:t>
            </a:r>
            <a:endParaRPr lang="ko-KR" sz="950" dirty="0"/>
          </a:p>
        </p:txBody>
      </p:sp>
      <p:sp>
        <p:nvSpPr>
          <p:cNvPr id="11" name="grade band 4"/>
          <p:cNvSpPr/>
          <p:nvPr/>
        </p:nvSpPr>
        <p:spPr>
          <a:xfrm>
            <a:off x="1225296" y="3980383"/>
            <a:ext cx="4864608" cy="431368"/>
          </a:xfrm>
          <a:prstGeom prst="rect">
            <a:avLst/>
          </a:prstGeom>
          <a:solidFill>
            <a:srgbClr val="FBE3D2"/>
          </a:solidFill>
          <a:ln w="12700">
            <a:solidFill>
              <a:srgbClr val="FBE3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35624" y="4077195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4등급</a:t>
            </a:r>
            <a:endParaRPr lang="ko-KR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3840480"/>
          <a:ext cx="6400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04544" y="5751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A 필로티 다세대주택</a:t>
            </a:r>
            <a:endParaRPr lang="ko-KR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926080" y="5751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B 15층 아파트</a:t>
            </a:r>
            <a:endParaRPr lang="ko-KR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47616" y="57515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chemeClr val="tx1"/>
                </a:solidFill>
              </a:rPr>
              <a:t>C 주상복합</a:t>
            </a:r>
            <a:endParaRPr lang="ko-KR" sz="1000" dirty="0"/>
          </a:p>
        </p:txBody>
      </p:sp>
      <p:sp>
        <p:nvSpPr>
          <p:cNvPr id="17" name="Text 13"/>
          <p:cNvSpPr txBox="1"/>
          <p:nvPr/>
        </p:nvSpPr>
        <p:spPr>
          <a:xfrm rot="16200000">
            <a:off x="0" y="466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 (로그)</a:t>
            </a:r>
            <a:endParaRPr lang="ko-KR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3977640"/>
            <a:ext cx="46021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등급: 1인당 위험(작은 필로티 건물도 높게 나옴)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우선순위: ΔR(외벽 교체 · 보강으로 줄일 수 있는 노출 인원)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M · A 표시는 등급과 별도로 보고(대형 피해 · 급발)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불확실성과 민감도 — 무엇이 등급을 바꾸나 (몬테카를로 4000회)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등급을 좌우하는 자료가 형태마다 다름 — 필로티는 외부 화원 빈도, 중층 준불연은 s,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고층 가연은 스프링클러 · 최성기 확률을 먼저 모아야 함</a:t>
            </a:r>
            <a:endParaRPr lang="ko-KR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7941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68680"/>
                <a:gridCol w="2453335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건물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폭(log)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A 필로티 다세대주택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car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필로티 주차 차량 화재 빈도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0.52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res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주거 세대 화재 빈도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0.44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adj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외벽에 붙은 기타 외부 화원 화재 빈도(쓰레기·적재물·실외기 등)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0.33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B 15층 아파트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실물/시험 층당 확산시간 비 (τ = s·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·h/3 m)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1.42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adj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외벽에 붙은 기타 외부 화원 화재 빈도(쓰레기·적재물·실외기 등)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0.61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스프링클러 작동·제어 확률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0.37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C 주상복합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스프링클러 작동·제어 확률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0.82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제어 실패 화재의 최성기 도달 확률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0.78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com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비주거(근린생활·업무) 화재 빈도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0.30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55080" y="5943600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폭(log): 변수를 하한 → 상한으로 바꿀 때 r이 변하는 자릿수(log₁₀). 엑셀 11_불확실성에 전체 표.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연구로 채울 자료와 검증 계획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절차 · 식은 지금 쓸 수 있고, 등급의 정확도는 국내 자료로 높임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 시스템 시험 DB와 외부 화원 통계가 1순위, 과거 화재 사례로 등급을 검증</a:t>
            </a:r>
            <a:endParaRPr lang="ko-KR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200400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자료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쓰는 곳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순위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외벽 시스템 시험 DB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드라이비트 · 복합패널 · 샌드위치패널의 중규모 시험(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B)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재료 인자(E0 경계값 대체)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외부 화원 통계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필로티 주차 차량 화재 · 건물 외부 발화 빈도(국가화재정보시스템)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car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adj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(필로티 등급)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실물 보정 s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KS F 8414 실대형 + FDS 건물 외벽 해석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τ = s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(중층 준불연 등급)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대책 효과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배리어 · 차단재를 넣은 시험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e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실내 화재 분기확률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스프링클러 작동 · 제어, 최성기 · 창 분출 비율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피난 · 재실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용도 · 경보 방식별 RSET, 야간 재실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q(t), c(k)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기준 이력 확정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마감재료 · 스프링클러 기준의 시행일(법령 원문)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0단계 E0 규칙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사례 검증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과거 외벽 화재(의정부 2015 등)의 확산 층수와 등급 비교, 시범 평가 10–20동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등급 경계 보정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한계와 해석 주의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평가식과 절차는 형태와 관계없이 쓸 수 있지만, 수치는 예시값과 일부 경계값 위에 있음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등급은 '현재 자료로 본 위험'이고 자료가 늘면 같은 식으로 갱신</a:t>
            </a:r>
            <a:endParaRPr lang="ko-KR" sz="2000" dirty="0"/>
          </a:p>
        </p:txBody>
      </p:sp>
      <p:sp>
        <p:nvSpPr>
          <p:cNvPr id="4" name="card 한계"/>
          <p:cNvSpPr/>
          <p:nvPr/>
        </p:nvSpPr>
        <p:spPr>
          <a:xfrm>
            <a:off x="457200" y="1691640"/>
            <a:ext cx="5524348" cy="4206240"/>
          </a:xfrm>
          <a:prstGeom prst="roundRect">
            <a:avLst>
              <a:gd name="adj" fmla="val 1739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한계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51403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빈도 · 분기확률 · 시간 · s는 예시값(근거 표시), 실내 화재 빈도만 통계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시험 자료 없는 외벽 시스템(드라이비트 · 복합패널 · 샌드위치패널)은 가연 경계값(30 s)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수직 확산만 다룸: 수평 확산 · 모서리 · 낙하물 · 연기의 실내 유입은 단순화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구간 경계에서 외벽 경로는 끊긴다고 봄(아래 구간 분출은 IE3로 반영)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등급 경계(자택 화재 위험의 1 % · 10 % · 1배 · 10배)는 제안값</a:t>
            </a:r>
            <a:endParaRPr lang="ko-KR" sz="1200" dirty="0"/>
          </a:p>
        </p:txBody>
      </p:sp>
      <p:sp>
        <p:nvSpPr>
          <p:cNvPr id="8" name="card 해석 주의"/>
          <p:cNvSpPr/>
          <p:nvPr/>
        </p:nvSpPr>
        <p:spPr>
          <a:xfrm>
            <a:off x="6210148" y="1691640"/>
            <a:ext cx="5524348" cy="4206240"/>
          </a:xfrm>
          <a:prstGeom prst="roundRect">
            <a:avLst>
              <a:gd name="adj" fmla="val 1739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해석 주의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221992"/>
            <a:ext cx="51403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등급은 증거 수준과 함께 표기(예: 3등급 · E0) — E0 등급은 보수적으로 높게 나옴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가연 외장재 건물에서 차단재만으로 등급이 안 내려가는 것은 하단 화원 · 패널 심재 때문 — 구성 몫을 함께 보고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등급(1인당)과 우선순위(ΔR)는 다른 질문에 대한 답</a:t>
            </a:r>
            <a:endParaRPr lang="ko-KR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엑셀 수식과 파이썬 계산은 같음(상대차 10</a:t>
            </a:r>
            <a:r>
              <a:rPr lang="ko-KR" altLang="en-US" sz="1200" baseline="30000" dirty="0">
                <a:solidFill>
                  <a:schemeClr val="tx1"/>
                </a:solidFill>
              </a:rPr>
              <a:t>−11</a:t>
            </a:r>
            <a:r>
              <a:rPr lang="ko-KR" altLang="en-US" sz="1200" dirty="0">
                <a:solidFill>
                  <a:schemeClr val="tx1"/>
                </a:solidFill>
              </a:rPr>
              <a:t> 수준) — 값의 근거는 4_공통변수의 근거 열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부록 — 주요 변수의 기본값과 재현 방법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모든 수치는 ebfra.py로 재현되고, 엑셀 계산서가 같은 값을 셀 수식으로 계산함</a:t>
            </a:r>
            <a:endParaRPr lang="ko-KR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977640"/>
                <a:gridCol w="91440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기호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범위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실물/시험 층당 확산시간 비 (τ = s·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9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·h/3 m)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0.25 – 1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res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주거 세대 화재 빈도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2.4×10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1.2×10</a:t>
                      </a:r>
                      <a:r>
                        <a:rPr lang="ko-KR" altLang="en-US" sz="9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 – 4.0×10</a:t>
                      </a:r>
                      <a:r>
                        <a:rPr lang="ko-KR" altLang="en-US" sz="9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car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필로티 주차 차량 화재 빈도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5.0×10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2.0×10</a:t>
                      </a:r>
                      <a:r>
                        <a:rPr lang="ko-KR" altLang="en-US" sz="95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 – 1.5×10</a:t>
                      </a:r>
                      <a:r>
                        <a:rPr lang="ko-KR" altLang="en-US" sz="9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adj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외벽에 붙은 기타 외부 화원 화재 빈도(쓰레기·적재물·실외기 등)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5.0×10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1.0×10</a:t>
                      </a:r>
                      <a:r>
                        <a:rPr lang="ko-KR" altLang="en-US" sz="9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 – 2.0×10</a:t>
                      </a:r>
                      <a:r>
                        <a:rPr lang="ko-KR" altLang="en-US" sz="95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스프링클러 작동·제어 확률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0.9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0.8 – 0.97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제어 실패 화재의 최성기 도달 확률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0.15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0.05 – 0.3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최성기 화재의 창 분출화염 확률(창이 보통인 구간)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0.7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0.5 – 0.9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단열재·중공층 노출 확률(개구부 차단재 없음)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0.9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0.7 – 1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e1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같은 확률(불연 차단재 설치)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0.3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0.1 – 0.5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화재확산방지구조·층간 배리어가 층 경계 하나를 막을 확률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0.7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0.4 – 0.9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L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창→창 도약 확산 확률(층 하나·스프링클러 없음)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0.15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0.05 – 0.3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τ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L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도약 확산 한 층 소요시간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12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8 – 20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FS,in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외벽 화재 진압 유효 시각 중앙값(고가사다리 도달 범위)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10 – 25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FS,out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같은 시각(도달 범위 밖 — 내부 진압만)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45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30 – 90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RSET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res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피난 완료 시각 중앙값(주거·취침·분출 기준)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10 – 25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st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필로티 화재 연기가 계단으로 들어가 피난을 막을 확률(1층 방화구획 없음)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0.5</a:t>
                      </a:r>
                      <a:endParaRPr lang="ko-KR" sz="10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0.2 – 0.8</a:t>
                      </a:r>
                      <a:endParaRPr lang="ko-KR" sz="95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produce"/>
          <p:cNvSpPr/>
          <p:nvPr/>
        </p:nvSpPr>
        <p:spPr>
          <a:xfrm>
            <a:off x="7635240" y="1645920"/>
            <a:ext cx="4099255" cy="4526280"/>
          </a:xfrm>
          <a:prstGeom prst="roundRect">
            <a:avLst>
              <a:gd name="adj" fmla="val 178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737360"/>
            <a:ext cx="3733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재현 (existing_facade_fra/)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ebfra.py</a:t>
            </a:r>
            <a:r>
              <a:rPr lang="ko-KR" altLang="en-US" sz="1050" dirty="0">
                <a:solidFill>
                  <a:schemeClr val="tx1"/>
                </a:solidFill>
              </a:rPr>
              <a:t> → results/, figures/, report/ebfra_data.json (몬테카를로 4000회)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report/build_ebfra_xlsx.py</a:t>
            </a:r>
            <a:r>
              <a:rPr lang="ko-KR" altLang="en-US" sz="1050" dirty="0">
                <a:solidFill>
                  <a:schemeClr val="tx1"/>
                </a:solidFill>
              </a:rPr>
              <a:t> → 계산서(수식) → recalc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report/build_ebfra_deck.js</a:t>
            </a:r>
            <a:r>
              <a:rPr lang="ko-KR" altLang="en-US" sz="1050" dirty="0">
                <a:solidFill>
                  <a:schemeClr val="tx1"/>
                </a:solidFill>
              </a:rPr>
              <a:t> → 이 덱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입력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inputs/parameters.csv(변수 · 근거), facade_types.csv(외벽 유형), code_history.csv(허가 시점 기준), buildings.json(예제 건물 · 구간)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자료 출처</a:t>
            </a:r>
            <a:endParaRPr lang="ko-KR" sz="10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중공층 시험 · TGA(cavity_fire_index, tga_dsc, integrated_model, multiscale_fra), 건물 모델(facade_fra), 소방청 2023 화재 통계, 인구주택총조사, BSI PAS 9980, Lamont &amp; Ingolfsson(2018), NFPA 551(2022)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CT façade risk process">
  <a:themeElements>
    <a:clrScheme name="KICT façade risk process">
      <a:dk1>
        <a:srgbClr val="23303D"/>
      </a:dk1>
      <a:lt1>
        <a:srgbClr val="FFFFFF"/>
      </a:lt1>
      <a:dk2>
        <a:srgbClr val="4B5563"/>
      </a:dk2>
      <a:lt2>
        <a:srgbClr val="F3F4F6"/>
      </a:lt2>
      <a:accent1>
        <a:srgbClr val="EB6834"/>
      </a:accent1>
      <a:accent2>
        <a:srgbClr val="2A78D6"/>
      </a:accent2>
      <a:accent3>
        <a:srgbClr val="0CA30C"/>
      </a:accent3>
      <a:accent4>
        <a:srgbClr val="FAB219"/>
      </a:accent4>
      <a:accent5>
        <a:srgbClr val="EC835A"/>
      </a:accent5>
      <a:accent6>
        <a:srgbClr val="D03B3B"/>
      </a:accent6>
      <a:hlink>
        <a:srgbClr val="2A78D6"/>
      </a:hlink>
      <a:folHlink>
        <a:srgbClr val="4B5563"/>
      </a:folHlink>
    </a:clrScheme>
    <a:fontScheme name="KICT façade risk proces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기축 건축물 외벽 화재위험성 평가 방법(안)</dc:title>
  <dc:subject>국내 기축 건축물을 형태와 관계없이 외벽 구간으로 나누어 평가하는 평가식과 단계별 절차(연구 방법론 제안)</dc:subject>
  <dc:creator>KICT 중공층 외단열 화재 분석</dc:creator>
  <cp:lastModifiedBy>KICT 중공층 외단열 화재 분석</cp:lastModifiedBy>
  <cp:revision>1</cp:revision>
  <dcterms:created xsi:type="dcterms:W3CDTF">2026-10-24T18:34:09Z</dcterms:created>
  <dcterms:modified xsi:type="dcterms:W3CDTF">2026-10-24T18:34:09Z</dcterms:modified>
</cp:coreProperties>
</file>