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결론" id="{782898c4-6abd-b1c4-748d-1b206b1f3a15}">
          <p14:sldIdLst>
            <p14:sldId id="256"/>
            <p14:sldId id="257"/>
          </p14:sldIdLst>
        </p14:section>
        <p14:section name="NFPA 551 · EFFECT" id="{d16836c6-277b-b9a6-4bee-abd42d05d71f}">
          <p14:sldIdLst>
            <p14:sldId id="258"/>
            <p14:sldId id="259"/>
            <p14:sldId id="260"/>
          </p14:sldIdLst>
        </p14:section>
        <p14:section name="12단계 절차" id="{746c134b-457e-9bec-e4f9-10f66e5ef63f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예제 결과" id="{0a3891f6-673c-2374-6395-55d55287dbdd}">
          <p14:sldIdLst>
            <p14:sldId id="268"/>
            <p14:sldId id="269"/>
            <p14:sldId id="270"/>
          </p14:sldIdLst>
        </p14:section>
        <p14:section name="불확실성 · 검증" id="{a63501a8-ff88-c1a5-d92d-0f4231bcc552}">
          <p14:sldIdLst>
            <p14:sldId id="271"/>
            <p14:sldId id="272"/>
          </p14:sldIdLst>
        </p14:section>
        <p14:section name="문서화 · 검토" id="{b18064cf-ba17-9d2d-9f7c-96724337df76}">
          <p14:sldIdLst>
            <p14:sldId id="273"/>
            <p14:sldId id="274"/>
            <p14:sldId id="275"/>
            <p14:sldId id="276"/>
          </p14:sldIdLst>
        </p14:section>
        <p14:section name="부록" id="{55d3f784-c534-9726-ccc1-4e99bd51c40d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1"/>
          <c:y val="0.04"/>
          <c:w val="0.87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 M0 90%</c:v>
                </c:pt>
              </c:strCache>
            </c:strRef>
          </c:tx>
          <c:spPr>
            <a:solidFill>
              <a:srgbClr val="8A8F98"/>
            </a:solidFill>
            <a:ln w="28575" cap="flat">
              <a:solidFill>
                <a:srgbClr val="8A8F98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Sheet1!$B$2:$B$37</c:f>
              <c:numCache>
                <c:formatCode>General</c:formatCode>
                <c:ptCount val="36"/>
                <c:pt idx="0">
                  <c:v>0.0000032349</c:v>
                </c:pt>
                <c:pt idx="1">
                  <c:v>0.0000474027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 M0 평균</c:v>
                </c:pt>
              </c:strCache>
            </c:strRef>
          </c:tx>
          <c:spPr>
            <a:solidFill>
              <a:srgbClr val="8A8F9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8A8F98"/>
              </a:solidFill>
              <a:ln w="19050">
                <a:solidFill>
                  <a:srgbClr val="8A8F98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Sheet1!$C$2:$C$37</c:f>
              <c:numCache>
                <c:formatCode>General</c:formatCode>
                <c:ptCount val="36"/>
                <c:pt idx="2">
                  <c:v>0.0000176513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NC M1 90%</c:v>
                </c:pt>
              </c:strCache>
            </c:strRef>
          </c:tx>
          <c:spPr>
            <a:solidFill>
              <a:srgbClr val="8A8F98"/>
            </a:solidFill>
            <a:ln w="28575" cap="flat">
              <a:solidFill>
                <a:srgbClr val="8A8F98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Sheet1!$D$2:$D$37</c:f>
              <c:numCache>
                <c:formatCode>General</c:formatCode>
                <c:ptCount val="36"/>
                <c:pt idx="3">
                  <c:v>0.0000032349</c:v>
                </c:pt>
                <c:pt idx="4">
                  <c:v>0.0000474027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NC M1 평균</c:v>
                </c:pt>
              </c:strCache>
            </c:strRef>
          </c:tx>
          <c:spPr>
            <a:solidFill>
              <a:srgbClr val="8A8F98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CACDD1"/>
              </a:solidFill>
              <a:ln w="22225">
                <a:solidFill>
                  <a:srgbClr val="8A8F98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Sheet1!$E$2:$E$37</c:f>
              <c:numCache>
                <c:formatCode>General</c:formatCode>
                <c:ptCount val="36"/>
                <c:pt idx="5">
                  <c:v>0.0000176513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EPS_SC M0 90%</c:v>
                </c:pt>
              </c:strCache>
            </c:strRef>
          </c:tx>
          <c:spPr>
            <a:solidFill>
              <a:srgbClr val="E87BA4"/>
            </a:solidFill>
            <a:ln w="28575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Sheet1!$F$2:$F$37</c:f>
              <c:numCache>
                <c:formatCode>General</c:formatCode>
                <c:ptCount val="36"/>
                <c:pt idx="6">
                  <c:v>0.0000937397</c:v>
                </c:pt>
                <c:pt idx="7">
                  <c:v>0.0020389022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EPS_SC M0 평균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E87BA4"/>
              </a:solidFill>
              <a:ln w="19050">
                <a:solidFill>
                  <a:srgbClr val="E87BA4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Sheet1!$G$2:$G$37</c:f>
              <c:numCache>
                <c:formatCode>General</c:formatCode>
                <c:ptCount val="36"/>
                <c:pt idx="8">
                  <c:v>0.0006795255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EPS_SC M1 90%</c:v>
                </c:pt>
              </c:strCache>
            </c:strRef>
          </c:tx>
          <c:spPr>
            <a:solidFill>
              <a:srgbClr val="E87BA4"/>
            </a:solidFill>
            <a:ln w="28575" cap="flat">
              <a:solidFill>
                <a:srgbClr val="E87BA4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Sheet1!$H$2:$H$37</c:f>
              <c:numCache>
                <c:formatCode>General</c:formatCode>
                <c:ptCount val="36"/>
                <c:pt idx="9">
                  <c:v>0.0000145653</c:v>
                </c:pt>
                <c:pt idx="10">
                  <c:v>0.0002022182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EPS_SC M1 평균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F5C4D6"/>
              </a:solidFill>
              <a:ln w="22225">
                <a:solidFill>
                  <a:srgbClr val="E87BA4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Sheet1!$I$2:$I$37</c:f>
              <c:numCache>
                <c:formatCode>General</c:formatCode>
                <c:ptCount val="36"/>
                <c:pt idx="11">
                  <c:v>0.0000728257</c:v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PIR_C M0 90%</c:v>
                </c:pt>
              </c:strCache>
            </c:strRef>
          </c:tx>
          <c:spPr>
            <a:solidFill>
              <a:srgbClr val="6250D6"/>
            </a:solidFill>
            <a:ln w="28575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Sheet1!$J$2:$J$37</c:f>
              <c:numCache>
                <c:formatCode>General</c:formatCode>
                <c:ptCount val="36"/>
                <c:pt idx="12">
                  <c:v>0.0027781404</c:v>
                </c:pt>
                <c:pt idx="13">
                  <c:v>0.0301377883</c:v>
                </c:pt>
              </c:numCache>
            </c:numRef>
          </c:yVal>
          <c:smooth val="0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PIR_C M0 평균</c:v>
                </c:pt>
              </c:strCache>
            </c:strRef>
          </c:tx>
          <c:spPr>
            <a:solidFill>
              <a:srgbClr val="6250D6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6250D6"/>
              </a:solidFill>
              <a:ln w="19050">
                <a:solidFill>
                  <a:srgbClr val="6250D6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Sheet1!$K$2:$K$37</c:f>
              <c:numCache>
                <c:formatCode>General</c:formatCode>
                <c:ptCount val="36"/>
                <c:pt idx="14">
                  <c:v>0.0114974766</c:v>
                </c:pt>
              </c:numCache>
            </c:numRef>
          </c:yVal>
          <c:smooth val="0"/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PIR_C M1 90%</c:v>
                </c:pt>
              </c:strCache>
            </c:strRef>
          </c:tx>
          <c:spPr>
            <a:solidFill>
              <a:srgbClr val="6250D6"/>
            </a:solidFill>
            <a:ln w="28575" cap="flat">
              <a:solidFill>
                <a:srgbClr val="6250D6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Sheet1!$L$2:$L$37</c:f>
              <c:numCache>
                <c:formatCode>General</c:formatCode>
                <c:ptCount val="36"/>
                <c:pt idx="15">
                  <c:v>0.0027781404</c:v>
                </c:pt>
                <c:pt idx="16">
                  <c:v>0.0301377883</c:v>
                </c:pt>
              </c:numCache>
            </c:numRef>
          </c:yVal>
          <c:smooth val="0"/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PIR_C M1 평균</c:v>
                </c:pt>
              </c:strCache>
            </c:strRef>
          </c:tx>
          <c:spPr>
            <a:solidFill>
              <a:srgbClr val="6250D6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B8B0ED"/>
              </a:solidFill>
              <a:ln w="22225">
                <a:solidFill>
                  <a:srgbClr val="6250D6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Sheet1!$M$2:$M$37</c:f>
              <c:numCache>
                <c:formatCode>General</c:formatCode>
                <c:ptCount val="36"/>
                <c:pt idx="17">
                  <c:v>0.0114974766</c:v>
                </c:pt>
              </c:numCache>
            </c:numRef>
          </c:yVal>
          <c:smooth val="0"/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PIR_SC M0 90%</c:v>
                </c:pt>
              </c:strCache>
            </c:strRef>
          </c:tx>
          <c:spPr>
            <a:solidFill>
              <a:srgbClr val="008300"/>
            </a:solidFill>
            <a:ln w="28575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Sheet1!$N$2:$N$37</c:f>
              <c:numCache>
                <c:formatCode>General</c:formatCode>
                <c:ptCount val="36"/>
                <c:pt idx="18">
                  <c:v>0.0001049667</c:v>
                </c:pt>
                <c:pt idx="19">
                  <c:v>0.002737092</c:v>
                </c:pt>
              </c:numCache>
            </c:numRef>
          </c:yVal>
          <c:smooth val="0"/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PIR_SC M0 평균</c:v>
                </c:pt>
              </c:strCache>
            </c:strRef>
          </c:tx>
          <c:spPr>
            <a:solidFill>
              <a:srgbClr val="00830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008300"/>
              </a:solidFill>
              <a:ln w="19050">
                <a:solidFill>
                  <a:srgbClr val="008300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Sheet1!$O$2:$O$37</c:f>
              <c:numCache>
                <c:formatCode>General</c:formatCode>
                <c:ptCount val="36"/>
                <c:pt idx="20">
                  <c:v>0.0008823218</c:v>
                </c:pt>
              </c:numCache>
            </c:numRef>
          </c:yVal>
          <c:smooth val="0"/>
        </c:ser>
        <c:ser>
          <c:idx val="14"/>
          <c:order val="14"/>
          <c:tx>
            <c:strRef>
              <c:f>Sheet1!$P$1</c:f>
              <c:strCache>
                <c:ptCount val="1"/>
                <c:pt idx="0">
                  <c:v>PIR_SC M1 90%</c:v>
                </c:pt>
              </c:strCache>
            </c:strRef>
          </c:tx>
          <c:spPr>
            <a:solidFill>
              <a:srgbClr val="008300"/>
            </a:solidFill>
            <a:ln w="28575" cap="flat">
              <a:solidFill>
                <a:srgbClr val="008300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Sheet1!$P$2:$P$37</c:f>
              <c:numCache>
                <c:formatCode>General</c:formatCode>
                <c:ptCount val="36"/>
                <c:pt idx="21">
                  <c:v>0.0000159469</c:v>
                </c:pt>
                <c:pt idx="22">
                  <c:v>0.0002581543</c:v>
                </c:pt>
              </c:numCache>
            </c:numRef>
          </c:yVal>
          <c:smooth val="0"/>
        </c:ser>
        <c:ser>
          <c:idx val="15"/>
          <c:order val="15"/>
          <c:tx>
            <c:strRef>
              <c:f>Sheet1!$Q$1</c:f>
              <c:strCache>
                <c:ptCount val="1"/>
                <c:pt idx="0">
                  <c:v>PIR_SC M1 평균</c:v>
                </c:pt>
              </c:strCache>
            </c:strRef>
          </c:tx>
          <c:spPr>
            <a:solidFill>
              <a:srgbClr val="008300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8CC78C"/>
              </a:solidFill>
              <a:ln w="22225">
                <a:solidFill>
                  <a:srgbClr val="008300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Sheet1!$Q$2:$Q$37</c:f>
              <c:numCache>
                <c:formatCode>General</c:formatCode>
                <c:ptCount val="36"/>
                <c:pt idx="23">
                  <c:v>0.0000923053</c:v>
                </c:pt>
              </c:numCache>
            </c:numRef>
          </c:yVal>
          <c:smooth val="0"/>
        </c:ser>
        <c:ser>
          <c:idx val="16"/>
          <c:order val="16"/>
          <c:tx>
            <c:strRef>
              <c:f>Sheet1!$R$1</c:f>
              <c:strCache>
                <c:ptCount val="1"/>
                <c:pt idx="0">
                  <c:v>PF_out M0 90%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Sheet1!$R$2:$R$37</c:f>
              <c:numCache>
                <c:formatCode>General</c:formatCode>
                <c:ptCount val="36"/>
                <c:pt idx="24">
                  <c:v>0.0001198073</c:v>
                </c:pt>
                <c:pt idx="25">
                  <c:v>0.0032869895</c:v>
                </c:pt>
              </c:numCache>
            </c:numRef>
          </c:yVal>
          <c:smooth val="0"/>
        </c:ser>
        <c:ser>
          <c:idx val="17"/>
          <c:order val="17"/>
          <c:tx>
            <c:strRef>
              <c:f>Sheet1!$S$1</c:f>
              <c:strCache>
                <c:ptCount val="1"/>
                <c:pt idx="0">
                  <c:v>PF_out M0 평균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A78D6"/>
              </a:solidFill>
              <a:ln w="19050">
                <a:solidFill>
                  <a:srgbClr val="2A78D6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Sheet1!$S$2:$S$37</c:f>
              <c:numCache>
                <c:formatCode>General</c:formatCode>
                <c:ptCount val="36"/>
                <c:pt idx="26">
                  <c:v>0.0010462716</c:v>
                </c:pt>
              </c:numCache>
            </c:numRef>
          </c:yVal>
          <c:smooth val="0"/>
        </c:ser>
        <c:ser>
          <c:idx val="18"/>
          <c:order val="18"/>
          <c:tx>
            <c:strRef>
              <c:f>Sheet1!$T$1</c:f>
              <c:strCache>
                <c:ptCount val="1"/>
                <c:pt idx="0">
                  <c:v>PF_out M1 90%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Sheet1!$T$2:$T$37</c:f>
              <c:numCache>
                <c:formatCode>General</c:formatCode>
                <c:ptCount val="36"/>
                <c:pt idx="27">
                  <c:v>0.0000174801</c:v>
                </c:pt>
                <c:pt idx="28">
                  <c:v>0.0002813042</c:v>
                </c:pt>
              </c:numCache>
            </c:numRef>
          </c:yVal>
          <c:smooth val="0"/>
        </c:ser>
        <c:ser>
          <c:idx val="19"/>
          <c:order val="19"/>
          <c:tx>
            <c:strRef>
              <c:f>Sheet1!$U$1</c:f>
              <c:strCache>
                <c:ptCount val="1"/>
                <c:pt idx="0">
                  <c:v>PF_out M1 평균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9FC2ED"/>
              </a:solidFill>
              <a:ln w="22225">
                <a:solidFill>
                  <a:srgbClr val="2A78D6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Sheet1!$U$2:$U$37</c:f>
              <c:numCache>
                <c:formatCode>General</c:formatCode>
                <c:ptCount val="36"/>
                <c:pt idx="29">
                  <c:v>0.0000972522</c:v>
                </c:pt>
              </c:numCache>
            </c:numRef>
          </c:yVal>
          <c:smooth val="0"/>
        </c:ser>
        <c:ser>
          <c:idx val="20"/>
          <c:order val="20"/>
          <c:tx>
            <c:strRef>
              <c:f>Sheet1!$V$1</c:f>
              <c:strCache>
                <c:ptCount val="1"/>
                <c:pt idx="0">
                  <c:v>PF_in M0 90%</c:v>
                </c:pt>
              </c:strCache>
            </c:strRef>
          </c:tx>
          <c:spPr>
            <a:solidFill>
              <a:srgbClr val="E34948"/>
            </a:solidFill>
            <a:ln w="28575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Sheet1!$V$2:$V$37</c:f>
              <c:numCache>
                <c:formatCode>General</c:formatCode>
                <c:ptCount val="36"/>
                <c:pt idx="30">
                  <c:v>0.0005108708</c:v>
                </c:pt>
                <c:pt idx="31">
                  <c:v>0.0084293586</c:v>
                </c:pt>
              </c:numCache>
            </c:numRef>
          </c:yVal>
          <c:smooth val="0"/>
        </c:ser>
        <c:ser>
          <c:idx val="21"/>
          <c:order val="21"/>
          <c:tx>
            <c:strRef>
              <c:f>Sheet1!$W$1</c:f>
              <c:strCache>
                <c:ptCount val="1"/>
                <c:pt idx="0">
                  <c:v>PF_in M0 평균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E34948"/>
              </a:solidFill>
              <a:ln w="19050">
                <a:solidFill>
                  <a:srgbClr val="E34948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Sheet1!$W$2:$W$37</c:f>
              <c:numCache>
                <c:formatCode>General</c:formatCode>
                <c:ptCount val="36"/>
                <c:pt idx="32">
                  <c:v>0.0028427649</c:v>
                </c:pt>
              </c:numCache>
            </c:numRef>
          </c:yVal>
          <c:smooth val="0"/>
        </c:ser>
        <c:ser>
          <c:idx val="22"/>
          <c:order val="22"/>
          <c:tx>
            <c:strRef>
              <c:f>Sheet1!$X$1</c:f>
              <c:strCache>
                <c:ptCount val="1"/>
                <c:pt idx="0">
                  <c:v>PF_in M1 90%</c:v>
                </c:pt>
              </c:strCache>
            </c:strRef>
          </c:tx>
          <c:spPr>
            <a:solidFill>
              <a:srgbClr val="E34948"/>
            </a:solidFill>
            <a:ln w="28575" cap="flat">
              <a:solidFill>
                <a:srgbClr val="E34948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Sheet1!$X$2:$X$37</c:f>
              <c:numCache>
                <c:formatCode>General</c:formatCode>
                <c:ptCount val="36"/>
                <c:pt idx="33">
                  <c:v>0.0000307741</c:v>
                </c:pt>
                <c:pt idx="34">
                  <c:v>0.0004226623</c:v>
                </c:pt>
              </c:numCache>
            </c:numRef>
          </c:yVal>
          <c:smooth val="0"/>
        </c:ser>
        <c:ser>
          <c:idx val="23"/>
          <c:order val="23"/>
          <c:tx>
            <c:strRef>
              <c:f>Sheet1!$Y$1</c:f>
              <c:strCache>
                <c:ptCount val="1"/>
                <c:pt idx="0">
                  <c:v>PF_in M1 평균</c:v>
                </c:pt>
              </c:strCache>
            </c:strRef>
          </c:tx>
          <c:spPr>
            <a:solidFill>
              <a:srgbClr val="E34948"/>
            </a:solidFill>
            <a:ln>
              <a:noFill/>
            </a:ln>
            <a:effectLst/>
          </c:spPr>
          <c:marker>
            <c:symbol val="square"/>
            <c:size val="8"/>
            <c:spPr>
              <a:solidFill>
                <a:srgbClr val="F2ADAD"/>
              </a:solidFill>
              <a:ln w="22225">
                <a:solidFill>
                  <a:srgbClr val="E34948"/>
                </a:solidFill>
              </a:ln>
            </c:spPr>
          </c:marker>
          <c:xVal>
            <c:numRef>
              <c:f>Sheet1!$A$2:$A$37</c:f>
              <c:numCache>
                <c:formatCode>General</c:formatCode>
                <c:ptCount val="36"/>
                <c:pt idx="0">
                  <c:v>-0.17</c:v>
                </c:pt>
                <c:pt idx="1">
                  <c:v>-0.17</c:v>
                </c:pt>
                <c:pt idx="2">
                  <c:v>-0.17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0.83</c:v>
                </c:pt>
                <c:pt idx="7">
                  <c:v>0.83</c:v>
                </c:pt>
                <c:pt idx="8">
                  <c:v>0.83</c:v>
                </c:pt>
                <c:pt idx="9">
                  <c:v>1.17</c:v>
                </c:pt>
                <c:pt idx="10">
                  <c:v>1.17</c:v>
                </c:pt>
                <c:pt idx="11">
                  <c:v>1.17</c:v>
                </c:pt>
                <c:pt idx="12">
                  <c:v>1.83</c:v>
                </c:pt>
                <c:pt idx="13">
                  <c:v>1.83</c:v>
                </c:pt>
                <c:pt idx="14">
                  <c:v>1.83</c:v>
                </c:pt>
                <c:pt idx="15">
                  <c:v>2.17</c:v>
                </c:pt>
                <c:pt idx="16">
                  <c:v>2.17</c:v>
                </c:pt>
                <c:pt idx="17">
                  <c:v>2.17</c:v>
                </c:pt>
                <c:pt idx="18">
                  <c:v>2.83</c:v>
                </c:pt>
                <c:pt idx="19">
                  <c:v>2.83</c:v>
                </c:pt>
                <c:pt idx="20">
                  <c:v>2.83</c:v>
                </c:pt>
                <c:pt idx="21">
                  <c:v>3.17</c:v>
                </c:pt>
                <c:pt idx="22">
                  <c:v>3.17</c:v>
                </c:pt>
                <c:pt idx="23">
                  <c:v>3.17</c:v>
                </c:pt>
                <c:pt idx="24">
                  <c:v>3.83</c:v>
                </c:pt>
                <c:pt idx="25">
                  <c:v>3.83</c:v>
                </c:pt>
                <c:pt idx="26">
                  <c:v>3.83</c:v>
                </c:pt>
                <c:pt idx="27">
                  <c:v>4.17</c:v>
                </c:pt>
                <c:pt idx="28">
                  <c:v>4.17</c:v>
                </c:pt>
                <c:pt idx="29">
                  <c:v>4.17</c:v>
                </c:pt>
                <c:pt idx="30">
                  <c:v>4.83</c:v>
                </c:pt>
                <c:pt idx="31">
                  <c:v>4.83</c:v>
                </c:pt>
                <c:pt idx="32">
                  <c:v>4.83</c:v>
                </c:pt>
                <c:pt idx="33">
                  <c:v>5.17</c:v>
                </c:pt>
                <c:pt idx="34">
                  <c:v>5.17</c:v>
                </c:pt>
                <c:pt idx="35">
                  <c:v>5.17</c:v>
                </c:pt>
              </c:numCache>
            </c:numRef>
          </c:xVal>
          <c:yVal>
            <c:numRef>
              <c:f>Sheet1!$Y$2:$Y$37</c:f>
              <c:numCache>
                <c:formatCode>General</c:formatCode>
                <c:ptCount val="36"/>
                <c:pt idx="35">
                  <c:v>0.0001526101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.5"/>
          <c:min val="-0.5"/>
        </c:scaling>
        <c:delete val="1"/>
        <c:axPos val="b"/>
        <c:numFmt formatCode="0E+0" sourceLinked="1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0.000001"/>
        <c:auto val="1"/>
        <c:lblAlgn val="ctr"/>
        <c:noMultiLvlLbl val="1"/>
        <c:majorUnit val="1"/>
      </c:valAx>
      <c:valAx>
        <c:axId val="2094734552"/>
        <c:scaling>
          <c:logBase val="10"/>
          <c:orientation val="minMax"/>
          <c:max val="0.1"/>
          <c:min val="0.000001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E+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M0 · 대책 없음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5"/>
          <c:y val="0.1"/>
          <c:w val="0.81"/>
          <c:h val="0.7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M0 NC</c:v>
                </c:pt>
              </c:strCache>
            </c:strRef>
          </c:tx>
          <c:spPr>
            <a:solidFill>
              <a:srgbClr val="8A8F98"/>
            </a:solidFill>
            <a:ln w="25400" cap="flat">
              <a:solidFill>
                <a:srgbClr val="8A8F98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8A8F98"/>
              </a:solidFill>
              <a:ln w="9525" cap="flat">
                <a:solidFill>
                  <a:srgbClr val="8A8F98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0.0000164993</c:v>
                </c:pt>
                <c:pt idx="1">
                  <c:v>0.0000010625</c:v>
                </c:pt>
                <c:pt idx="2">
                  <c:v>8.15e-8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M0 EPS_SC</c:v>
                </c:pt>
              </c:strCache>
            </c:strRef>
          </c:tx>
          <c:spPr>
            <a:solidFill>
              <a:srgbClr val="E87BA4"/>
            </a:solidFill>
            <a:ln w="25400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Sheet1!$C$2:$C$15</c:f>
              <c:numCache>
                <c:formatCode>General</c:formatCode>
                <c:ptCount val="14"/>
                <c:pt idx="0">
                  <c:v>0.0004197743</c:v>
                </c:pt>
                <c:pt idx="1">
                  <c:v>0.0001616956</c:v>
                </c:pt>
                <c:pt idx="2">
                  <c:v>0.0000591447</c:v>
                </c:pt>
                <c:pt idx="3">
                  <c:v>0.000020779</c:v>
                </c:pt>
                <c:pt idx="4">
                  <c:v>0.0000078491</c:v>
                </c:pt>
                <c:pt idx="5">
                  <c:v>0.0000041269</c:v>
                </c:pt>
                <c:pt idx="6">
                  <c:v>0.000002311</c:v>
                </c:pt>
                <c:pt idx="7">
                  <c:v>0.0000014018</c:v>
                </c:pt>
                <c:pt idx="8">
                  <c:v>8.775e-7</c:v>
                </c:pt>
                <c:pt idx="9">
                  <c:v>5.704e-7</c:v>
                </c:pt>
                <c:pt idx="10">
                  <c:v>3.849e-7</c:v>
                </c:pt>
                <c:pt idx="11">
                  <c:v>2.669e-7</c:v>
                </c:pt>
                <c:pt idx="12">
                  <c:v>1.967e-7</c:v>
                </c:pt>
                <c:pt idx="13">
                  <c:v>1.467e-7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M0 PIR_C</c:v>
                </c:pt>
              </c:strCache>
            </c:strRef>
          </c:tx>
          <c:spPr>
            <a:solidFill>
              <a:srgbClr val="6250D6"/>
            </a:solidFill>
            <a:ln w="25400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Sheet1!$D$2:$D$15</c:f>
              <c:numCache>
                <c:formatCode>General</c:formatCode>
                <c:ptCount val="14"/>
                <c:pt idx="0">
                  <c:v>0.0008889406</c:v>
                </c:pt>
                <c:pt idx="1">
                  <c:v>0.0008772746</c:v>
                </c:pt>
                <c:pt idx="2">
                  <c:v>0.0008675316</c:v>
                </c:pt>
                <c:pt idx="3">
                  <c:v>0.0008579081</c:v>
                </c:pt>
                <c:pt idx="4">
                  <c:v>0.0008482933</c:v>
                </c:pt>
                <c:pt idx="5">
                  <c:v>0.0008386595</c:v>
                </c:pt>
                <c:pt idx="6">
                  <c:v>0.0008289539</c:v>
                </c:pt>
                <c:pt idx="7">
                  <c:v>0.0008191067</c:v>
                </c:pt>
                <c:pt idx="8">
                  <c:v>0.0008090464</c:v>
                </c:pt>
                <c:pt idx="9">
                  <c:v>0.0007986941</c:v>
                </c:pt>
                <c:pt idx="10">
                  <c:v>0.0007871487</c:v>
                </c:pt>
                <c:pt idx="11">
                  <c:v>0.000773772</c:v>
                </c:pt>
                <c:pt idx="12">
                  <c:v>0.0007590237</c:v>
                </c:pt>
                <c:pt idx="13">
                  <c:v>0.0007431232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M0 PIR_SC</c:v>
                </c:pt>
              </c:strCache>
            </c:strRef>
          </c:tx>
          <c:spPr>
            <a:solidFill>
              <a:srgbClr val="008300"/>
            </a:solidFill>
            <a:ln w="25400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Sheet1!$E$2:$E$15</c:f>
              <c:numCache>
                <c:formatCode>General</c:formatCode>
                <c:ptCount val="14"/>
                <c:pt idx="0">
                  <c:v>0.0005702059</c:v>
                </c:pt>
                <c:pt idx="1">
                  <c:v>0.0002011212</c:v>
                </c:pt>
                <c:pt idx="2">
                  <c:v>0.0000672087</c:v>
                </c:pt>
                <c:pt idx="3">
                  <c:v>0.0000217583</c:v>
                </c:pt>
                <c:pt idx="4">
                  <c:v>0.0000096306</c:v>
                </c:pt>
                <c:pt idx="5">
                  <c:v>0.0000049624</c:v>
                </c:pt>
                <c:pt idx="6">
                  <c:v>0.0000028093</c:v>
                </c:pt>
                <c:pt idx="7">
                  <c:v>0.0000016799</c:v>
                </c:pt>
                <c:pt idx="8">
                  <c:v>0.0000010416</c:v>
                </c:pt>
                <c:pt idx="9">
                  <c:v>6.752e-7</c:v>
                </c:pt>
                <c:pt idx="10">
                  <c:v>4.608e-7</c:v>
                </c:pt>
                <c:pt idx="11">
                  <c:v>3.256e-7</c:v>
                </c:pt>
                <c:pt idx="12">
                  <c:v>2.428e-7</c:v>
                </c:pt>
                <c:pt idx="13">
                  <c:v>1.996e-7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M0 PF_out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Sheet1!$F$2:$F$15</c:f>
              <c:numCache>
                <c:formatCode>General</c:formatCode>
                <c:ptCount val="14"/>
                <c:pt idx="0">
                  <c:v>0.0005890823</c:v>
                </c:pt>
                <c:pt idx="1">
                  <c:v>0.0002479692</c:v>
                </c:pt>
                <c:pt idx="2">
                  <c:v>0.000106207</c:v>
                </c:pt>
                <c:pt idx="3">
                  <c:v>0.0000486754</c:v>
                </c:pt>
                <c:pt idx="4">
                  <c:v>0.0000237793</c:v>
                </c:pt>
                <c:pt idx="5">
                  <c:v>0.000012283</c:v>
                </c:pt>
                <c:pt idx="6">
                  <c:v>0.0000067402</c:v>
                </c:pt>
                <c:pt idx="7">
                  <c:v>0.0000039284</c:v>
                </c:pt>
                <c:pt idx="8">
                  <c:v>0.0000024482</c:v>
                </c:pt>
                <c:pt idx="9">
                  <c:v>0.0000016712</c:v>
                </c:pt>
                <c:pt idx="10">
                  <c:v>0.0000012039</c:v>
                </c:pt>
                <c:pt idx="11">
                  <c:v>9.346e-7</c:v>
                </c:pt>
                <c:pt idx="12">
                  <c:v>7.421e-7</c:v>
                </c:pt>
                <c:pt idx="13">
                  <c:v>6.07e-7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M0 PF_in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Sheet1!$G$2:$G$15</c:f>
              <c:numCache>
                <c:formatCode>General</c:formatCode>
                <c:ptCount val="14"/>
                <c:pt idx="0">
                  <c:v>0.0008507036</c:v>
                </c:pt>
                <c:pt idx="1">
                  <c:v>0.0006417295</c:v>
                </c:pt>
                <c:pt idx="2">
                  <c:v>0.0004381419</c:v>
                </c:pt>
                <c:pt idx="3">
                  <c:v>0.0002949873</c:v>
                </c:pt>
                <c:pt idx="4">
                  <c:v>0.0001975014</c:v>
                </c:pt>
                <c:pt idx="5">
                  <c:v>0.0001324374</c:v>
                </c:pt>
                <c:pt idx="6">
                  <c:v>0.0000895005</c:v>
                </c:pt>
                <c:pt idx="7">
                  <c:v>0.0000611763</c:v>
                </c:pt>
                <c:pt idx="8">
                  <c:v>0.0000428621</c:v>
                </c:pt>
                <c:pt idx="9">
                  <c:v>0.000030898</c:v>
                </c:pt>
                <c:pt idx="10">
                  <c:v>0.0000228844</c:v>
                </c:pt>
                <c:pt idx="11">
                  <c:v>0.0000171201</c:v>
                </c:pt>
                <c:pt idx="12">
                  <c:v>0.0000129405</c:v>
                </c:pt>
                <c:pt idx="13">
                  <c:v>0.0000098818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M0 기준</c:v>
                </c:pt>
              </c:strCache>
            </c:strRef>
          </c:tx>
          <c:spPr>
            <a:solidFill>
              <a:srgbClr val="23303D"/>
            </a:solidFill>
            <a:ln>
              <a:noFill/>
            </a:ln>
            <a:effectLst/>
          </c:spPr>
          <c:marker>
            <c:symbol val="diamond"/>
            <c:size val="10"/>
            <c:spPr>
              <a:solidFill>
                <a:srgbClr val="23303D"/>
              </a:solidFill>
              <a:ln w="19050">
                <a:solidFill>
                  <a:srgbClr val="23303D"/>
                </a:solidFill>
              </a:ln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Sheet1!$H$2:$H$15</c:f>
              <c:numCache>
                <c:formatCode>General</c:formatCode>
                <c:ptCount val="14"/>
                <c:pt idx="1">
                  <c:v>0.0001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4"/>
          <c:min val="1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1e-8"/>
        <c:auto val="1"/>
        <c:lblAlgn val="ctr"/>
        <c:noMultiLvlLbl val="1"/>
        <c:majorUnit val="1"/>
      </c:valAx>
      <c:valAx>
        <c:axId val="2094734552"/>
        <c:scaling>
          <c:logBase val="10"/>
          <c:orientation val="minMax"/>
          <c:max val="0.01"/>
          <c:min val="1e-8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E+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3303D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23303D"/>
                </a:solidFill>
                <a:latin typeface="+mn-lt"/>
              </a:rPr>
              <a:t>M1 · 개구부 차단재 + 층간 배리어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5"/>
          <c:y val="0.1"/>
          <c:w val="0.81"/>
          <c:h val="0.7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M1 NC</c:v>
                </c:pt>
              </c:strCache>
            </c:strRef>
          </c:tx>
          <c:spPr>
            <a:solidFill>
              <a:srgbClr val="8A8F98"/>
            </a:solidFill>
            <a:ln w="25400" cap="flat">
              <a:solidFill>
                <a:srgbClr val="8A8F98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8A8F98"/>
              </a:solidFill>
              <a:ln w="9525" cap="flat">
                <a:solidFill>
                  <a:srgbClr val="8A8F98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0.0000164993</c:v>
                </c:pt>
                <c:pt idx="1">
                  <c:v>0.0000010625</c:v>
                </c:pt>
                <c:pt idx="2">
                  <c:v>8.15e-8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M1 EPS_SC</c:v>
                </c:pt>
              </c:strCache>
            </c:strRef>
          </c:tx>
          <c:spPr>
            <a:solidFill>
              <a:srgbClr val="E87BA4"/>
            </a:solidFill>
            <a:ln w="25400" cap="flat">
              <a:solidFill>
                <a:srgbClr val="E87BA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87BA4"/>
              </a:solidFill>
              <a:ln w="9525" cap="flat">
                <a:solidFill>
                  <a:srgbClr val="E87BA4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Sheet1!$C$2:$C$15</c:f>
              <c:numCache>
                <c:formatCode>General</c:formatCode>
                <c:ptCount val="14"/>
                <c:pt idx="0">
                  <c:v>0.0000634249</c:v>
                </c:pt>
                <c:pt idx="1">
                  <c:v>0.0000080657</c:v>
                </c:pt>
                <c:pt idx="2">
                  <c:v>0.000001133</c:v>
                </c:pt>
                <c:pt idx="3">
                  <c:v>1.662e-7</c:v>
                </c:pt>
                <c:pt idx="4">
                  <c:v>2.7e-8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M1 PIR_C</c:v>
                </c:pt>
              </c:strCache>
            </c:strRef>
          </c:tx>
          <c:spPr>
            <a:solidFill>
              <a:srgbClr val="6250D6"/>
            </a:solidFill>
            <a:ln w="25400" cap="flat">
              <a:solidFill>
                <a:srgbClr val="6250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6250D6"/>
              </a:solidFill>
              <a:ln w="9525" cap="flat">
                <a:solidFill>
                  <a:srgbClr val="6250D6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Sheet1!$D$2:$D$15</c:f>
              <c:numCache>
                <c:formatCode>General</c:formatCode>
                <c:ptCount val="14"/>
                <c:pt idx="0">
                  <c:v>0.0008889406</c:v>
                </c:pt>
                <c:pt idx="1">
                  <c:v>0.0008772746</c:v>
                </c:pt>
                <c:pt idx="2">
                  <c:v>0.0008675316</c:v>
                </c:pt>
                <c:pt idx="3">
                  <c:v>0.0008579081</c:v>
                </c:pt>
                <c:pt idx="4">
                  <c:v>0.0008482933</c:v>
                </c:pt>
                <c:pt idx="5">
                  <c:v>0.0008386595</c:v>
                </c:pt>
                <c:pt idx="6">
                  <c:v>0.0008289539</c:v>
                </c:pt>
                <c:pt idx="7">
                  <c:v>0.0008191067</c:v>
                </c:pt>
                <c:pt idx="8">
                  <c:v>0.0008090464</c:v>
                </c:pt>
                <c:pt idx="9">
                  <c:v>0.0007986941</c:v>
                </c:pt>
                <c:pt idx="10">
                  <c:v>0.0007871487</c:v>
                </c:pt>
                <c:pt idx="11">
                  <c:v>0.000773772</c:v>
                </c:pt>
                <c:pt idx="12">
                  <c:v>0.0007590237</c:v>
                </c:pt>
                <c:pt idx="13">
                  <c:v>0.0007431232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M1 PIR_SC</c:v>
                </c:pt>
              </c:strCache>
            </c:strRef>
          </c:tx>
          <c:spPr>
            <a:solidFill>
              <a:srgbClr val="008300"/>
            </a:solidFill>
            <a:ln w="25400" cap="flat">
              <a:solidFill>
                <a:srgbClr val="00830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Sheet1!$E$2:$E$15</c:f>
              <c:numCache>
                <c:formatCode>General</c:formatCode>
                <c:ptCount val="14"/>
                <c:pt idx="0">
                  <c:v>0.0000809651</c:v>
                </c:pt>
                <c:pt idx="1">
                  <c:v>0.00000982</c:v>
                </c:pt>
                <c:pt idx="2">
                  <c:v>0.0000012937</c:v>
                </c:pt>
                <c:pt idx="3">
                  <c:v>1.797e-7</c:v>
                </c:pt>
                <c:pt idx="4">
                  <c:v>3.53e-8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M1 PF_out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Sheet1!$F$2:$F$15</c:f>
              <c:numCache>
                <c:formatCode>General</c:formatCode>
                <c:ptCount val="14"/>
                <c:pt idx="0">
                  <c:v>0.0000830897</c:v>
                </c:pt>
                <c:pt idx="1">
                  <c:v>0.0000117767</c:v>
                </c:pt>
                <c:pt idx="2">
                  <c:v>0.0000019251</c:v>
                </c:pt>
                <c:pt idx="3">
                  <c:v>3.612e-7</c:v>
                </c:pt>
                <c:pt idx="4">
                  <c:v>7.59e-8</c:v>
                </c:pt>
                <c:pt idx="5">
                  <c:v>1.74e-8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M1 PF_in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Sheet1!$G$2:$G$15</c:f>
              <c:numCache>
                <c:formatCode>General</c:formatCode>
                <c:ptCount val="14"/>
                <c:pt idx="0">
                  <c:v>0.0001134588</c:v>
                </c:pt>
                <c:pt idx="1">
                  <c:v>0.0000285472</c:v>
                </c:pt>
                <c:pt idx="2">
                  <c:v>0.0000075552</c:v>
                </c:pt>
                <c:pt idx="3">
                  <c:v>0.0000021337</c:v>
                </c:pt>
                <c:pt idx="4">
                  <c:v>6.308e-7</c:v>
                </c:pt>
                <c:pt idx="5">
                  <c:v>1.931e-7</c:v>
                </c:pt>
                <c:pt idx="6">
                  <c:v>6.1e-8</c:v>
                </c:pt>
                <c:pt idx="7">
                  <c:v>1.98e-8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M1 기준</c:v>
                </c:pt>
              </c:strCache>
            </c:strRef>
          </c:tx>
          <c:spPr>
            <a:solidFill>
              <a:srgbClr val="23303D"/>
            </a:solidFill>
            <a:ln>
              <a:noFill/>
            </a:ln>
            <a:effectLst/>
          </c:spPr>
          <c:marker>
            <c:symbol val="diamond"/>
            <c:size val="10"/>
            <c:spPr>
              <a:solidFill>
                <a:srgbClr val="23303D"/>
              </a:solidFill>
              <a:ln w="19050">
                <a:solidFill>
                  <a:srgbClr val="23303D"/>
                </a:solidFill>
              </a:ln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Sheet1!$H$2:$H$15</c:f>
              <c:numCache>
                <c:formatCode>General</c:formatCode>
                <c:ptCount val="14"/>
                <c:pt idx="1">
                  <c:v>0.0001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2330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4"/>
          <c:min val="1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2"/>
        <c:crossesAt val="1e-8"/>
        <c:auto val="1"/>
        <c:lblAlgn val="ctr"/>
        <c:noMultiLvlLbl val="1"/>
        <c:majorUnit val="1"/>
      </c:valAx>
      <c:valAx>
        <c:axId val="2094734552"/>
        <c:scaling>
          <c:logBase val="10"/>
          <c:orientation val="minMax"/>
          <c:max val="0.01"/>
          <c:min val="1e-8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E+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질문: NFPA 551의 화재위험성평가 중 정량적 방법을 외벽에 쓰고 싶은데, 정량 평가를 어떻게 서술하고 어떤 절차로 하는지가 없다.
- 답: NFPA 551은 '평가를 검토하는 지침'이라 방법을 정하지 않습니다. 그래서 외벽에 맞춘 절차(12단계), 모델(사건수목 + 층간 확산), 서술 양식을 만들었고, 중공층 시험 자료로 끝까지 계산해 보였습니다.
- 순서: 결론(2) → NFPA 551·EFFECT에서 무엇을 가져오나(3–5) → 12단계 절차(6–12) → 예제 결과(13–15) → 불확실성·검증(16–17) → 문서화·검토(18–20) → 한계(21) → 부록.
[질문 대비]
- EFFECT 사용자 가이드 원문은 이번에 받지 못해 공개 자료 기준으로 연계했습니다(5쪽).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왼쪽 위: NFPA 551 1.2절이 직접 '방법을 정하지 않는다'고 씁니다. 그래서 '서술 방법·절차가 없다'는 느낌이 맞습니다. 대신 정량 평가가 갖춰야 할 요소(5.5)와 문서(7.3.3.4), 검토(8장)는 구체적입니다.
- 오른쪽 위: 외벽에 맞춘 구성. 빈도는 사건수목, 결과는 '몇 개 층이 더 타는가'. 재료는 중공층 시험의 t600 하나로 들어갑니다(앞서 제안한 FRI와 같은 생각).
- 아래: 예시 입력으로 계산하면 대책이 없을 때 가연성 PIR과 PF 내부용은 예시 기준을 넘고, 차단재·배리어를 넣으면 준불연은 기준 안으로 들어옵니다. 결론을 좌우하는 것은 s(시험→실물), 외부 발화원 빈도, 배리어 효과입니다.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표 5.1.2.1의 다섯 범주입니다. 가르는 기준은 가능성과 결과를 정성으로 다루는지 정량으로 다루는지입니다.
- 지금까지 한 일: 중공층 시험은 결과를 수치로 주므로 '준정량적 결과' 쪽이고, R = P×S는 등급을 곱한 위험 지수라 정성 범주(위험 지수, 5.2.4)에 가깝습니다.
- R = P×S의 P는 이름이 '가능성'처럼 보이지만 실제로는 확산 속도 등급입니다. NFPA 551 정의(3.3.14)로는 위험은 확률과 결과의 쌍이므로, 정량법으로 가려면 빈도를 더해야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왼쪽 열이 NFPA 551이 실제로 주는 것, 오른쪽 열이 외벽에 적용하려고 이 자료에서 채운 것입니다.
- 핵심은 세 가지 빈칸입니다: 외벽 시나리오 목록, 분기 구조와 확률값, 외벽 확산을 계산하는 결과 모델. 기준값은 원래 협의 대상이라 예시만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EFFECT는 NFPA가 그렌펠 이후 내놓은 외벽 위험 순위 도구로, Tier 1은 짧은 설문으로 포트폴리오 순위를, Tier 2는 현장 자료로 상세 평가를 합니다. 방법 자체는 정성적입니다.
- 그래서 EFFECT를 '대체'하는 것이 아니라, EFFECT가 보는 요인을 정량 평가의 입력 자리로 옮기는 대응표를 만들었습니다(오른쪽).
- 흐름: EFFECT로 대상 건물·대안을 고르고(선별), 그 대상에 이 정량 절차를 적용합니다. NFPA 551 5.1.3.1도 선별 목적이면 정성, 확정 평가면 정량을 권합니다.
[질문 대비]
- 원문 미수령: 업로드 폴더에 파일이 없었고, 이 환경의 네트워크 정책상 nfpa.org 등에 접속할 수 없었습니다. 원문을 다시 올려 주시면 반영합니다.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NFPA 551 그림 4.3의 검토 흐름(범위·개발 → FRA 수행 → 검토·평가)을 외벽 정량 평가의 작업 단계로 풀어 쓴 것입니다.
- 각 칸의 아래 줄이 그 단계의 산출물입니다. 산출물을 모으면 7장의 문서 요건이 채워지도록 짰습니다.
- 기준을 못 넘으면 대책을 넣고 7단계(결과)부터 다시 계산하는 반복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- 1단계는 목적을 하나로 정하는 것이 중요합니다. '재료 대안 비교'인지 '기존 건물 우선순위'인지에 따라 기준안과 지표가 달라집니다.
- 3단계 허용기준은 분석 전에 정합니다. 결과를 보고 기준을 고르면 검토에서 받아들여지지 않습니다. 이 예제는 A.5.1.2의 '확산 범위' 지표를 주 지표로 썼습니다.
[질문 대비]
- HSE R2P2(2001): 개인위험도 10^-6/년 이하는 '일반적으로 허용', 10^-4/년은 일반인 '허용 한계'.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외벽 위험의 출발점은 '외벽이 화염에 노출되는 사건'입니다. EFFECT가 보는 발화원도 실내 화재의 창 분출과 외부 화원(차량·쓰레기·발코니)으로 나뉩니다.
- IE2는 국내에서 의정부·제천처럼 1층 필로티에서 시작해 외벽을 타고 올라간 사례가 있어 따로 둡니다. 세대 스프링클러로 막을 수 없는 경로라는 점이 중요합니다.
- 제외 목록은 반드시 문서에 남깁니다. 검토자는 '왜 이 시나리오가 없는가'를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위가 IE1, 아래가 IE2입니다. 왼쪽에서 오른쪽으로 분기 확률을 곱하면 각 끝 칸의 연간 빈도가 됩니다(5.3.1.2.2).
- 스프링클러가 있는 건물에서는 IE1이 1/10로 줄어 외벽 노출 빈도가 IE2보다 작아집니다. 그래서 외부 발화원(필로티·주차)이 외벽 위험의 큰 몫이 됩니다. 단, 이것은 예시 입력의 결과이므로 국내 통계로 확인해야 합니다.
- 빨간 칸만 외벽(중공층) 경로로 넘어가고, 나머지는 창→창 도약만 일어나거나 확산이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왼쪽 그림: 발화층 k의 분출화염(또는 1층 외부 화원)이 중공층에 들어가면, 중공층 화재는 한 층을 τ_F마다 오릅니다. τ_F는 3 m 중공층 시험의 t600에 실물 보정 계수 s를 곱한 값입니다.
- 멈추는 조건은 셋: 소방 진압(T_FS), 층 경계의 배리어(p_cb), 그리고 자립 연소가 안 되는 재료는 분출화염이 끝나는 시각(T_stop)입니다. 플래그 B가 있는 재료는 화원이 꺼져도 계속 오릅니다.
- 창→창 도약은 불연 외벽에서도 일어나는 기본 경로라 따로 계산하고, 둘 중 먼저 닿는 쪽으로 노출을 셉니다.
[질문 대비]
- s를 0.25–1로 둔 이유: 30 kW 버너보다 실제 창 분출화염이 크므로 실물에서는 더 빠를 수 있다는 가정입니다. 가장 큰 불확실성이고, 실대형 시험으로 보정해야 합니다(16쪽).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재료가 모델에 들어가는 통로는 t600과 플래그 B 두 개뿐입니다. τ_F는 t600에 s를 곱한 값으로, s = 0.5이면 PF 내부용은 층당 약 4분, PIR(PUR) 가연성은 15초입니다.
- 그래서 외벽이 노출된 한 번의 사건에서 PIR(PUR) 가연성은 평균 7개 층(15층 건물에서 발화층 위 전체), PF 내부용은 2.6개 층이 번집니다. 나머지 준불연은 진압 전에 한 층 정도입니다.
- 배리어(M1)를 넣으면 준불연은 0.3–0.5층으로 줄어듭니다. 가연성은 근거가 없으므로 효과를 주지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NFPA 551 8.2.1.2(각 계산 단계 확인)를 직접 보이는 쪽입니다. 사건수목에서 F를, 결과 모델에서 C를 가져와 R = Σ F·C를 손으로 계산했습니다.
- PF 내부용은 점추정으로 R_S 1.8e-3층/년, 2개 층 이상 확산 빈도 6.4e-4/년으로 예시 기준 1e-4를 넘습니다. 기여의 83 %가 IE2(외부 발화원)입니다.
- 오른쪽 표에서 PIR(PUR) 준불연·PF 외부용·EPS 준불연은 점추정 F(n≥2)가 0입니다. 진압 시각을 중앙값 15분 하나로 놓았기 때문이며, 분포를 넣으면 0이 아닙니다(15쪽).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점이 평균, 세로선이 인식론적 90 % 구간입니다. 왼쪽 진한 원이 대책 없음(M0), 오른쪽 빈 네모가 차단재 + 배리어(M1)입니다.
- 순위는 기존 R = P×S와 같은 방향입니다. 다른 점은 PF 외부용: 자립 연소 플래그 B가 '위험도'에 숫자로 들어가, 진압이 늦은 사건에서 계속 올라가는 몫이 반영됩니다.
- 구간이 넓은 것은 입력이 예시값이고 범위를 넓게 잡았기 때문입니다. 그래서 판정은 신뢰수준으로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가로축은 발화층 위로 번진 층 수 n, 세로축은 그 이상 번지는 사건의 연간 빈도입니다. 정량법 출력의 'F–N 곡선'(표 5.1.2.1의 (4))을 외벽 확산 범위로 그린 것입니다.
- 왼쪽(대책 없음): 가연성 PIR은 n과 상관없이 거의 수평입니다. 한 번 들어가면 건물 끝까지 갑니다. PF 내부용도 천천히 떨어집니다.
- 오른쪽(대책 있음): 준불연은 배리어가 층마다 막아 곡선이 급하게 떨어집니다.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같은 기준을 점추정과 몬테카를로로 판정한 표입니다. 점추정으로는 준불연 3종이 '충족'처럼 보이지만, 분포를 넣으면 기준을 만족하는 비율이 41–55 %로 '판단 유보'입니다.
- 판단 유보는 실패가 아니라 '이 입력 수준으로는 결론을 못 낸다'는 뜻이고, 무엇을 측정해야 결론이 나는지는 다음 쪽 민감도가 알려 줍니다.
[질문 대비]
- 90 %라는 신뢰수준과 1e-4라는 기준은 모두 예시입니다. 관할기관과 정할 값입니다(4.4.3.4).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NFPA 551 A.5.5.6은 우연적(무작위) 불확실성과 인식론적(지식 부족) 불확실성을 구분하라고 합니다. 2중 몬테카를로가 그 구분을 그대로 구현합니다.
- 오른쪽 표는 어떤 입력을 알게 되면 결론이 가장 많이 바뀌는지를 보여 줍니다. 대책이 없을 때는 s와 λ2, 대책이 있을 때는 p_cb와 p_e1이 큽니다.
- 그래서 다음 시험은 '배리어를 넣은 중공층 시험'과 '실대형 시험'이 가장 값어치가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검증은 '식을 제대로 풀었는가', 확인은 '식이 현실을 대표하는가'입니다(3.3.18–3.3.19).
- 검증은 끝났습니다: 엑셀과 파이썬을 따로 짜서 120개 값이 수치 오차 수준에서 같습니다. 검토자가 엑셀만 열어도 같은 숫자가 나옵니다.
- 확인은 남았습니다: 3 m 시험을 한 개 층으로 보고 층마다 같은 시간으로 오른다고 본 가정이 가장 약한 고리이며, 실대형 시험이나 PyroSim 계산으로 확인해야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'서술 방법이 없다'에 대한 직접 답입니다. NFPA 551 7장이 무엇을 써야 하는지는 항목으로 정해 두었고, 이를 외벽 정량 평가에 맞게 풀었습니다.
- 왼쪽은 분석 전에 관할기관과 합의하는 개념보고서, 오른쪽은 분석 결과를 담는 정량 결과 문서입니다. 항목별 예문은 서술양식.docx에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외벽 평가 결과는 조건부입니다. 배리어가 뚫리거나 필로티에 차량을 세우면 가정한 확률이 바뀝니다.
- 그래서 7.4는 어떤 조건을 지켜야 하고, 무엇이 바뀌면 다시 평가하는지를 매뉴얼로 남기라고 합니다. 검토 질문 9개 중 3개가 여기에 해당합니다.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- 8.3의 질문 9개는 검토자가 반드시 묻는 것들입니다. 각 질문의 답이 문서 어디에 있는지 표로 붙이면 검토 기간이 줄어듭니다.
- 동료 검토자는 평가에 관여하지 않은 사람이어야 합니다(8.1.2.1).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한계는 숨기지 않고 문서에 씁니다(7.3.3.4.6). 이 예제의 결론은 입력값에 따라 바뀔 수 있습니다.
- 다음 단계는 민감도 순서와 같습니다: 실대형 시험으로 s를, 화재 통계로 외부 발화원 빈도를, 배리어 시험으로 대책 효과를 확정합니다.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계산서 1_입력과 같은 표입니다. 범위는 몬테카를로의 인식론적 범위이고, 분포는 확률은 삼각, 빈도·s는 로그균등입니다.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[스크립트]
- 모든 수치는 스크립트로 다시 만들어집니다. 입력을 바꿀 때는 qfra.py의 PARAMS와 계산서 1_입력을 같이 바꾸고 check_xlsx.py로 일치를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3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106984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KICT 중공층 외단열 · 외벽 정량적 화재위험성평가(NFPA 551 5.5) 절차와 예제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11247120" y="644652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622024" y="6446520"/>
            <a:ext cx="109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400" b="1" dirty="0">
                <a:solidFill>
                  <a:schemeClr val="bg2"/>
                </a:solidFill>
              </a:rPr>
              <a:t>외벽 화재위험성평가 · NFPA 551 정량적 방법 · 2026-10-23</a:t>
            </a:r>
            <a:endParaRPr lang="ko-KR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외벽(중공층 외단열) 화재위험성평가의</a:t>
            </a:r>
            <a:endParaRPr lang="ko-KR" sz="3600" dirty="0"/>
          </a:p>
          <a:p>
            <a:pPr algn="l" indent="0" marL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정량적 방법과 평가 절차</a:t>
            </a:r>
            <a:endParaRPr lang="ko-KR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063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600" dirty="0">
                <a:solidFill>
                  <a:schemeClr val="bg2"/>
                </a:solidFill>
              </a:rPr>
              <a:t>NFPA 551(2022) 5.5 정량적 방법을 외벽에 적용하는 12단계 · EFFECT 요인 연계 · 중공층 시험 자료로 계산한 예제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600" b="1" dirty="0">
                <a:solidFill>
                  <a:schemeClr val="bg1"/>
                </a:solidFill>
              </a:rPr>
              <a:t>R = Σ F·C</a:t>
            </a:r>
            <a:endParaRPr lang="ko-KR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사건수목 × 층간 확산 모델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NFPA 551 식 5.5.1.2 · 5.5.1.3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600" b="1" dirty="0">
                <a:solidFill>
                  <a:schemeClr val="bg1"/>
                </a:solidFill>
              </a:rPr>
              <a:t>12단계</a:t>
            </a:r>
            <a:endParaRPr lang="ko-KR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준비 4 · 분석 6 · 문서화·검토 2</a:t>
            </a:r>
            <a:endParaRPr lang="ko-KR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단계마다 조항 · 산출물 · 서술 항목</a:t>
            </a:r>
            <a:endParaRPr lang="ko-KR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416052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600" b="1" dirty="0">
                <a:solidFill>
                  <a:schemeClr val="bg1"/>
                </a:solidFill>
              </a:rPr>
              <a:t>엑셀 = 파이썬</a:t>
            </a:r>
            <a:endParaRPr lang="ko-KR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4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점추정 24경우 재현 일치</a:t>
            </a:r>
            <a:endParaRPr lang="ko-KR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최대 상대차 </a:t>
            </a:r>
            <a:r>
              <a:rPr lang="ko-KR" altLang="en-US" sz="1100" dirty="0">
                <a:solidFill>
                  <a:schemeClr val="bg2"/>
                </a:solidFill>
              </a:rPr>
              <a:t>3.7×10</a:t>
            </a:r>
            <a:r>
              <a:rPr lang="ko-KR" altLang="en-US" sz="1100" baseline="30000" dirty="0">
                <a:solidFill>
                  <a:schemeClr val="bg2"/>
                </a:solidFill>
              </a:rPr>
              <a:t>−13</a:t>
            </a:r>
            <a:r>
              <a:rPr lang="ko-KR" altLang="en-US" sz="1100" dirty="0">
                <a:solidFill>
                  <a:schemeClr val="bg2"/>
                </a:solidFill>
              </a:rPr>
              <a:t> (8.2.1.1)</a:t>
            </a:r>
            <a:endParaRPr lang="ko-KR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함께 드리는 파일: 외벽_QFRA_계산서.xlsx (수식 계산서 — 노란 칸을 바꾸면 다시 계산) · 외벽_QFRA_서술양식.docx (NFPA 551 7장 보고서 작성 양식과 예문)</a:t>
            </a:r>
            <a:endParaRPr lang="ko-K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결론 — 무엇을 어떻게 하면 되나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NFPA 551은 정량 평가의 ‘요건’만 주므로, 외벽은 사건수목(빈도) × 층간 확산 모델(결과)로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구성하고 중공층 시험 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을 층당 확산시간으로 넣어 R = Σ F·C를 계산함</a:t>
            </a:r>
            <a:endParaRPr lang="ko-KR" sz="2000" dirty="0"/>
          </a:p>
        </p:txBody>
      </p:sp>
      <p:sp>
        <p:nvSpPr>
          <p:cNvPr id="4" name="card NFPA 551 = ‘평가를 검토하는 법’을 주는 지침"/>
          <p:cNvSpPr/>
          <p:nvPr/>
        </p:nvSpPr>
        <p:spPr>
          <a:xfrm>
            <a:off x="457200" y="1645920"/>
            <a:ext cx="5524348" cy="2011680"/>
          </a:xfrm>
          <a:prstGeom prst="roundRect">
            <a:avLst>
              <a:gd name="adj" fmla="val 3636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3794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NFPA 551 = ‘평가를 검토하는 법’을 주는 지침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76272"/>
            <a:ext cx="5140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관할기관(AHJ)이 화재위험성평가를 검토·승인할 때 쓰는 지침 (1.1)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방법은 정하지 않음: “does not mandate the methods” (1.2)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정량법 요건: R = Σ </a:t>
            </a:r>
            <a:r>
              <a:rPr lang="ko-KR" altLang="en-US" sz="1200" dirty="0">
                <a:solidFill>
                  <a:schemeClr val="tx1"/>
                </a:solidFill>
              </a:rPr>
              <a:t>C</a:t>
            </a:r>
            <a:r>
              <a:rPr lang="ko-KR" altLang="en-US" sz="1200" baseline="-40000" dirty="0">
                <a:solidFill>
                  <a:schemeClr val="tx1"/>
                </a:solidFill>
              </a:rPr>
              <a:t>i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F</a:t>
            </a:r>
            <a:r>
              <a:rPr lang="ko-KR" altLang="en-US" sz="1200" baseline="-40000" dirty="0">
                <a:solidFill>
                  <a:schemeClr val="tx1"/>
                </a:solidFill>
              </a:rPr>
              <a:t>i</a:t>
            </a:r>
            <a:r>
              <a:rPr lang="ko-KR" altLang="en-US" sz="1200" dirty="0">
                <a:solidFill>
                  <a:schemeClr val="tx1"/>
                </a:solidFill>
              </a:rPr>
              <a:t> (5.5.1.2), 시나리오 군집, 불확실성(4.5), 문서(7.3.3.4), 검토(8.2·8.3)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→ 외벽용 시나리오·모델·입력값·서술은 평가자가 구성해야 함 (이 자료가 그 예)</a:t>
            </a:r>
            <a:endParaRPr lang="ko-KR" sz="1200" dirty="0"/>
          </a:p>
        </p:txBody>
      </p:sp>
      <p:sp>
        <p:nvSpPr>
          <p:cNvPr id="8" name="card 외벽 정량 평가 = 사건수목 × 층간 확산 모델"/>
          <p:cNvSpPr/>
          <p:nvPr/>
        </p:nvSpPr>
        <p:spPr>
          <a:xfrm>
            <a:off x="6210148" y="1645920"/>
            <a:ext cx="5524348" cy="2011680"/>
          </a:xfrm>
          <a:prstGeom prst="roundRect">
            <a:avLst>
              <a:gd name="adj" fmla="val 3636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3028" y="183794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7348" y="173736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외벽 정량 평가 = 사건수목 × 층간 확산 모델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11316" y="2176272"/>
            <a:ext cx="5140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빈도 F: 세대 화재 → 창 분출화염(IE1), 외부 발화원 → 외벽 하부(IE2)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결과 C: 발화층 위로 번지는 층 수 n, 피난 전에 화염이 닿는 재실자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재료 입력: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00" dirty="0">
                <a:solidFill>
                  <a:schemeClr val="tx1"/>
                </a:solidFill>
              </a:rPr>
              <a:t> = 중공층 화재가 한 층(3 m)을 오르는 시간, 플래그 B = 자립 연소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산출: R = Σ F·C, 초과빈도 F(n), 기준안 대비 </a:t>
            </a:r>
            <a:r>
              <a:rPr lang="ko-KR" altLang="en-US" sz="1200" dirty="0">
                <a:solidFill>
                  <a:schemeClr val="tx1"/>
                </a:solidFill>
              </a:rPr>
              <a:t>RR</a:t>
            </a:r>
            <a:r>
              <a:rPr lang="ko-KR" altLang="en-US" sz="1200" baseline="-40000" dirty="0">
                <a:solidFill>
                  <a:schemeClr val="tx1"/>
                </a:solidFill>
              </a:rPr>
              <a:t>S</a:t>
            </a:r>
            <a:r>
              <a:rPr lang="ko-KR" altLang="en-US" sz="1200" dirty="0">
                <a:solidFill>
                  <a:schemeClr val="tx1"/>
                </a:solidFill>
              </a:rPr>
              <a:t>, 기준 충족 신뢰수준</a:t>
            </a:r>
            <a:endParaRPr lang="ko-KR" sz="1200" dirty="0"/>
          </a:p>
        </p:txBody>
      </p:sp>
      <p:sp>
        <p:nvSpPr>
          <p:cNvPr id="12" name="card 예제 결과 (15층 공동주택, 예시 입력)"/>
          <p:cNvSpPr/>
          <p:nvPr/>
        </p:nvSpPr>
        <p:spPr>
          <a:xfrm>
            <a:off x="457200" y="3840480"/>
            <a:ext cx="5524348" cy="2011680"/>
          </a:xfrm>
          <a:prstGeom prst="roundRect">
            <a:avLst>
              <a:gd name="adj" fmla="val 3636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032504"/>
            <a:ext cx="182880" cy="182880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3192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예제 결과 (15층 공동주택, 예시 입력)</a:t>
            </a:r>
            <a:endParaRPr lang="ko-KR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370832"/>
            <a:ext cx="5140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대책 없음: PIR(PUR) 가연성·PF 내부용 ‘불충족’, 다른 준불연 3종 ‘판단 유보’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차단재 + 배리어: 준불연 4종 모두 ‘충족’ (신뢰 96 % 이상)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가연성 등급은 대책 효과 불인정(근거 시험 없음) → ‘불충족’ 유지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예시 기준: 발화층 위 2개 층 이상 확산 F(n ≥ 2) ≤ </a:t>
            </a:r>
            <a:r>
              <a:rPr lang="ko-KR" altLang="en-US" sz="1150" dirty="0">
                <a:solidFill>
                  <a:schemeClr val="tx1"/>
                </a:solidFill>
              </a:rPr>
              <a:t>1×10</a:t>
            </a:r>
            <a:r>
              <a:rPr lang="ko-KR" altLang="en-US" sz="11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150" dirty="0">
                <a:solidFill>
                  <a:schemeClr val="tx1"/>
                </a:solidFill>
              </a:rPr>
              <a:t>/동·년, 신뢰 90 %</a:t>
            </a:r>
            <a:endParaRPr lang="ko-KR" sz="1150" dirty="0"/>
          </a:p>
        </p:txBody>
      </p:sp>
      <p:sp>
        <p:nvSpPr>
          <p:cNvPr id="16" name="card 판정을 바꾸는 자료 (민감도 상위)"/>
          <p:cNvSpPr/>
          <p:nvPr/>
        </p:nvSpPr>
        <p:spPr>
          <a:xfrm>
            <a:off x="6210148" y="3840480"/>
            <a:ext cx="5524348" cy="2011680"/>
          </a:xfrm>
          <a:prstGeom prst="roundRect">
            <a:avLst>
              <a:gd name="adj" fmla="val 3636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3028" y="403250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67348" y="393192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판정을 바꾸는 자료 (민감도 상위)</a:t>
            </a:r>
            <a:endParaRPr lang="ko-KR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11316" y="4370832"/>
            <a:ext cx="5140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s (3 m 시험 → 실물 층당 시간): 실대형 시험(KS F 8414)으로 보정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λ</a:t>
            </a:r>
            <a:r>
              <a:rPr lang="ko-KR" altLang="en-US" sz="1200" baseline="-400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 ·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x</a:t>
            </a:r>
            <a:r>
              <a:rPr lang="ko-KR" altLang="en-US" sz="1200" dirty="0">
                <a:solidFill>
                  <a:schemeClr val="tx1"/>
                </a:solidFill>
              </a:rPr>
              <a:t> (외부 발화원): 국가화재정보시스템 발화 장소(필로티·주차장) 통계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cb</a:t>
            </a:r>
            <a:r>
              <a:rPr lang="ko-KR" altLang="en-US" sz="1200" dirty="0">
                <a:solidFill>
                  <a:schemeClr val="tx1"/>
                </a:solidFill>
              </a:rPr>
              <a:t> ·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e1</a:t>
            </a:r>
            <a:r>
              <a:rPr lang="ko-KR" altLang="en-US" sz="1200" dirty="0">
                <a:solidFill>
                  <a:schemeClr val="tx1"/>
                </a:solidFill>
              </a:rPr>
              <a:t> (배리어·차단재 효과): 배리어를 넣은 중공층 시험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200" dirty="0">
                <a:solidFill>
                  <a:schemeClr val="tx1"/>
                </a:solidFill>
              </a:rPr>
              <a:t> (진압 개시): 관할 소방서 출동·전개 시간 자료</a:t>
            </a:r>
            <a:endParaRPr lang="ko-KR" sz="1200" dirty="0"/>
          </a:p>
        </p:txBody>
      </p:sp>
      <p:sp>
        <p:nvSpPr>
          <p:cNvPr id="20" name="caveat"/>
          <p:cNvSpPr/>
          <p:nvPr/>
        </p:nvSpPr>
        <p:spPr>
          <a:xfrm>
            <a:off x="457200" y="5870448"/>
            <a:ext cx="11277295" cy="438912"/>
          </a:xfrm>
          <a:prstGeom prst="roundRect">
            <a:avLst>
              <a:gd name="adj" fmla="val 16667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870448"/>
            <a:ext cx="108200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주의  </a:t>
            </a:r>
            <a:r>
              <a:rPr lang="ko-KR" altLang="en-US" sz="1200" dirty="0">
                <a:solidFill>
                  <a:schemeClr val="bg1"/>
                </a:solidFill>
              </a:rPr>
              <a:t>빈도·분기확률·시간은 절차를 보이기 위한 예시값입니다. 측정값은 </a:t>
            </a:r>
            <a:r>
              <a:rPr lang="ko-KR" altLang="en-US" sz="1200" dirty="0">
                <a:solidFill>
                  <a:schemeClr val="bg1"/>
                </a:solidFill>
              </a:rPr>
              <a:t>t</a:t>
            </a:r>
            <a:r>
              <a:rPr lang="ko-KR" altLang="en-US" sz="1200" baseline="-40000" dirty="0">
                <a:solidFill>
                  <a:schemeClr val="bg1"/>
                </a:solidFill>
              </a:rPr>
              <a:t>600</a:t>
            </a:r>
            <a:r>
              <a:rPr lang="ko-KR" altLang="en-US" sz="1200" dirty="0">
                <a:solidFill>
                  <a:schemeClr val="bg1"/>
                </a:solidFill>
              </a:rPr>
              <a:t>과 플래그 B뿐 → 국내 통계·실대형 시험으로 바꾼 뒤 결론으로 쓰십시오.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NFPA 551 표 5.1.2.1 — 화재위험성평가 방법의 다섯 범주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정량적 방법은 ‘가능성(빈도)과 결과를 모두 수치로’ 결합하는 방법 — 지금의 R = P × S는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P·S가 모두 결과 쪽 지표(확산 속도·고온 지속)라 빈도 F가 빠져 있음</a:t>
            </a:r>
            <a:endParaRPr lang="ko-KR" sz="2000" dirty="0"/>
          </a:p>
        </p:txBody>
      </p:sp>
      <p:sp>
        <p:nvSpPr>
          <p:cNvPr id="4" name="category 1"/>
          <p:cNvSpPr/>
          <p:nvPr/>
        </p:nvSpPr>
        <p:spPr>
          <a:xfrm>
            <a:off x="457200" y="1691640"/>
            <a:ext cx="2138416" cy="3246120"/>
          </a:xfrm>
          <a:prstGeom prst="roundRect">
            <a:avLst>
              <a:gd name="adj" fmla="val 2566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801368"/>
            <a:ext cx="186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정성적 방법</a:t>
            </a:r>
            <a:endParaRPr lang="ko-K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가능성</a:t>
            </a:r>
            <a:endParaRPr lang="ko-KR" sz="1100" dirty="0"/>
          </a:p>
        </p:txBody>
      </p:sp>
      <p:sp>
        <p:nvSpPr>
          <p:cNvPr id="7" name="Shape 5"/>
          <p:cNvSpPr/>
          <p:nvPr/>
        </p:nvSpPr>
        <p:spPr>
          <a:xfrm>
            <a:off x="1280160" y="2487168"/>
            <a:ext cx="117829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2487168"/>
            <a:ext cx="117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정성</a:t>
            </a:r>
            <a:endParaRPr lang="ko-KR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980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결과</a:t>
            </a:r>
            <a:endParaRPr lang="ko-KR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816352"/>
            <a:ext cx="117829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2816352"/>
            <a:ext cx="117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정성</a:t>
            </a:r>
            <a:endParaRPr lang="ko-KR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209544"/>
            <a:ext cx="186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출력</a:t>
            </a:r>
            <a:endParaRPr lang="ko-KR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429000"/>
            <a:ext cx="186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시나리오별 결과·상대적 가능성 표, 대책 효과</a:t>
            </a:r>
            <a:endParaRPr lang="ko-KR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206240"/>
            <a:ext cx="186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예</a:t>
            </a:r>
            <a:endParaRPr lang="ko-KR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416552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What-if, 위험 매트릭스, 위험 지수, 화재안전개념 트리</a:t>
            </a:r>
            <a:endParaRPr lang="ko-KR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5047488"/>
            <a:ext cx="1864096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5125212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047488"/>
            <a:ext cx="155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현재: R = P×S</a:t>
            </a:r>
            <a:endParaRPr lang="ko-KR" sz="1100" dirty="0"/>
          </a:p>
        </p:txBody>
      </p:sp>
      <p:sp>
        <p:nvSpPr>
          <p:cNvPr id="19" name="category 2"/>
          <p:cNvSpPr/>
          <p:nvPr/>
        </p:nvSpPr>
        <p:spPr>
          <a:xfrm>
            <a:off x="2741920" y="1691640"/>
            <a:ext cx="2138416" cy="3246120"/>
          </a:xfrm>
          <a:prstGeom prst="roundRect">
            <a:avLst>
              <a:gd name="adj" fmla="val 2566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79080" y="1801368"/>
            <a:ext cx="186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준정량적</a:t>
            </a:r>
            <a:endParaRPr lang="ko-KR" sz="1400" dirty="0"/>
          </a:p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가능성 방법</a:t>
            </a:r>
            <a:endParaRPr lang="ko-K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879080" y="24688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가능성</a:t>
            </a:r>
            <a:endParaRPr lang="ko-KR" sz="1100" dirty="0"/>
          </a:p>
        </p:txBody>
      </p:sp>
      <p:sp>
        <p:nvSpPr>
          <p:cNvPr id="22" name="Shape 20"/>
          <p:cNvSpPr/>
          <p:nvPr/>
        </p:nvSpPr>
        <p:spPr>
          <a:xfrm>
            <a:off x="3564880" y="2487168"/>
            <a:ext cx="1178296" cy="246888"/>
          </a:xfrm>
          <a:prstGeom prst="roundRect">
            <a:avLst>
              <a:gd name="adj" fmla="val 18519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64880" y="2487168"/>
            <a:ext cx="117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정량</a:t>
            </a:r>
            <a:endParaRPr lang="ko-KR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879080" y="27980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결과</a:t>
            </a:r>
            <a:endParaRPr lang="ko-KR" sz="1100" dirty="0"/>
          </a:p>
        </p:txBody>
      </p:sp>
      <p:sp>
        <p:nvSpPr>
          <p:cNvPr id="25" name="Shape 23"/>
          <p:cNvSpPr/>
          <p:nvPr/>
        </p:nvSpPr>
        <p:spPr>
          <a:xfrm>
            <a:off x="3564880" y="2816352"/>
            <a:ext cx="117829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64880" y="2816352"/>
            <a:ext cx="117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정성</a:t>
            </a:r>
            <a:endParaRPr lang="ko-KR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879080" y="3209544"/>
            <a:ext cx="186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출력</a:t>
            </a:r>
            <a:endParaRPr lang="ko-KR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879080" y="3429000"/>
            <a:ext cx="186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화재 유형·방호 조건별 발생 빈도</a:t>
            </a:r>
            <a:endParaRPr lang="ko-KR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879080" y="4206240"/>
            <a:ext cx="186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예</a:t>
            </a:r>
            <a:endParaRPr lang="ko-KR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879080" y="4416552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손실 통계 분석, 단독 사건수목</a:t>
            </a:r>
            <a:endParaRPr lang="ko-KR" sz="1050" dirty="0"/>
          </a:p>
        </p:txBody>
      </p:sp>
      <p:sp>
        <p:nvSpPr>
          <p:cNvPr id="31" name="category 3"/>
          <p:cNvSpPr/>
          <p:nvPr/>
        </p:nvSpPr>
        <p:spPr>
          <a:xfrm>
            <a:off x="5026640" y="1691640"/>
            <a:ext cx="2138416" cy="3246120"/>
          </a:xfrm>
          <a:prstGeom prst="roundRect">
            <a:avLst>
              <a:gd name="adj" fmla="val 2566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63800" y="1801368"/>
            <a:ext cx="186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준정량적</a:t>
            </a:r>
            <a:endParaRPr lang="ko-KR" sz="1400" dirty="0"/>
          </a:p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결과 방법</a:t>
            </a:r>
            <a:endParaRPr lang="ko-KR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163800" y="24688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가능성</a:t>
            </a:r>
            <a:endParaRPr lang="ko-KR" sz="1100" dirty="0"/>
          </a:p>
        </p:txBody>
      </p:sp>
      <p:sp>
        <p:nvSpPr>
          <p:cNvPr id="34" name="Shape 32"/>
          <p:cNvSpPr/>
          <p:nvPr/>
        </p:nvSpPr>
        <p:spPr>
          <a:xfrm>
            <a:off x="5849600" y="2487168"/>
            <a:ext cx="1178296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49600" y="2487168"/>
            <a:ext cx="117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정성</a:t>
            </a:r>
            <a:endParaRPr lang="ko-KR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163800" y="27980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결과</a:t>
            </a:r>
            <a:endParaRPr lang="ko-KR" sz="1100" dirty="0"/>
          </a:p>
        </p:txBody>
      </p:sp>
      <p:sp>
        <p:nvSpPr>
          <p:cNvPr id="37" name="Shape 35"/>
          <p:cNvSpPr/>
          <p:nvPr/>
        </p:nvSpPr>
        <p:spPr>
          <a:xfrm>
            <a:off x="5849600" y="2816352"/>
            <a:ext cx="1178296" cy="246888"/>
          </a:xfrm>
          <a:prstGeom prst="roundRect">
            <a:avLst>
              <a:gd name="adj" fmla="val 18519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49600" y="2816352"/>
            <a:ext cx="117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정량</a:t>
            </a:r>
            <a:endParaRPr lang="ko-KR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163800" y="3209544"/>
            <a:ext cx="186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출력</a:t>
            </a:r>
            <a:endParaRPr lang="ko-KR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163800" y="3429000"/>
            <a:ext cx="186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결정론적 화재 모델 결과 + 정성적 가능성</a:t>
            </a:r>
            <a:endParaRPr lang="ko-KR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163800" y="4206240"/>
            <a:ext cx="186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예</a:t>
            </a:r>
            <a:endParaRPr lang="ko-KR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163800" y="4416552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선정한 도전적 시나리오의 구획화재 모델</a:t>
            </a:r>
            <a:endParaRPr lang="ko-KR" sz="1050" dirty="0"/>
          </a:p>
        </p:txBody>
      </p:sp>
      <p:sp>
        <p:nvSpPr>
          <p:cNvPr id="43" name="Shape 41"/>
          <p:cNvSpPr/>
          <p:nvPr/>
        </p:nvSpPr>
        <p:spPr>
          <a:xfrm>
            <a:off x="5163800" y="5047488"/>
            <a:ext cx="1864096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55240" y="5125212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38120" y="5047488"/>
            <a:ext cx="155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현재: 중공층 시험</a:t>
            </a:r>
            <a:endParaRPr lang="ko-KR" sz="1100" dirty="0"/>
          </a:p>
        </p:txBody>
      </p:sp>
      <p:sp>
        <p:nvSpPr>
          <p:cNvPr id="46" name="category 4"/>
          <p:cNvSpPr/>
          <p:nvPr/>
        </p:nvSpPr>
        <p:spPr>
          <a:xfrm>
            <a:off x="7311360" y="1691640"/>
            <a:ext cx="2138416" cy="3246120"/>
          </a:xfrm>
          <a:prstGeom prst="roundRect">
            <a:avLst>
              <a:gd name="adj" fmla="val 2566"/>
            </a:avLst>
          </a:prstGeom>
          <a:solidFill>
            <a:srgbClr val="E2F3E2"/>
          </a:solidFill>
          <a:ln w="25400">
            <a:solidFill>
              <a:srgbClr val="0CA30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48520" y="1801368"/>
            <a:ext cx="186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정량적 방법</a:t>
            </a:r>
            <a:endParaRPr lang="ko-KR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448520" y="24688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가능성</a:t>
            </a:r>
            <a:endParaRPr lang="ko-KR" sz="1100" dirty="0"/>
          </a:p>
        </p:txBody>
      </p:sp>
      <p:sp>
        <p:nvSpPr>
          <p:cNvPr id="49" name="Shape 47"/>
          <p:cNvSpPr/>
          <p:nvPr/>
        </p:nvSpPr>
        <p:spPr>
          <a:xfrm>
            <a:off x="8134320" y="2487168"/>
            <a:ext cx="1178296" cy="246888"/>
          </a:xfrm>
          <a:prstGeom prst="roundRect">
            <a:avLst>
              <a:gd name="adj" fmla="val 18519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34320" y="2487168"/>
            <a:ext cx="117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정량</a:t>
            </a:r>
            <a:endParaRPr lang="ko-KR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448520" y="27980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결과</a:t>
            </a:r>
            <a:endParaRPr lang="ko-KR" sz="1100" dirty="0"/>
          </a:p>
        </p:txBody>
      </p:sp>
      <p:sp>
        <p:nvSpPr>
          <p:cNvPr id="52" name="Shape 50"/>
          <p:cNvSpPr/>
          <p:nvPr/>
        </p:nvSpPr>
        <p:spPr>
          <a:xfrm>
            <a:off x="8134320" y="2816352"/>
            <a:ext cx="1178296" cy="246888"/>
          </a:xfrm>
          <a:prstGeom prst="roundRect">
            <a:avLst>
              <a:gd name="adj" fmla="val 18519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34320" y="2816352"/>
            <a:ext cx="117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정량</a:t>
            </a:r>
            <a:endParaRPr lang="ko-KR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7448520" y="3209544"/>
            <a:ext cx="186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출력</a:t>
            </a:r>
            <a:endParaRPr lang="ko-KR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7448520" y="3429000"/>
            <a:ext cx="186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손실 기대값, 플래시오버 확률, 다른 층 사망 확률, F–N 곡선, 개인·사회 위험</a:t>
            </a:r>
            <a:endParaRPr lang="ko-KR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7448520" y="4206240"/>
            <a:ext cx="186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예</a:t>
            </a:r>
            <a:endParaRPr lang="ko-KR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7448520" y="4416552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사건수목 + 화재 모델 (원전 노심손상 화재 PRA 등)</a:t>
            </a:r>
            <a:endParaRPr lang="ko-KR" sz="1050" dirty="0"/>
          </a:p>
        </p:txBody>
      </p:sp>
      <p:sp>
        <p:nvSpPr>
          <p:cNvPr id="58" name="Shape 56"/>
          <p:cNvSpPr/>
          <p:nvPr/>
        </p:nvSpPr>
        <p:spPr>
          <a:xfrm>
            <a:off x="7448520" y="5047488"/>
            <a:ext cx="1864096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39960" y="5125212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22840" y="5047488"/>
            <a:ext cx="155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목표: 이 자료의 절차</a:t>
            </a:r>
            <a:endParaRPr lang="ko-KR" sz="1100" dirty="0"/>
          </a:p>
        </p:txBody>
      </p:sp>
      <p:sp>
        <p:nvSpPr>
          <p:cNvPr id="61" name="category 5"/>
          <p:cNvSpPr/>
          <p:nvPr/>
        </p:nvSpPr>
        <p:spPr>
          <a:xfrm>
            <a:off x="9596079" y="1691640"/>
            <a:ext cx="2138416" cy="3246120"/>
          </a:xfrm>
          <a:prstGeom prst="roundRect">
            <a:avLst>
              <a:gd name="adj" fmla="val 2566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733239" y="1801368"/>
            <a:ext cx="186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비용편익 방법</a:t>
            </a:r>
            <a:endParaRPr lang="ko-KR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9733239" y="24688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가능성</a:t>
            </a:r>
            <a:endParaRPr lang="ko-KR" sz="1100" dirty="0"/>
          </a:p>
        </p:txBody>
      </p:sp>
      <p:sp>
        <p:nvSpPr>
          <p:cNvPr id="64" name="Shape 62"/>
          <p:cNvSpPr/>
          <p:nvPr/>
        </p:nvSpPr>
        <p:spPr>
          <a:xfrm>
            <a:off x="10419039" y="2487168"/>
            <a:ext cx="1178296" cy="246888"/>
          </a:xfrm>
          <a:prstGeom prst="roundRect">
            <a:avLst>
              <a:gd name="adj" fmla="val 18519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419039" y="2487168"/>
            <a:ext cx="117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정량</a:t>
            </a:r>
            <a:endParaRPr lang="ko-KR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9733239" y="27980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결과</a:t>
            </a:r>
            <a:endParaRPr lang="ko-KR" sz="1100" dirty="0"/>
          </a:p>
        </p:txBody>
      </p:sp>
      <p:sp>
        <p:nvSpPr>
          <p:cNvPr id="67" name="Shape 65"/>
          <p:cNvSpPr/>
          <p:nvPr/>
        </p:nvSpPr>
        <p:spPr>
          <a:xfrm>
            <a:off x="10419039" y="2816352"/>
            <a:ext cx="1178296" cy="246888"/>
          </a:xfrm>
          <a:prstGeom prst="roundRect">
            <a:avLst>
              <a:gd name="adj" fmla="val 18519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419039" y="2816352"/>
            <a:ext cx="117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정량 + 비용</a:t>
            </a:r>
            <a:endParaRPr lang="ko-KR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9733239" y="3209544"/>
            <a:ext cx="186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출력</a:t>
            </a:r>
            <a:endParaRPr lang="ko-KR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9733239" y="3429000"/>
            <a:ext cx="186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위험 감소 수준별 비용, 최적 방호 수준</a:t>
            </a:r>
            <a:endParaRPr lang="ko-KR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9733239" y="4206240"/>
            <a:ext cx="186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2"/>
                </a:solidFill>
              </a:rPr>
              <a:t>예</a:t>
            </a:r>
            <a:endParaRPr lang="ko-KR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9733239" y="4416552"/>
            <a:ext cx="186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확률·결과·비용 통합 계산 모델</a:t>
            </a:r>
            <a:endParaRPr lang="ko-KR" sz="1050" dirty="0"/>
          </a:p>
        </p:txBody>
      </p:sp>
      <p:sp>
        <p:nvSpPr>
          <p:cNvPr id="73" name="definition"/>
          <p:cNvSpPr/>
          <p:nvPr/>
        </p:nvSpPr>
        <p:spPr>
          <a:xfrm>
            <a:off x="457200" y="5532120"/>
            <a:ext cx="1127729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40080" y="5559552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NFPA 551 3.3.14 위험 = 확률과 결과의 쌍. </a:t>
            </a:r>
            <a:r>
              <a:rPr lang="ko-KR" altLang="en-US" sz="1150" dirty="0">
                <a:solidFill>
                  <a:schemeClr val="tx1"/>
                </a:solidFill>
              </a:rPr>
              <a:t>R = P × S의 P는 확산 등급(속도)이고 S는 고온 지속시간이라 둘 다 ‘결과’입니다 → 그대로 두고, 사건이 얼마나 자주 일어나는지(F)를 사건수목으로 더합니다.</a:t>
            </a:r>
            <a:endParaRPr lang="ko-KR" sz="115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정량적 방법의 출력(표 5.1.2.1) 중 외벽에 맞는 것: </a:t>
            </a:r>
            <a:r>
              <a:rPr lang="ko-KR" altLang="en-US" sz="1150" dirty="0">
                <a:solidFill>
                  <a:schemeClr val="tx1"/>
                </a:solidFill>
              </a:rPr>
              <a:t>(3) 다른 층의 피해 확률, (4) 빈도–규모 곡선(F–N), (7) 개인위험도 → 이 예제의 초과빈도 F(n)·</a:t>
            </a:r>
            <a:r>
              <a:rPr lang="ko-KR" altLang="en-US" sz="1150" dirty="0">
                <a:solidFill>
                  <a:schemeClr val="tx1"/>
                </a:solidFill>
              </a:rPr>
              <a:t>R</a:t>
            </a:r>
            <a:r>
              <a:rPr lang="ko-KR" altLang="en-US" sz="1150" baseline="-40000" dirty="0">
                <a:solidFill>
                  <a:schemeClr val="tx1"/>
                </a:solidFill>
              </a:rPr>
              <a:t>P</a:t>
            </a:r>
            <a:r>
              <a:rPr lang="ko-KR" altLang="en-US" sz="1150" dirty="0">
                <a:solidFill>
                  <a:schemeClr val="tx1"/>
                </a:solidFill>
              </a:rPr>
              <a:t>·IR</a:t>
            </a:r>
            <a:endParaRPr lang="ko-K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NFPA 551이 주는 것과 외벽 평가에 비어 있는 것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NFPA 551은 정량법의 ‘형식’(식·군집·불확실성·문서·검토)은 정해 두었지만 외벽용 시나리오,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분기 구조, 결과 모델, 기준값은 비워 둠 → 이 자료에서 채운 내용</a:t>
            </a:r>
            <a:endParaRPr lang="ko-KR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572000"/>
                <a:gridCol w="528797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NFPA 551이 주는 것 (조항)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외벽에서 비어 있던 것 → 이 자료에서 채운 것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위험의 정의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R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= Σ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(식 5.5.1.2), 결과가 여럿이면 Σ Σ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ij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i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(5.5.1.3)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외벽 결과 지표 C → 발화층 위 확산 층 수 n, 노출 인원, (선택) 사망·재산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시나리오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대표성 있는 시나리오 군집, 제외 근거 문서화 (5.1.1.5, 5.5.1.1, 7.2.2.6)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외벽 초기사건 → IE1 세대 화재 → 창 분출, IE2 외부 발화원(필로티·차량·쓰레기) — EFFECT 발화원 항목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빈도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통계, 사건수목, 경로 확률 = 분기 확률의 곱 (5.3, 5.3.1.2.2)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분기 구조와 값 → 스프링클러·최성기·창 분출·중공층 노출 분기, 값은 예시 + 대체할 통계 명시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결과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결정론적 화재 모델, 적용 한계, 검증 (5.4, 5.4.4.1, 5.4.9)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외벽 확산 모델 →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= 층당 확산시간, 진압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FS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·배리어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cb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·창→창 도약과 경쟁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허용기준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지표 형태(상대·절대), 사전협의에서 결정 (4.4.3, A.5.1.2)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기준값 → 예시: F(n ≥ 2) ≤ 1×10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/동·년, 신뢰수준 90 % (협의로 확정)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불확실성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우연적·인식론적 구분, 전파, 민감도 (4.5, 5.5.6, A.5.5.6)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방법 → 2중 몬테카를로(인식론적 2,000 × 우연적 400), 순위상관 민감도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문서 · 검토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개념보고서(7.2), 정량 결과 문서(7.3.3.4), 유지관리(7.4), 검증·확인(8.2), 검토 질문(8.3)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서술 방법 → 서술양식.docx(항목별 쓸 내용·예문), 계산서 8_문서화점검 시트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893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NFPA 551 1.2: “This guide does not mandate the methods for use in demonstrating acceptable risk; rather, it describes the technical review process and documentation …”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EFFECT (Exterior Façade Fire Evaluation Comparison Tool)와의 연계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EFFECT는 가연성 외벽 건물의 우선순위를 정하는 2단계 ‘정성’ 도구 — 그 요인들을 정량 평가의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초기사건 · 분기확률 · 결과 입력으로 옮기면 선별(EFFECT) → 정량(QFRA)으로 이어짐</a:t>
            </a:r>
            <a:endParaRPr lang="ko-KR" sz="2000" dirty="0"/>
          </a:p>
        </p:txBody>
      </p:sp>
      <p:sp>
        <p:nvSpPr>
          <p:cNvPr id="4" name="effect overview"/>
          <p:cNvSpPr/>
          <p:nvPr/>
        </p:nvSpPr>
        <p:spPr>
          <a:xfrm>
            <a:off x="457200" y="1691640"/>
            <a:ext cx="4800600" cy="3886200"/>
          </a:xfrm>
          <a:prstGeom prst="roundRect">
            <a:avLst>
              <a:gd name="adj" fmla="val 188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EFFECT 개요 (공개 자료 기준)</a:t>
            </a:r>
            <a:endParaRPr lang="ko-K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4434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NFPA 후원, Arup이 방법론 개발, FPRF가 검토 주관, Jensen Hughes 동료 검토 (2018)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목적: 가연성 외벽 고층 건물(18 m 초과, 주거·업무) 포트폴리오에서 점검·개선 우선순위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Tier 1: 짧은 객관식 문항 — 외장재·단열재 가연성, 스프링클러, 발화원, 경보설비 형식 → 건물 순위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Tier 2: 우선 건물 상세 평가 — 현장조사, 준공도면, 유지관리 기록, 시료 채취, 실험실 시험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발화원: 실내 화재의 창 분출, 발코니, 차량, 쓰레기 용기</a:t>
            </a:r>
            <a:endParaRPr lang="ko-KR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성격: 정성적 위험 순위 (NFPA 551 표 5.1.2.1의 정성 범주)</a:t>
            </a:r>
            <a:endParaRPr lang="ko-KR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691640"/>
          <a:ext cx="624809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828800"/>
                <a:gridCol w="240761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EFFECT 요인군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정량 평가에서의 역할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파라미터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외장재·단열재 가연성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결과 모델의 재료 입력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→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τ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, 플래그 B →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B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, 등급(c/sc)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발화원 (실내→창, 발코니, 차량, 쓰레기)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초기사건과 빈도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IE1: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FO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v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/  IE2: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x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건물 특성 (높이·용도·재실)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결과의 크기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N,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u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, 재실자, 확산 띠 세대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n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a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방화설비 (스프링클러·경보)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분기확률 · 피난 시간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, RSET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Tier 2 현장조사·시료·시험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인식론적 불확실성 축소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e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(차단재),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cb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(배리어), s (시험)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flow 1"/>
          <p:cNvSpPr/>
          <p:nvPr/>
        </p:nvSpPr>
        <p:spPr>
          <a:xfrm>
            <a:off x="5486400" y="4800600"/>
            <a:ext cx="186933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0" y="4855464"/>
            <a:ext cx="16864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EFFECT Tier 1</a:t>
            </a:r>
            <a:endParaRPr lang="ko-KR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5184648"/>
            <a:ext cx="16864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정성 선별: 포트폴리오 순위</a:t>
            </a:r>
            <a:endParaRPr lang="ko-KR" sz="1050" dirty="0"/>
          </a:p>
        </p:txBody>
      </p:sp>
      <p:sp>
        <p:nvSpPr>
          <p:cNvPr id="11" name="Shape 8"/>
          <p:cNvSpPr/>
          <p:nvPr/>
        </p:nvSpPr>
        <p:spPr>
          <a:xfrm>
            <a:off x="7392314" y="5184648"/>
            <a:ext cx="246888" cy="91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2" name="flow 2"/>
          <p:cNvSpPr/>
          <p:nvPr/>
        </p:nvSpPr>
        <p:spPr>
          <a:xfrm>
            <a:off x="7675778" y="4800600"/>
            <a:ext cx="186933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67218" y="4855464"/>
            <a:ext cx="16864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EFFECT Tier 2</a:t>
            </a:r>
            <a:endParaRPr lang="ko-KR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767218" y="5184648"/>
            <a:ext cx="16864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상세 자료: 현장·시료·시험</a:t>
            </a:r>
            <a:endParaRPr lang="ko-KR" sz="1050" dirty="0"/>
          </a:p>
        </p:txBody>
      </p:sp>
      <p:sp>
        <p:nvSpPr>
          <p:cNvPr id="15" name="Shape 12"/>
          <p:cNvSpPr/>
          <p:nvPr/>
        </p:nvSpPr>
        <p:spPr>
          <a:xfrm>
            <a:off x="9581693" y="5184648"/>
            <a:ext cx="246888" cy="91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6" name="flow 3"/>
          <p:cNvSpPr/>
          <p:nvPr/>
        </p:nvSpPr>
        <p:spPr>
          <a:xfrm>
            <a:off x="9865157" y="4800600"/>
            <a:ext cx="1869338" cy="777240"/>
          </a:xfrm>
          <a:prstGeom prst="roundRect">
            <a:avLst>
              <a:gd name="adj" fmla="val 7059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956597" y="4855464"/>
            <a:ext cx="16864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정량 평가 (이 절차)</a:t>
            </a:r>
            <a:endParaRPr lang="ko-KR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9956597" y="5184648"/>
            <a:ext cx="16864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R = Σ F·C, 기준 판정</a:t>
            </a:r>
            <a:endParaRPr lang="ko-KR" sz="1050" dirty="0"/>
          </a:p>
        </p:txBody>
      </p:sp>
      <p:sp>
        <p:nvSpPr>
          <p:cNvPr id="19" name="effect note"/>
          <p:cNvSpPr/>
          <p:nvPr/>
        </p:nvSpPr>
        <p:spPr>
          <a:xfrm>
            <a:off x="457200" y="5733288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573328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EFFECT 사용자 가이드 원문은 이번에 받지 못했습니다.  </a:t>
            </a:r>
            <a:r>
              <a:rPr lang="ko-KR" altLang="en-US" sz="1150" dirty="0">
                <a:solidFill>
                  <a:schemeClr val="tx1"/>
                </a:solidFill>
              </a:rPr>
              <a:t>위 내용은 NFPA·Arup의 공개 발표 기준입니다. 원문(EFFECT_Users Guide_final)을 주시면 문항·선택지·가중치 단위로 이 대응표와 계산서 입력을 맞춰 갱신합니다.</a:t>
            </a:r>
            <a:endParaRPr lang="ko-K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외벽 정량적 화재위험성평가 — 12단계 절차 (NFPA 551 그림 4.3 흐름을 외벽에 구체화)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준비 → 분석 → 문서화·검토의 12단계 — 단계마다 조항과 산출물을 정해 두면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그대로 보고서 목차와 검토 대응표가 됨</a:t>
            </a:r>
            <a:endParaRPr lang="ko-KR" sz="2000" dirty="0"/>
          </a:p>
        </p:txBody>
      </p:sp>
      <p:sp>
        <p:nvSpPr>
          <p:cNvPr id="4" name="band 준비"/>
          <p:cNvSpPr/>
          <p:nvPr/>
        </p:nvSpPr>
        <p:spPr>
          <a:xfrm>
            <a:off x="457200" y="169164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준비</a:t>
            </a:r>
            <a:endParaRPr lang="ko-KR" sz="1400" dirty="0"/>
          </a:p>
        </p:txBody>
      </p:sp>
      <p:sp>
        <p:nvSpPr>
          <p:cNvPr id="6" name="step 1"/>
          <p:cNvSpPr/>
          <p:nvPr/>
        </p:nvSpPr>
        <p:spPr>
          <a:xfrm>
            <a:off x="1508760" y="1691640"/>
            <a:ext cx="244670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7" name="panel 1"/>
          <p:cNvSpPr/>
          <p:nvPr/>
        </p:nvSpPr>
        <p:spPr>
          <a:xfrm>
            <a:off x="1600200" y="178308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02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38528" y="1746504"/>
            <a:ext cx="1943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사전협의 · 문제 정의</a:t>
            </a:r>
            <a:endParaRPr lang="ko-KR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618488" y="2148840"/>
            <a:ext cx="22455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4.3, 4.4.1</a:t>
            </a:r>
            <a:endParaRPr lang="ko-K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618488" y="2395728"/>
            <a:ext cx="22455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목적 · 대상 · 범위 · 이해관계자</a:t>
            </a:r>
            <a:endParaRPr lang="ko-KR" sz="1100" dirty="0"/>
          </a:p>
        </p:txBody>
      </p:sp>
      <p:sp>
        <p:nvSpPr>
          <p:cNvPr id="12" name="Shape 10"/>
          <p:cNvSpPr/>
          <p:nvPr/>
        </p:nvSpPr>
        <p:spPr>
          <a:xfrm>
            <a:off x="3964610" y="1947672"/>
            <a:ext cx="128016" cy="914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3" name="step 2"/>
          <p:cNvSpPr/>
          <p:nvPr/>
        </p:nvSpPr>
        <p:spPr>
          <a:xfrm>
            <a:off x="4101770" y="1691640"/>
            <a:ext cx="244670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4193210" y="178308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9321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31538" y="1746504"/>
            <a:ext cx="1943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위험요소 정의</a:t>
            </a:r>
            <a:endParaRPr lang="ko-KR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211498" y="2148840"/>
            <a:ext cx="22455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4.4.2</a:t>
            </a:r>
            <a:endParaRPr lang="ko-KR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211498" y="2395728"/>
            <a:ext cx="22455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노출 대상 · 자극 · 전달 · 반응</a:t>
            </a:r>
            <a:endParaRPr lang="ko-KR" sz="1100" dirty="0"/>
          </a:p>
        </p:txBody>
      </p:sp>
      <p:sp>
        <p:nvSpPr>
          <p:cNvPr id="19" name="Shape 17"/>
          <p:cNvSpPr/>
          <p:nvPr/>
        </p:nvSpPr>
        <p:spPr>
          <a:xfrm>
            <a:off x="6557620" y="1947672"/>
            <a:ext cx="128016" cy="914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0" name="step 3"/>
          <p:cNvSpPr/>
          <p:nvPr/>
        </p:nvSpPr>
        <p:spPr>
          <a:xfrm>
            <a:off x="6694780" y="1691640"/>
            <a:ext cx="244670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21" name="panel 3"/>
          <p:cNvSpPr/>
          <p:nvPr/>
        </p:nvSpPr>
        <p:spPr>
          <a:xfrm>
            <a:off x="6786220" y="178308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862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24548" y="1746504"/>
            <a:ext cx="1943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허용기준 설정</a:t>
            </a:r>
            <a:endParaRPr lang="ko-KR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04508" y="2148840"/>
            <a:ext cx="22455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4.4.3, A.5.1.2</a:t>
            </a:r>
            <a:endParaRPr lang="ko-KR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04508" y="2395728"/>
            <a:ext cx="22455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지표 · 기준값 · 신뢰수준</a:t>
            </a:r>
            <a:endParaRPr lang="ko-KR" sz="1100" dirty="0"/>
          </a:p>
        </p:txBody>
      </p:sp>
      <p:sp>
        <p:nvSpPr>
          <p:cNvPr id="26" name="Shape 24"/>
          <p:cNvSpPr/>
          <p:nvPr/>
        </p:nvSpPr>
        <p:spPr>
          <a:xfrm>
            <a:off x="9150629" y="1947672"/>
            <a:ext cx="128016" cy="914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7" name="step 4"/>
          <p:cNvSpPr/>
          <p:nvPr/>
        </p:nvSpPr>
        <p:spPr>
          <a:xfrm>
            <a:off x="9287789" y="1691640"/>
            <a:ext cx="244670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28" name="panel 4"/>
          <p:cNvSpPr/>
          <p:nvPr/>
        </p:nvSpPr>
        <p:spPr>
          <a:xfrm>
            <a:off x="9379229" y="1783080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79229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717557" y="1746504"/>
            <a:ext cx="1943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방법 선정</a:t>
            </a:r>
            <a:endParaRPr lang="ko-KR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397517" y="2148840"/>
            <a:ext cx="22455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4.4.4, 5.1.3, 표 5.1.2.1</a:t>
            </a:r>
            <a:endParaRPr lang="ko-KR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397517" y="2395728"/>
            <a:ext cx="22455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범주 · 모델 · 적합성 근거</a:t>
            </a:r>
            <a:endParaRPr lang="ko-KR" sz="1100" dirty="0"/>
          </a:p>
        </p:txBody>
      </p:sp>
      <p:sp>
        <p:nvSpPr>
          <p:cNvPr id="33" name="band 분석"/>
          <p:cNvSpPr/>
          <p:nvPr/>
        </p:nvSpPr>
        <p:spPr>
          <a:xfrm>
            <a:off x="457200" y="2990088"/>
            <a:ext cx="914400" cy="1481328"/>
          </a:xfrm>
          <a:prstGeom prst="roundRect">
            <a:avLst>
              <a:gd name="adj" fmla="val 6000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2990088"/>
            <a:ext cx="914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분석</a:t>
            </a:r>
            <a:endParaRPr lang="ko-KR" sz="1400" dirty="0"/>
          </a:p>
        </p:txBody>
      </p:sp>
      <p:sp>
        <p:nvSpPr>
          <p:cNvPr id="35" name="step 5"/>
          <p:cNvSpPr/>
          <p:nvPr/>
        </p:nvSpPr>
        <p:spPr>
          <a:xfrm>
            <a:off x="1508760" y="2990088"/>
            <a:ext cx="1582369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36" name="panel 5"/>
          <p:cNvSpPr/>
          <p:nvPr/>
        </p:nvSpPr>
        <p:spPr>
          <a:xfrm>
            <a:off x="1600200" y="308152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0020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938528" y="3044952"/>
            <a:ext cx="1079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시나리오 선정</a:t>
            </a:r>
            <a:endParaRPr lang="ko-KR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618488" y="3447288"/>
            <a:ext cx="138120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5.1.1.5, 5.5.1.1</a:t>
            </a:r>
            <a:endParaRPr lang="ko-KR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618488" y="3694176"/>
            <a:ext cx="13812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초기사건 · 군집 · 제외 근거</a:t>
            </a:r>
            <a:endParaRPr lang="ko-KR" sz="1100" dirty="0"/>
          </a:p>
        </p:txBody>
      </p:sp>
      <p:sp>
        <p:nvSpPr>
          <p:cNvPr id="41" name="Shape 39"/>
          <p:cNvSpPr/>
          <p:nvPr/>
        </p:nvSpPr>
        <p:spPr>
          <a:xfrm>
            <a:off x="3100273" y="3246120"/>
            <a:ext cx="128016" cy="914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2" name="step 6"/>
          <p:cNvSpPr/>
          <p:nvPr/>
        </p:nvSpPr>
        <p:spPr>
          <a:xfrm>
            <a:off x="3237433" y="2990088"/>
            <a:ext cx="1582369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43" name="panel 6"/>
          <p:cNvSpPr/>
          <p:nvPr/>
        </p:nvSpPr>
        <p:spPr>
          <a:xfrm>
            <a:off x="3328873" y="308152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328873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667201" y="3044952"/>
            <a:ext cx="1079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빈도 분석</a:t>
            </a:r>
            <a:endParaRPr lang="ko-KR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3347161" y="3447288"/>
            <a:ext cx="138120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5.3</a:t>
            </a:r>
            <a:endParaRPr lang="ko-KR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3347161" y="3694176"/>
            <a:ext cx="13812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사건수목 · 경로별 F</a:t>
            </a:r>
            <a:endParaRPr lang="ko-KR" sz="1100" dirty="0"/>
          </a:p>
        </p:txBody>
      </p:sp>
      <p:sp>
        <p:nvSpPr>
          <p:cNvPr id="48" name="Shape 46"/>
          <p:cNvSpPr/>
          <p:nvPr/>
        </p:nvSpPr>
        <p:spPr>
          <a:xfrm>
            <a:off x="4828946" y="3246120"/>
            <a:ext cx="128016" cy="914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9" name="step 7"/>
          <p:cNvSpPr/>
          <p:nvPr/>
        </p:nvSpPr>
        <p:spPr>
          <a:xfrm>
            <a:off x="4966106" y="2990088"/>
            <a:ext cx="1582369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50" name="panel 7"/>
          <p:cNvSpPr/>
          <p:nvPr/>
        </p:nvSpPr>
        <p:spPr>
          <a:xfrm>
            <a:off x="5057546" y="308152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057546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395874" y="3044952"/>
            <a:ext cx="1079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결과 분석</a:t>
            </a:r>
            <a:endParaRPr lang="ko-KR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5075834" y="3447288"/>
            <a:ext cx="138120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5.4, 5.4.9</a:t>
            </a:r>
            <a:endParaRPr lang="ko-KR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075834" y="3694176"/>
            <a:ext cx="13812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층간 확산 C (시험·모델)</a:t>
            </a:r>
            <a:endParaRPr lang="ko-KR" sz="1100" dirty="0"/>
          </a:p>
        </p:txBody>
      </p:sp>
      <p:sp>
        <p:nvSpPr>
          <p:cNvPr id="55" name="Shape 53"/>
          <p:cNvSpPr/>
          <p:nvPr/>
        </p:nvSpPr>
        <p:spPr>
          <a:xfrm>
            <a:off x="6557620" y="3246120"/>
            <a:ext cx="128016" cy="914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56" name="step 8"/>
          <p:cNvSpPr/>
          <p:nvPr/>
        </p:nvSpPr>
        <p:spPr>
          <a:xfrm>
            <a:off x="6694780" y="2990088"/>
            <a:ext cx="1582369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57" name="panel 8"/>
          <p:cNvSpPr/>
          <p:nvPr/>
        </p:nvSpPr>
        <p:spPr>
          <a:xfrm>
            <a:off x="6786220" y="308152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78622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7124548" y="3044952"/>
            <a:ext cx="1079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위험도 산정</a:t>
            </a:r>
            <a:endParaRPr lang="ko-KR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6804508" y="3447288"/>
            <a:ext cx="138120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5.5.1</a:t>
            </a:r>
            <a:endParaRPr lang="ko-KR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6804508" y="3694176"/>
            <a:ext cx="13812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R = Σ F·C · 초과빈도</a:t>
            </a:r>
            <a:endParaRPr lang="ko-KR" sz="1100" dirty="0"/>
          </a:p>
        </p:txBody>
      </p:sp>
      <p:sp>
        <p:nvSpPr>
          <p:cNvPr id="62" name="Shape 60"/>
          <p:cNvSpPr/>
          <p:nvPr/>
        </p:nvSpPr>
        <p:spPr>
          <a:xfrm>
            <a:off x="8286293" y="3246120"/>
            <a:ext cx="128016" cy="914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63" name="step 9"/>
          <p:cNvSpPr/>
          <p:nvPr/>
        </p:nvSpPr>
        <p:spPr>
          <a:xfrm>
            <a:off x="8423453" y="2990088"/>
            <a:ext cx="1582369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64" name="panel 9"/>
          <p:cNvSpPr/>
          <p:nvPr/>
        </p:nvSpPr>
        <p:spPr>
          <a:xfrm>
            <a:off x="8514893" y="308152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514893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9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8853221" y="3044952"/>
            <a:ext cx="1079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불확실성 분석</a:t>
            </a:r>
            <a:endParaRPr lang="ko-KR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8533181" y="3447288"/>
            <a:ext cx="138120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4.5, 5.5.6</a:t>
            </a:r>
            <a:endParaRPr lang="ko-KR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8533181" y="3694176"/>
            <a:ext cx="13812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분포 · 신뢰수준 · 민감도</a:t>
            </a:r>
            <a:endParaRPr lang="ko-KR" sz="1100" dirty="0"/>
          </a:p>
        </p:txBody>
      </p:sp>
      <p:sp>
        <p:nvSpPr>
          <p:cNvPr id="69" name="Shape 67"/>
          <p:cNvSpPr/>
          <p:nvPr/>
        </p:nvSpPr>
        <p:spPr>
          <a:xfrm>
            <a:off x="10014966" y="3246120"/>
            <a:ext cx="128016" cy="914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70" name="step 10"/>
          <p:cNvSpPr/>
          <p:nvPr/>
        </p:nvSpPr>
        <p:spPr>
          <a:xfrm>
            <a:off x="10152126" y="2990088"/>
            <a:ext cx="1582369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71" name="panel 10"/>
          <p:cNvSpPr/>
          <p:nvPr/>
        </p:nvSpPr>
        <p:spPr>
          <a:xfrm>
            <a:off x="10243566" y="3081528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243566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10581894" y="3044952"/>
            <a:ext cx="1079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검증 · 확인</a:t>
            </a:r>
            <a:endParaRPr lang="ko-KR" sz="1250" dirty="0"/>
          </a:p>
        </p:txBody>
      </p:sp>
      <p:sp>
        <p:nvSpPr>
          <p:cNvPr id="74" name="Text 72"/>
          <p:cNvSpPr txBox="1"/>
          <p:nvPr/>
        </p:nvSpPr>
        <p:spPr>
          <a:xfrm>
            <a:off x="10261854" y="3447288"/>
            <a:ext cx="138120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5.5.9, 8.2</a:t>
            </a:r>
            <a:endParaRPr lang="ko-KR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10261854" y="3694176"/>
            <a:ext cx="13812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재현 계산 · 시험 비교</a:t>
            </a:r>
            <a:endParaRPr lang="ko-KR" sz="1100" dirty="0"/>
          </a:p>
        </p:txBody>
      </p:sp>
      <p:sp>
        <p:nvSpPr>
          <p:cNvPr id="76" name="band 문서화 · 검토"/>
          <p:cNvSpPr/>
          <p:nvPr/>
        </p:nvSpPr>
        <p:spPr>
          <a:xfrm>
            <a:off x="457200" y="4672584"/>
            <a:ext cx="914400" cy="960120"/>
          </a:xfrm>
          <a:prstGeom prst="roundRect">
            <a:avLst>
              <a:gd name="adj" fmla="val 6000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57200" y="467258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문서화</a:t>
            </a:r>
            <a:endParaRPr lang="ko-KR" sz="1400" dirty="0"/>
          </a:p>
          <a:p>
            <a:pPr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· 검토</a:t>
            </a:r>
            <a:endParaRPr lang="ko-KR" sz="1400" dirty="0"/>
          </a:p>
        </p:txBody>
      </p:sp>
      <p:sp>
        <p:nvSpPr>
          <p:cNvPr id="78" name="step 11"/>
          <p:cNvSpPr/>
          <p:nvPr/>
        </p:nvSpPr>
        <p:spPr>
          <a:xfrm>
            <a:off x="1508760" y="4672584"/>
            <a:ext cx="503971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79" name="panel 11"/>
          <p:cNvSpPr/>
          <p:nvPr/>
        </p:nvSpPr>
        <p:spPr>
          <a:xfrm>
            <a:off x="1600200" y="4764024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600200" y="4764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1938528" y="4727448"/>
            <a:ext cx="4536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문서화</a:t>
            </a:r>
            <a:endParaRPr lang="ko-KR" sz="1250" dirty="0"/>
          </a:p>
        </p:txBody>
      </p:sp>
      <p:sp>
        <p:nvSpPr>
          <p:cNvPr id="82" name="Text 80"/>
          <p:cNvSpPr txBox="1"/>
          <p:nvPr/>
        </p:nvSpPr>
        <p:spPr>
          <a:xfrm>
            <a:off x="1618488" y="5129784"/>
            <a:ext cx="48385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7.2, 7.3.3.4, 7.4</a:t>
            </a:r>
            <a:endParaRPr lang="ko-KR" sz="1050" dirty="0"/>
          </a:p>
        </p:txBody>
      </p:sp>
      <p:sp>
        <p:nvSpPr>
          <p:cNvPr id="83" name="Text 81"/>
          <p:cNvSpPr txBox="1"/>
          <p:nvPr/>
        </p:nvSpPr>
        <p:spPr>
          <a:xfrm>
            <a:off x="1618488" y="5376672"/>
            <a:ext cx="48385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개념보고서 · 정량 결과 문서 · 유지관리 매뉴얼</a:t>
            </a:r>
            <a:endParaRPr lang="ko-KR" sz="1100" dirty="0"/>
          </a:p>
        </p:txBody>
      </p:sp>
      <p:sp>
        <p:nvSpPr>
          <p:cNvPr id="84" name="Shape 82"/>
          <p:cNvSpPr/>
          <p:nvPr/>
        </p:nvSpPr>
        <p:spPr>
          <a:xfrm>
            <a:off x="6557620" y="4928616"/>
            <a:ext cx="128016" cy="914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85" name="step 12"/>
          <p:cNvSpPr/>
          <p:nvPr/>
        </p:nvSpPr>
        <p:spPr>
          <a:xfrm>
            <a:off x="6694780" y="4672584"/>
            <a:ext cx="503971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86" name="panel 12"/>
          <p:cNvSpPr/>
          <p:nvPr/>
        </p:nvSpPr>
        <p:spPr>
          <a:xfrm>
            <a:off x="6786220" y="4764024"/>
            <a:ext cx="274320" cy="27432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786220" y="4764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12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7124548" y="4727448"/>
            <a:ext cx="4536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검토 · 승인</a:t>
            </a:r>
            <a:endParaRPr lang="ko-KR" sz="1250" dirty="0"/>
          </a:p>
        </p:txBody>
      </p:sp>
      <p:sp>
        <p:nvSpPr>
          <p:cNvPr id="89" name="Text 87"/>
          <p:cNvSpPr txBox="1"/>
          <p:nvPr/>
        </p:nvSpPr>
        <p:spPr>
          <a:xfrm>
            <a:off x="6804508" y="5129784"/>
            <a:ext cx="48385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8.1, 8.3, 4.3.2.3</a:t>
            </a:r>
            <a:endParaRPr lang="ko-KR" sz="1050" dirty="0"/>
          </a:p>
        </p:txBody>
      </p:sp>
      <p:sp>
        <p:nvSpPr>
          <p:cNvPr id="90" name="Text 88"/>
          <p:cNvSpPr txBox="1"/>
          <p:nvPr/>
        </p:nvSpPr>
        <p:spPr>
          <a:xfrm>
            <a:off x="6804508" y="5376672"/>
            <a:ext cx="48385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→ 검토 질문 9개 대응 · 승인 또는 보완</a:t>
            </a:r>
            <a:endParaRPr lang="ko-KR" sz="1100" dirty="0"/>
          </a:p>
        </p:txBody>
      </p:sp>
      <p:sp>
        <p:nvSpPr>
          <p:cNvPr id="91" name="Shape 89"/>
          <p:cNvSpPr/>
          <p:nvPr/>
        </p:nvSpPr>
        <p:spPr>
          <a:xfrm>
            <a:off x="914400" y="2807208"/>
            <a:ext cx="914" cy="164592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914400" y="4489704"/>
            <a:ext cx="914" cy="164592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93" name="Text 91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번호는 이 덱의 7–20쪽, 서술양식.docx의 절, 계산서(xlsx)의 시트 번호와 같은 흐름입니다. 결과가 기준을 넘으면 4·7단계로 돌아가 대책(차단재·배리어 등)을 넣고 다시 계산합니다.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1–4 · 준비 — 외벽에서 정할 것과 예제에서 정한 것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준비 단계의 산출물은 ‘무엇을, 어디까지, 어떤 지표와 기준으로’ — 특히 허용기준은 분석 전에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관할기관과 합의해야 함(4.4.3.4)</a:t>
            </a:r>
            <a:endParaRPr lang="ko-KR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515081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외벽에서 정할 것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예제에서 정한 것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 문제 정의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4.3, 4.4.1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평가 목적(대안 비교 · 기존 건물 우선순위 · 동등성 입증), 대상 건물과 외벽 시스템, 평가 범위와 제외 범위, 이해관계자(4.2)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중공층 외단열 5종 × 대책 2안 비교 · 15층 공동주택(세대 60, 재실 150명) · 사용 단계의 외벽 경로만(실내 연기 확산·공사 중 화재 제외)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 위험요소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4.4.2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노출 대상(4.4.2.1) · 화재 자극(열·연기·가스, 4.4.2.2) · 전달 현상(4.4.2.3) · 대상의 반응과 기준(4.4.2.4)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발화층 위 재실자 · 화염과 열(낙하물 포함) · 창 분출 → 외장·중공층 → 수직 확산 → 창으로 재유입 · 피난 완료(RSET) 전에 화염이 닿는가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3 허용기준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4.4.3, A.5.1.2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지표(확산 범위 · 개인위험도 · 기준안 대비), 기준값, 불확실성을 판정에 넣는 방식(신뢰수준). 규정·성능기준·합의값·표준 중 근거(4.4.3.5)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주 지표: F(n ≥ 2) ≤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/동·년 (A.5.1.2(6) 확산 범위), 신뢰수준 90 % — 예시값 · 보조: 개인위험도 IR(HSE 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·10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참고), 불연 기준안 대비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RR</a:t>
                      </a:r>
                      <a:r>
                        <a:rPr lang="ko-KR" altLang="en-US" sz="1100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 방법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4.4.4, 5.1.3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범주(표 5.1.2.1), 모델과 입력 자료, 적용 범위, 선택 근거, 사용할 소프트웨어(6.2.4.2)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정량적 방법 = 사건수목 + 층간 확산 결과 모델 + 2중 몬테카를로 · 근거: 중공층 시험(층당 시간)과 화재 통계(빈도)를 직접 결합 · 파이썬 qfra.py, 엑셀 계산서</a:t>
                      </a:r>
                      <a:endParaRPr lang="ko-KR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893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허용기준은 예시값입니다. 실제 기준은 규정·관할기관 협의로 정하고(4.4.3.3), 개념보고서(7.2.2.4)에 근거와 함께 적습니다.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5 · 시나리오 선정과 군집 (5.1.1.5, 5.5.1.1, 7.2.2.6)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외벽을 화염에 노출시키는 초기사건 두 가지로 군집하고, 발화층·방호 상태·재료 반복시험으로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세분 — 제외한 시나리오는 이유와 함께 문서에 남김</a:t>
            </a:r>
            <a:endParaRPr lang="ko-KR" sz="2000" dirty="0"/>
          </a:p>
        </p:txBody>
      </p:sp>
      <p:sp>
        <p:nvSpPr>
          <p:cNvPr id="4" name="IE1"/>
          <p:cNvSpPr/>
          <p:nvPr/>
        </p:nvSpPr>
        <p:spPr>
          <a:xfrm>
            <a:off x="457200" y="169164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37944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8379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IE1</a:t>
            </a:r>
            <a:endParaRPr lang="ko-K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10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세대 화재 → 창 분출화염</a:t>
            </a:r>
            <a:endParaRPr lang="ko-KR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5856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발화층 1–15층 균등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스프링클러 · 최성기 · 창 파손 분기를 거쳐 외벽 노출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창→창 도약 확산이 함께 일어남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EFFECT: 실내 화재의 창 분출</a:t>
            </a:r>
            <a:endParaRPr lang="ko-KR" sz="1150" dirty="0"/>
          </a:p>
        </p:txBody>
      </p:sp>
      <p:sp>
        <p:nvSpPr>
          <p:cNvPr id="9" name="IE2"/>
          <p:cNvSpPr/>
          <p:nvPr/>
        </p:nvSpPr>
        <p:spPr>
          <a:xfrm>
            <a:off x="457200" y="374904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3895344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23303D"/>
          </a:solidFill>
          <a:ln w="9525">
            <a:solidFill>
              <a:srgbClr val="2330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8953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IE2</a:t>
            </a:r>
            <a:endParaRPr lang="ko-KR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8679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외부 발화원 → 외벽 하부</a:t>
            </a:r>
            <a:endParaRPr lang="ko-KR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1596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필로티·주차 차량, 쓰레기, 외부 설비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1층에서 시작, 세대 스프링클러와 무관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EFFECT: 차량 · 쓰레기 용기 · 발코니</a:t>
            </a:r>
            <a:endParaRPr lang="ko-KR" sz="11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국내 사례: 의정부(2015) · 제천(2017) — 1층 필로티 발화 후 외벽 확산</a:t>
            </a:r>
            <a:endParaRPr lang="ko-KR" sz="1150" dirty="0"/>
          </a:p>
        </p:txBody>
      </p:sp>
      <p:sp>
        <p:nvSpPr>
          <p:cNvPr id="14" name="clusters"/>
          <p:cNvSpPr/>
          <p:nvPr/>
        </p:nvSpPr>
        <p:spPr>
          <a:xfrm>
            <a:off x="4434840" y="1691640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17830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군집 기준 (5.5.1.4)</a:t>
            </a:r>
            <a:endParaRPr lang="ko-K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176272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초기사건 IE1 · IE2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발화층: IE1은 15개 층 균등(가중치 </a:t>
            </a:r>
            <a:r>
              <a:rPr lang="ko-KR" altLang="en-US" sz="1150" dirty="0">
                <a:solidFill>
                  <a:schemeClr val="tx1"/>
                </a:solidFill>
              </a:rPr>
              <a:t>w</a:t>
            </a:r>
            <a:r>
              <a:rPr lang="ko-KR" altLang="en-US" sz="1150" baseline="-40000" dirty="0">
                <a:solidFill>
                  <a:schemeClr val="tx1"/>
                </a:solidFill>
              </a:rPr>
              <a:t>j</a:t>
            </a:r>
            <a:r>
              <a:rPr lang="ko-KR" altLang="en-US" sz="1150" dirty="0">
                <a:solidFill>
                  <a:schemeClr val="tx1"/>
                </a:solidFill>
              </a:rPr>
              <a:t> = (N − j)/N), IE2는 1층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방호 상태: 스프링클러(B1/B0), 개구부 차단재·층간 배리어(M0/M1)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재료: 반복시험 하나하나를 같은 무게의 사건으로(우연적 변동)</a:t>
            </a:r>
            <a:endParaRPr lang="ko-KR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군집 빈도 = 군집에 든 시나리오 빈도의 합 (5.1.1.5.3)</a:t>
            </a:r>
            <a:endParaRPr lang="ko-KR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691640"/>
          <a:ext cx="37792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1617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제외 · 보류한 시나리오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근거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공사 중 화재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사용 단계 평가 범위 밖 → 별도 평가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방화 · 다중 발화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비현실적으로 가혹 (5.5.1.1)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발코니 화재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IE3로 추가 가능(발화층 균등, 스프링클러 무관) — 예제 생략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인접 건물 복사열 · 강풍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별도 군집으로 추가 가능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실내 연기 확산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외벽 경로 밖 → 실내 FRA와 결합</a:t>
                      </a:r>
                      <a:endParaRPr lang="ko-KR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585216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시나리오를 너무 줄이면 위험을 낮게 봅니다(5.5.8). 제외는 ‘비현실적으로 가혹’ 또는 ‘충분히 드묾’일 때만, 근거를 적어서(7.2.2.6).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6 · 빈도 분석 — 사건수목 (5.3, 경로 확률 = 분기 확률의 곱)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외벽이 화염에 노출되는 빈도: IE1 1.3×10</a:t>
            </a:r>
            <a:r>
              <a:rPr lang="ko-KR" altLang="en-US" sz="2000" b="1" baseline="30000" dirty="0">
                <a:solidFill>
                  <a:schemeClr val="tx1"/>
                </a:solidFill>
              </a:rPr>
              <a:t>−4</a:t>
            </a:r>
            <a:r>
              <a:rPr lang="ko-KR" altLang="en-US" sz="2000" b="1" dirty="0">
                <a:solidFill>
                  <a:schemeClr val="tx1"/>
                </a:solidFill>
              </a:rPr>
              <a:t>, IE2 6.0×10</a:t>
            </a:r>
            <a:r>
              <a:rPr lang="ko-KR" altLang="en-US" sz="2000" b="1" baseline="30000" dirty="0">
                <a:solidFill>
                  <a:schemeClr val="tx1"/>
                </a:solidFill>
              </a:rPr>
              <a:t>−4</a:t>
            </a:r>
            <a:r>
              <a:rPr lang="ko-KR" altLang="en-US" sz="2000" b="1" dirty="0">
                <a:solidFill>
                  <a:schemeClr val="tx1"/>
                </a:solidFill>
              </a:rPr>
              <a:t> /동·년 (예시 입력)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— 세대 스프링클러는 IE1만 줄이므로 외부 발화원이 더 큰 몫을 차지함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2"/>
                </a:solidFill>
              </a:rPr>
              <a:t>IE1</a:t>
            </a:r>
            <a:endParaRPr lang="ko-KR" sz="1300" dirty="0"/>
          </a:p>
        </p:txBody>
      </p:sp>
      <p:sp>
        <p:nvSpPr>
          <p:cNvPr id="5" name="node 세대 화재"/>
          <p:cNvSpPr/>
          <p:nvPr/>
        </p:nvSpPr>
        <p:spPr>
          <a:xfrm>
            <a:off x="457200" y="2057400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20939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세대 화재</a:t>
            </a:r>
            <a:endParaRPr lang="ko-KR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368296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λ</a:t>
            </a:r>
            <a:r>
              <a:rPr lang="ko-KR" altLang="en-US" sz="1050" baseline="-40000" dirty="0">
                <a:solidFill>
                  <a:schemeClr val="tx2"/>
                </a:solidFill>
              </a:rPr>
              <a:t>1</a:t>
            </a:r>
            <a:r>
              <a:rPr lang="ko-KR" altLang="en-US" sz="1050" dirty="0">
                <a:solidFill>
                  <a:schemeClr val="tx2"/>
                </a:solidFill>
              </a:rPr>
              <a:t> × 세대 수 U</a:t>
            </a:r>
            <a:endParaRPr lang="ko-KR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62432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1.2×10</a:t>
            </a:r>
            <a:r>
              <a:rPr lang="ko-KR" altLang="en-US" sz="1300" b="1" baseline="30000" dirty="0">
                <a:solidFill>
                  <a:schemeClr val="tx1"/>
                </a:solidFill>
              </a:rPr>
              <a:t>−2</a:t>
            </a:r>
            <a:r>
              <a:rPr lang="ko-KR" altLang="en-US" sz="1300" b="1" dirty="0">
                <a:solidFill>
                  <a:schemeClr val="tx1"/>
                </a:solidFill>
              </a:rPr>
              <a:t>/년</a:t>
            </a:r>
            <a:endParaRPr lang="ko-KR" sz="1300" dirty="0"/>
          </a:p>
        </p:txBody>
      </p:sp>
      <p:sp>
        <p:nvSpPr>
          <p:cNvPr id="9" name="node 스프링클러 제어 실패"/>
          <p:cNvSpPr/>
          <p:nvPr/>
        </p:nvSpPr>
        <p:spPr>
          <a:xfrm>
            <a:off x="2633472" y="2057400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06624" y="20939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스프링클러 제어 실패</a:t>
            </a:r>
            <a:endParaRPr lang="ko-KR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706624" y="2368296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× (1 −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s</a:t>
            </a:r>
            <a:r>
              <a:rPr lang="ko-KR" altLang="en-US" sz="1050" dirty="0">
                <a:solidFill>
                  <a:schemeClr val="tx2"/>
                </a:solidFill>
              </a:rPr>
              <a:t>)</a:t>
            </a:r>
            <a:endParaRPr lang="ko-KR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262432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1.2×10</a:t>
            </a:r>
            <a:r>
              <a:rPr lang="ko-KR" altLang="en-US" sz="1300" b="1" baseline="30000" dirty="0">
                <a:solidFill>
                  <a:schemeClr val="tx1"/>
                </a:solidFill>
              </a:rPr>
              <a:t>−3</a:t>
            </a:r>
            <a:r>
              <a:rPr lang="ko-KR" altLang="en-US" sz="1300" b="1" dirty="0">
                <a:solidFill>
                  <a:schemeClr val="tx1"/>
                </a:solidFill>
              </a:rPr>
              <a:t>/년</a:t>
            </a:r>
            <a:endParaRPr lang="ko-KR" sz="1300" dirty="0"/>
          </a:p>
        </p:txBody>
      </p:sp>
      <p:sp>
        <p:nvSpPr>
          <p:cNvPr id="13" name="node 최성기 도달"/>
          <p:cNvSpPr/>
          <p:nvPr/>
        </p:nvSpPr>
        <p:spPr>
          <a:xfrm>
            <a:off x="4809744" y="2057400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82896" y="20939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최성기 도달</a:t>
            </a:r>
            <a:endParaRPr lang="ko-KR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882896" y="2368296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×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FO</a:t>
            </a:r>
            <a:endParaRPr lang="ko-KR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82896" y="262432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1.8×10</a:t>
            </a:r>
            <a:r>
              <a:rPr lang="ko-KR" altLang="en-US" sz="1300" b="1" baseline="30000" dirty="0">
                <a:solidFill>
                  <a:schemeClr val="tx1"/>
                </a:solidFill>
              </a:rPr>
              <a:t>−4</a:t>
            </a:r>
            <a:r>
              <a:rPr lang="ko-KR" altLang="en-US" sz="1300" b="1" dirty="0">
                <a:solidFill>
                  <a:schemeClr val="tx1"/>
                </a:solidFill>
              </a:rPr>
              <a:t>/년</a:t>
            </a:r>
            <a:endParaRPr lang="ko-KR" sz="1300" dirty="0"/>
          </a:p>
        </p:txBody>
      </p:sp>
      <p:sp>
        <p:nvSpPr>
          <p:cNvPr id="17" name="node 창 분출 = F₁"/>
          <p:cNvSpPr/>
          <p:nvPr/>
        </p:nvSpPr>
        <p:spPr>
          <a:xfrm>
            <a:off x="6986016" y="2057400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9050">
            <a:solidFill>
              <a:srgbClr val="2330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9168" y="20939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창 분출 = </a:t>
            </a:r>
            <a:r>
              <a:rPr lang="ko-KR" altLang="en-US" sz="1150" b="1" dirty="0">
                <a:solidFill>
                  <a:schemeClr val="tx1"/>
                </a:solidFill>
              </a:rPr>
              <a:t>F</a:t>
            </a:r>
            <a:r>
              <a:rPr lang="ko-KR" altLang="en-US" sz="1150" b="1" baseline="-40000" dirty="0">
                <a:solidFill>
                  <a:schemeClr val="tx1"/>
                </a:solidFill>
              </a:rPr>
              <a:t>1</a:t>
            </a:r>
            <a:endParaRPr lang="ko-KR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2368296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×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v</a:t>
            </a:r>
            <a:endParaRPr lang="ko-KR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262432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1.3×10</a:t>
            </a:r>
            <a:r>
              <a:rPr lang="ko-KR" altLang="en-US" sz="1300" b="1" baseline="30000" dirty="0">
                <a:solidFill>
                  <a:schemeClr val="tx1"/>
                </a:solidFill>
              </a:rPr>
              <a:t>−4</a:t>
            </a:r>
            <a:r>
              <a:rPr lang="ko-KR" altLang="en-US" sz="1300" b="1" dirty="0">
                <a:solidFill>
                  <a:schemeClr val="tx1"/>
                </a:solidFill>
              </a:rPr>
              <a:t>/년</a:t>
            </a:r>
            <a:endParaRPr lang="ko-KR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505456"/>
            <a:ext cx="301752" cy="91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1965960" y="2999232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제어 → 실내 국한</a:t>
            </a:r>
            <a:endParaRPr lang="ko-KR" sz="950" dirty="0"/>
          </a:p>
        </p:txBody>
      </p:sp>
      <p:sp>
        <p:nvSpPr>
          <p:cNvPr id="23" name="Shape 21"/>
          <p:cNvSpPr/>
          <p:nvPr/>
        </p:nvSpPr>
        <p:spPr>
          <a:xfrm>
            <a:off x="4507992" y="2505456"/>
            <a:ext cx="301752" cy="91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142232" y="2999232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최성기 전 소화</a:t>
            </a:r>
            <a:endParaRPr lang="ko-KR" sz="950" dirty="0"/>
          </a:p>
        </p:txBody>
      </p:sp>
      <p:sp>
        <p:nvSpPr>
          <p:cNvPr id="25" name="Shape 23"/>
          <p:cNvSpPr/>
          <p:nvPr/>
        </p:nvSpPr>
        <p:spPr>
          <a:xfrm>
            <a:off x="6684264" y="2505456"/>
            <a:ext cx="301752" cy="91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318504" y="2999232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창 유지 → 실내</a:t>
            </a:r>
            <a:endParaRPr lang="ko-KR" sz="950" dirty="0"/>
          </a:p>
        </p:txBody>
      </p:sp>
      <p:sp>
        <p:nvSpPr>
          <p:cNvPr id="27" name="node 중공층 노출 → 외벽 + 도약"/>
          <p:cNvSpPr/>
          <p:nvPr/>
        </p:nvSpPr>
        <p:spPr>
          <a:xfrm>
            <a:off x="9162288" y="1645920"/>
            <a:ext cx="2572207" cy="822960"/>
          </a:xfrm>
          <a:prstGeom prst="roundRect">
            <a:avLst>
              <a:gd name="adj" fmla="val 6667"/>
            </a:avLst>
          </a:prstGeom>
          <a:solidFill>
            <a:srgbClr val="FCE6DC"/>
          </a:solidFill>
          <a:ln w="9525">
            <a:solidFill>
              <a:srgbClr val="EC83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35440" y="1682496"/>
            <a:ext cx="2425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중공층 노출 → 외벽 + 도약</a:t>
            </a:r>
            <a:endParaRPr lang="ko-KR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1956816"/>
            <a:ext cx="242590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×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e0</a:t>
            </a:r>
            <a:endParaRPr lang="ko-KR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2212848"/>
            <a:ext cx="24259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1.1×10</a:t>
            </a:r>
            <a:r>
              <a:rPr lang="ko-KR" altLang="en-US" sz="1300" b="1" baseline="30000" dirty="0">
                <a:solidFill>
                  <a:schemeClr val="tx1"/>
                </a:solidFill>
              </a:rPr>
              <a:t>−4</a:t>
            </a:r>
            <a:r>
              <a:rPr lang="ko-KR" altLang="en-US" sz="1300" b="1" dirty="0">
                <a:solidFill>
                  <a:schemeClr val="tx1"/>
                </a:solidFill>
              </a:rPr>
              <a:t>/년</a:t>
            </a:r>
            <a:endParaRPr lang="ko-KR" sz="1300" dirty="0"/>
          </a:p>
        </p:txBody>
      </p:sp>
      <p:sp>
        <p:nvSpPr>
          <p:cNvPr id="31" name="node 노출 안 됨 → 도약만"/>
          <p:cNvSpPr/>
          <p:nvPr/>
        </p:nvSpPr>
        <p:spPr>
          <a:xfrm>
            <a:off x="9162288" y="2606040"/>
            <a:ext cx="2572207" cy="82296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35440" y="2642616"/>
            <a:ext cx="2425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노출 안 됨 → 도약만</a:t>
            </a:r>
            <a:endParaRPr lang="ko-KR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235440" y="2916936"/>
            <a:ext cx="242590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× (1 −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e0</a:t>
            </a:r>
            <a:r>
              <a:rPr lang="ko-KR" altLang="en-US" sz="1050" dirty="0">
                <a:solidFill>
                  <a:schemeClr val="tx2"/>
                </a:solidFill>
              </a:rPr>
              <a:t>)</a:t>
            </a:r>
            <a:endParaRPr lang="ko-KR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235440" y="3172968"/>
            <a:ext cx="24259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1.3×10</a:t>
            </a:r>
            <a:r>
              <a:rPr lang="ko-KR" altLang="en-US" sz="1300" b="1" baseline="30000" dirty="0">
                <a:solidFill>
                  <a:schemeClr val="tx1"/>
                </a:solidFill>
              </a:rPr>
              <a:t>−5</a:t>
            </a:r>
            <a:r>
              <a:rPr lang="ko-KR" altLang="en-US" sz="1300" b="1" dirty="0">
                <a:solidFill>
                  <a:schemeClr val="tx1"/>
                </a:solidFill>
              </a:rPr>
              <a:t>/년</a:t>
            </a:r>
            <a:endParaRPr lang="ko-KR" sz="1300" dirty="0"/>
          </a:p>
        </p:txBody>
      </p:sp>
      <p:sp>
        <p:nvSpPr>
          <p:cNvPr id="35" name="Shape 33"/>
          <p:cNvSpPr/>
          <p:nvPr/>
        </p:nvSpPr>
        <p:spPr>
          <a:xfrm flipV="1">
            <a:off x="8860536" y="2057400"/>
            <a:ext cx="301752" cy="448056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860536" y="2505456"/>
            <a:ext cx="301752" cy="51206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45720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2"/>
                </a:solidFill>
              </a:rPr>
              <a:t>IE2</a:t>
            </a:r>
            <a:endParaRPr lang="ko-KR" sz="1300" dirty="0"/>
          </a:p>
        </p:txBody>
      </p:sp>
      <p:sp>
        <p:nvSpPr>
          <p:cNvPr id="38" name="node 외부 발화원 화재"/>
          <p:cNvSpPr/>
          <p:nvPr/>
        </p:nvSpPr>
        <p:spPr>
          <a:xfrm>
            <a:off x="457200" y="4160520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30352" y="41970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외부 발화원 화재</a:t>
            </a:r>
            <a:endParaRPr lang="ko-KR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30352" y="4471416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λ</a:t>
            </a:r>
            <a:r>
              <a:rPr lang="ko-KR" altLang="en-US" sz="1050" baseline="-40000" dirty="0">
                <a:solidFill>
                  <a:schemeClr val="tx2"/>
                </a:solidFill>
              </a:rPr>
              <a:t>2</a:t>
            </a:r>
            <a:endParaRPr lang="ko-KR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30352" y="472744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2.0×10</a:t>
            </a:r>
            <a:r>
              <a:rPr lang="ko-KR" altLang="en-US" sz="1300" b="1" baseline="30000" dirty="0">
                <a:solidFill>
                  <a:schemeClr val="tx1"/>
                </a:solidFill>
              </a:rPr>
              <a:t>−3</a:t>
            </a:r>
            <a:r>
              <a:rPr lang="ko-KR" altLang="en-US" sz="1300" b="1" dirty="0">
                <a:solidFill>
                  <a:schemeClr val="tx1"/>
                </a:solidFill>
              </a:rPr>
              <a:t>/년</a:t>
            </a:r>
            <a:endParaRPr lang="ko-KR" sz="1300" dirty="0"/>
          </a:p>
        </p:txBody>
      </p:sp>
      <p:sp>
        <p:nvSpPr>
          <p:cNvPr id="42" name="node 외벽 화염 노출 = F₂"/>
          <p:cNvSpPr/>
          <p:nvPr/>
        </p:nvSpPr>
        <p:spPr>
          <a:xfrm>
            <a:off x="2633472" y="4160520"/>
            <a:ext cx="18745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9050">
            <a:solidFill>
              <a:srgbClr val="2330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06624" y="41970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외벽 화염 노출 = </a:t>
            </a:r>
            <a:r>
              <a:rPr lang="ko-KR" altLang="en-US" sz="1150" b="1" dirty="0">
                <a:solidFill>
                  <a:schemeClr val="tx1"/>
                </a:solidFill>
              </a:rPr>
              <a:t>F</a:t>
            </a:r>
            <a:r>
              <a:rPr lang="ko-KR" altLang="en-US" sz="1150" b="1" baseline="-40000" dirty="0">
                <a:solidFill>
                  <a:schemeClr val="tx1"/>
                </a:solidFill>
              </a:rPr>
              <a:t>2</a:t>
            </a:r>
            <a:endParaRPr lang="ko-KR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706624" y="4471416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×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x</a:t>
            </a:r>
            <a:endParaRPr lang="ko-KR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2706624" y="472744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6.0×10</a:t>
            </a:r>
            <a:r>
              <a:rPr lang="ko-KR" altLang="en-US" sz="1300" b="1" baseline="30000" dirty="0">
                <a:solidFill>
                  <a:schemeClr val="tx1"/>
                </a:solidFill>
              </a:rPr>
              <a:t>−4</a:t>
            </a:r>
            <a:r>
              <a:rPr lang="ko-KR" altLang="en-US" sz="1300" b="1" dirty="0">
                <a:solidFill>
                  <a:schemeClr val="tx1"/>
                </a:solidFill>
              </a:rPr>
              <a:t>/년</a:t>
            </a:r>
            <a:endParaRPr lang="ko-KR" sz="1300" dirty="0"/>
          </a:p>
        </p:txBody>
      </p:sp>
      <p:sp>
        <p:nvSpPr>
          <p:cNvPr id="46" name="Shape 44"/>
          <p:cNvSpPr/>
          <p:nvPr/>
        </p:nvSpPr>
        <p:spPr>
          <a:xfrm>
            <a:off x="2331720" y="4608576"/>
            <a:ext cx="301752" cy="91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1965960" y="5102352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떨어져 있음 → 영향 없음</a:t>
            </a:r>
            <a:endParaRPr lang="ko-KR" sz="950" dirty="0"/>
          </a:p>
        </p:txBody>
      </p:sp>
      <p:sp>
        <p:nvSpPr>
          <p:cNvPr id="48" name="node 중공층 노출 → 외벽"/>
          <p:cNvSpPr/>
          <p:nvPr/>
        </p:nvSpPr>
        <p:spPr>
          <a:xfrm>
            <a:off x="4809744" y="3749040"/>
            <a:ext cx="1874520" cy="822960"/>
          </a:xfrm>
          <a:prstGeom prst="roundRect">
            <a:avLst>
              <a:gd name="adj" fmla="val 6667"/>
            </a:avLst>
          </a:prstGeom>
          <a:solidFill>
            <a:srgbClr val="FCE6DC"/>
          </a:solidFill>
          <a:ln w="9525">
            <a:solidFill>
              <a:srgbClr val="EC835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882896" y="378561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중공층 노출 → 외벽</a:t>
            </a:r>
            <a:endParaRPr lang="ko-KR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4882896" y="4059936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×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e0</a:t>
            </a:r>
            <a:endParaRPr lang="ko-KR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882896" y="43159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5.4×10</a:t>
            </a:r>
            <a:r>
              <a:rPr lang="ko-KR" altLang="en-US" sz="1300" b="1" baseline="30000" dirty="0">
                <a:solidFill>
                  <a:schemeClr val="tx1"/>
                </a:solidFill>
              </a:rPr>
              <a:t>−4</a:t>
            </a:r>
            <a:r>
              <a:rPr lang="ko-KR" altLang="en-US" sz="1300" b="1" dirty="0">
                <a:solidFill>
                  <a:schemeClr val="tx1"/>
                </a:solidFill>
              </a:rPr>
              <a:t>/년</a:t>
            </a:r>
            <a:endParaRPr lang="ko-KR" sz="1300" dirty="0"/>
          </a:p>
        </p:txBody>
      </p:sp>
      <p:sp>
        <p:nvSpPr>
          <p:cNvPr id="52" name="node 노출 안 됨 → 확산 없음"/>
          <p:cNvSpPr/>
          <p:nvPr/>
        </p:nvSpPr>
        <p:spPr>
          <a:xfrm>
            <a:off x="4809744" y="4709160"/>
            <a:ext cx="1874520" cy="82296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82896" y="47457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노출 안 됨 → 확산 없음</a:t>
            </a:r>
            <a:endParaRPr lang="ko-KR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4882896" y="5020056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× (1 − </a:t>
            </a:r>
            <a:r>
              <a:rPr lang="ko-KR" altLang="en-US" sz="1050" dirty="0">
                <a:solidFill>
                  <a:schemeClr val="tx2"/>
                </a:solidFill>
              </a:rPr>
              <a:t>p</a:t>
            </a:r>
            <a:r>
              <a:rPr lang="ko-KR" altLang="en-US" sz="1050" baseline="-40000" dirty="0">
                <a:solidFill>
                  <a:schemeClr val="tx2"/>
                </a:solidFill>
              </a:rPr>
              <a:t>e0</a:t>
            </a:r>
            <a:r>
              <a:rPr lang="ko-KR" altLang="en-US" sz="1050" dirty="0">
                <a:solidFill>
                  <a:schemeClr val="tx2"/>
                </a:solidFill>
              </a:rPr>
              <a:t>)</a:t>
            </a:r>
            <a:endParaRPr lang="ko-KR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4882896" y="527608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6.0×10</a:t>
            </a:r>
            <a:r>
              <a:rPr lang="ko-KR" altLang="en-US" sz="1300" b="1" baseline="30000" dirty="0">
                <a:solidFill>
                  <a:schemeClr val="tx1"/>
                </a:solidFill>
              </a:rPr>
              <a:t>−5</a:t>
            </a:r>
            <a:r>
              <a:rPr lang="ko-KR" altLang="en-US" sz="1300" b="1" dirty="0">
                <a:solidFill>
                  <a:schemeClr val="tx1"/>
                </a:solidFill>
              </a:rPr>
              <a:t>/년</a:t>
            </a:r>
            <a:endParaRPr lang="ko-KR" sz="1300" dirty="0"/>
          </a:p>
        </p:txBody>
      </p:sp>
      <p:sp>
        <p:nvSpPr>
          <p:cNvPr id="56" name="Shape 54"/>
          <p:cNvSpPr/>
          <p:nvPr/>
        </p:nvSpPr>
        <p:spPr>
          <a:xfrm flipV="1">
            <a:off x="4507992" y="4160520"/>
            <a:ext cx="301752" cy="448056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507992" y="4608576"/>
            <a:ext cx="301752" cy="51206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58" name="tree notes"/>
          <p:cNvSpPr/>
          <p:nvPr/>
        </p:nvSpPr>
        <p:spPr>
          <a:xfrm>
            <a:off x="6986016" y="3749040"/>
            <a:ext cx="4748479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150608" y="3813048"/>
            <a:ext cx="447415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예시 입력: </a:t>
            </a:r>
            <a:r>
              <a:rPr lang="ko-KR" altLang="en-US" sz="1100" dirty="0">
                <a:solidFill>
                  <a:schemeClr val="tx1"/>
                </a:solidFill>
              </a:rPr>
              <a:t>λ</a:t>
            </a:r>
            <a:r>
              <a:rPr lang="ko-KR" altLang="en-US" sz="1100" baseline="-400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 = </a:t>
            </a:r>
            <a:r>
              <a:rPr lang="ko-KR" altLang="en-US" sz="1100" dirty="0">
                <a:solidFill>
                  <a:schemeClr val="tx1"/>
                </a:solidFill>
              </a:rPr>
              <a:t>2×10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100" dirty="0">
                <a:solidFill>
                  <a:schemeClr val="tx1"/>
                </a:solidFill>
              </a:rPr>
              <a:t>/세대·년, U = 60,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s</a:t>
            </a:r>
            <a:r>
              <a:rPr lang="ko-KR" altLang="en-US" sz="1100" dirty="0">
                <a:solidFill>
                  <a:schemeClr val="tx1"/>
                </a:solidFill>
              </a:rPr>
              <a:t> = 0.90,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FO</a:t>
            </a:r>
            <a:r>
              <a:rPr lang="ko-KR" altLang="en-US" sz="1100" dirty="0">
                <a:solidFill>
                  <a:schemeClr val="tx1"/>
                </a:solidFill>
              </a:rPr>
              <a:t> = 0.15,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v</a:t>
            </a:r>
            <a:r>
              <a:rPr lang="ko-KR" altLang="en-US" sz="1100" dirty="0">
                <a:solidFill>
                  <a:schemeClr val="tx1"/>
                </a:solidFill>
              </a:rPr>
              <a:t> = 0.70, </a:t>
            </a:r>
            <a:r>
              <a:rPr lang="ko-KR" altLang="en-US" sz="1100" dirty="0">
                <a:solidFill>
                  <a:schemeClr val="tx1"/>
                </a:solidFill>
              </a:rPr>
              <a:t>λ</a:t>
            </a:r>
            <a:r>
              <a:rPr lang="ko-KR" altLang="en-US" sz="1100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 = </a:t>
            </a:r>
            <a:r>
              <a:rPr lang="ko-KR" altLang="en-US" sz="1100" dirty="0">
                <a:solidFill>
                  <a:schemeClr val="tx1"/>
                </a:solidFill>
              </a:rPr>
              <a:t>2×10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−3</a:t>
            </a:r>
            <a:r>
              <a:rPr lang="ko-KR" altLang="en-US" sz="1100" dirty="0">
                <a:solidFill>
                  <a:schemeClr val="tx1"/>
                </a:solidFill>
              </a:rPr>
              <a:t>/동·년,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x</a:t>
            </a:r>
            <a:r>
              <a:rPr lang="ko-KR" altLang="en-US" sz="1100" dirty="0">
                <a:solidFill>
                  <a:schemeClr val="tx1"/>
                </a:solidFill>
              </a:rPr>
              <a:t> = 0.30,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e0</a:t>
            </a:r>
            <a:r>
              <a:rPr lang="ko-KR" altLang="en-US" sz="1100" dirty="0">
                <a:solidFill>
                  <a:schemeClr val="tx1"/>
                </a:solidFill>
              </a:rPr>
              <a:t> = 0.90</a:t>
            </a:r>
            <a:endParaRPr lang="ko-KR" sz="11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B0 (스프링클러 없음): </a:t>
            </a:r>
            <a:r>
              <a:rPr lang="ko-KR" altLang="en-US" sz="1100" dirty="0">
                <a:solidFill>
                  <a:schemeClr val="tx1"/>
                </a:solidFill>
              </a:rPr>
              <a:t>F</a:t>
            </a:r>
            <a:r>
              <a:rPr lang="ko-KR" altLang="en-US" sz="1100" baseline="-400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 = </a:t>
            </a:r>
            <a:r>
              <a:rPr lang="ko-KR" altLang="en-US" sz="1100" dirty="0">
                <a:solidFill>
                  <a:schemeClr val="tx1"/>
                </a:solidFill>
              </a:rPr>
              <a:t>1.3×10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−3</a:t>
            </a:r>
            <a:r>
              <a:rPr lang="ko-KR" altLang="en-US" sz="1100" dirty="0">
                <a:solidFill>
                  <a:schemeClr val="tx1"/>
                </a:solidFill>
              </a:rPr>
              <a:t>/년 (10배)</a:t>
            </a:r>
            <a:endParaRPr lang="ko-KR" sz="11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M1 (개구부 차단재):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e0</a:t>
            </a:r>
            <a:r>
              <a:rPr lang="ko-KR" altLang="en-US" sz="1100" dirty="0">
                <a:solidFill>
                  <a:schemeClr val="tx1"/>
                </a:solidFill>
              </a:rPr>
              <a:t> 0.90 →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e1</a:t>
            </a:r>
            <a:r>
              <a:rPr lang="ko-KR" altLang="en-US" sz="1100" dirty="0">
                <a:solidFill>
                  <a:schemeClr val="tx1"/>
                </a:solidFill>
              </a:rPr>
              <a:t> 0.30, 준불연만 인정</a:t>
            </a:r>
            <a:endParaRPr lang="ko-KR" sz="11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가정: </a:t>
            </a:r>
            <a:r>
              <a:rPr lang="ko-KR" altLang="en-US" sz="1100" dirty="0">
                <a:solidFill>
                  <a:schemeClr val="tx1"/>
                </a:solidFill>
              </a:rPr>
              <a:t>분기는 서로 독립(5.3.1.2.2) — 독립이 아니면 조건부 확률로 넣음</a:t>
            </a:r>
            <a:endParaRPr lang="ko-KR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583387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빨간 칸(중공층 노출)이 다음 단계 결과 모델의 ‘외벽 경로’로, 회색 칸은 ‘도약만’ 또는 ‘확산 없음’으로 이어집니다. 값은 계산서 3_사건수목과 같습니다.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7 · 결과 분석 — 층간 확산 모델 (중공층 </a:t>
            </a:r>
            <a:r>
              <a:rPr lang="ko-KR" altLang="en-US" sz="1200" b="1" dirty="0">
                <a:solidFill>
                  <a:schemeClr val="tx2"/>
                </a:solidFill>
              </a:rPr>
              <a:t>t</a:t>
            </a:r>
            <a:r>
              <a:rPr lang="ko-KR" altLang="en-US" sz="1200" b="1" baseline="-40000" dirty="0">
                <a:solidFill>
                  <a:schemeClr val="tx2"/>
                </a:solidFill>
              </a:rPr>
              <a:t>600</a:t>
            </a:r>
            <a:r>
              <a:rPr lang="ko-KR" altLang="en-US" sz="1200" b="1" dirty="0">
                <a:solidFill>
                  <a:schemeClr val="tx2"/>
                </a:solidFill>
              </a:rPr>
              <a:t> = 층당 확산시간)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중공층 화재는 </a:t>
            </a:r>
            <a:r>
              <a:rPr lang="ko-KR" altLang="en-US" sz="2000" b="1" dirty="0">
                <a:solidFill>
                  <a:schemeClr val="tx1"/>
                </a:solidFill>
              </a:rPr>
              <a:t>τ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F</a:t>
            </a:r>
            <a:r>
              <a:rPr lang="ko-KR" altLang="en-US" sz="2000" b="1" dirty="0">
                <a:solidFill>
                  <a:schemeClr val="tx1"/>
                </a:solidFill>
              </a:rPr>
              <a:t> = s·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마다 한 층씩 오르고 진압·배리어·화원 소멸에서 멈춤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— 창→창 도약과 겨뤄, 먼저 닿은 층에 피난 전 재실자가 있으면 ‘노출’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4983480"/>
            <a:ext cx="2103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5148072"/>
            <a:ext cx="384048" cy="310896"/>
          </a:xfrm>
          <a:prstGeom prst="rect">
            <a:avLst/>
          </a:prstGeom>
          <a:solidFill>
            <a:srgbClr val="DCEBFA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1480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k − 1</a:t>
            </a:r>
            <a:endParaRPr lang="ko-KR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2103120" cy="640080"/>
          </a:xfrm>
          <a:prstGeom prst="rect">
            <a:avLst/>
          </a:prstGeom>
          <a:solidFill>
            <a:srgbClr val="FCE6DC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84832" y="4507992"/>
            <a:ext cx="384048" cy="310896"/>
          </a:xfrm>
          <a:prstGeom prst="rect">
            <a:avLst/>
          </a:prstGeom>
          <a:solidFill>
            <a:srgbClr val="DCEBFA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5079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k (발화층)</a:t>
            </a:r>
            <a:endParaRPr lang="ko-KR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2103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3867912"/>
            <a:ext cx="384048" cy="310896"/>
          </a:xfrm>
          <a:prstGeom prst="rect">
            <a:avLst/>
          </a:prstGeom>
          <a:solidFill>
            <a:srgbClr val="DCEBFA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67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k + 1</a:t>
            </a:r>
            <a:endParaRPr lang="ko-KR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2103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3227832"/>
            <a:ext cx="384048" cy="310896"/>
          </a:xfrm>
          <a:prstGeom prst="rect">
            <a:avLst/>
          </a:prstGeom>
          <a:solidFill>
            <a:srgbClr val="DCEBFA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2278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k + 2</a:t>
            </a:r>
            <a:endParaRPr lang="ko-KR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2103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84832" y="2587752"/>
            <a:ext cx="384048" cy="310896"/>
          </a:xfrm>
          <a:prstGeom prst="rect">
            <a:avLst/>
          </a:prstGeom>
          <a:solidFill>
            <a:srgbClr val="DCEBFA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877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k + 3</a:t>
            </a:r>
            <a:endParaRPr lang="ko-KR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1783080"/>
            <a:ext cx="2103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84832" y="1947672"/>
            <a:ext cx="384048" cy="310896"/>
          </a:xfrm>
          <a:prstGeom prst="rect">
            <a:avLst/>
          </a:prstGeom>
          <a:solidFill>
            <a:srgbClr val="DCEBFA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19476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k + 4</a:t>
            </a:r>
            <a:endParaRPr lang="ko-KR" sz="1050" dirty="0"/>
          </a:p>
        </p:txBody>
      </p:sp>
      <p:sp>
        <p:nvSpPr>
          <p:cNvPr id="22" name="cavity"/>
          <p:cNvSpPr/>
          <p:nvPr/>
        </p:nvSpPr>
        <p:spPr>
          <a:xfrm>
            <a:off x="2651760" y="1783080"/>
            <a:ext cx="182880" cy="3840480"/>
          </a:xfrm>
          <a:prstGeom prst="rect">
            <a:avLst/>
          </a:prstGeom>
          <a:solidFill>
            <a:srgbClr val="FDF0D5"/>
          </a:solidFill>
          <a:ln w="9525">
            <a:solidFill>
              <a:srgbClr val="FAB21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1216" y="1783080"/>
            <a:ext cx="0" cy="384048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4956048"/>
            <a:ext cx="182880" cy="54864"/>
          </a:xfrm>
          <a:prstGeom prst="rect">
            <a:avLst/>
          </a:prstGeom>
          <a:solidFill>
            <a:srgbClr val="23303D"/>
          </a:solidFill>
          <a:ln w="6350">
            <a:solidFill>
              <a:srgbClr val="2330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4315968"/>
            <a:ext cx="182880" cy="54864"/>
          </a:xfrm>
          <a:prstGeom prst="rect">
            <a:avLst/>
          </a:prstGeom>
          <a:solidFill>
            <a:srgbClr val="23303D"/>
          </a:solidFill>
          <a:ln w="6350">
            <a:solidFill>
              <a:srgbClr val="2330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3675888"/>
            <a:ext cx="182880" cy="54864"/>
          </a:xfrm>
          <a:prstGeom prst="rect">
            <a:avLst/>
          </a:prstGeom>
          <a:solidFill>
            <a:srgbClr val="23303D"/>
          </a:solidFill>
          <a:ln w="6350">
            <a:solidFill>
              <a:srgbClr val="2330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3035808"/>
            <a:ext cx="182880" cy="54864"/>
          </a:xfrm>
          <a:prstGeom prst="rect">
            <a:avLst/>
          </a:prstGeom>
          <a:solidFill>
            <a:srgbClr val="23303D"/>
          </a:solidFill>
          <a:ln w="6350">
            <a:solidFill>
              <a:srgbClr val="2330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1760" y="2395728"/>
            <a:ext cx="182880" cy="54864"/>
          </a:xfrm>
          <a:prstGeom prst="rect">
            <a:avLst/>
          </a:prstGeom>
          <a:solidFill>
            <a:srgbClr val="23303D"/>
          </a:solidFill>
          <a:ln w="6350">
            <a:solidFill>
              <a:srgbClr val="23303D"/>
            </a:solidFill>
            <a:prstDash val="solid"/>
          </a:ln>
        </p:spPr>
      </p:sp>
      <p:sp>
        <p:nvSpPr>
          <p:cNvPr id="29" name="flame"/>
          <p:cNvSpPr/>
          <p:nvPr/>
        </p:nvSpPr>
        <p:spPr>
          <a:xfrm>
            <a:off x="2852928" y="4361688"/>
            <a:ext cx="384048" cy="566928"/>
          </a:xfrm>
          <a:prstGeom prst="triangle">
            <a:avLst/>
          </a:prstGeom>
          <a:solidFill>
            <a:srgbClr val="EB6834"/>
          </a:solidFill>
          <a:ln w="6350">
            <a:solidFill>
              <a:srgbClr val="EB68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743200" y="2560320"/>
            <a:ext cx="914" cy="2148840"/>
          </a:xfrm>
          <a:prstGeom prst="line">
            <a:avLst/>
          </a:prstGeom>
          <a:noFill/>
          <a:ln w="31750">
            <a:solidFill>
              <a:srgbClr val="D03B3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2468880" y="4160520"/>
            <a:ext cx="914" cy="347472"/>
          </a:xfrm>
          <a:prstGeom prst="line">
            <a:avLst/>
          </a:prstGeom>
          <a:noFill/>
          <a:ln w="22225">
            <a:solidFill>
              <a:srgbClr val="2A78D6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3383280" y="23774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B13232"/>
                </a:solidFill>
              </a:rPr>
              <a:t>중공층 경로: 층당 </a:t>
            </a:r>
            <a:r>
              <a:rPr lang="ko-KR" altLang="en-US" sz="1050" dirty="0">
                <a:solidFill>
                  <a:srgbClr val="B13232"/>
                </a:solidFill>
              </a:rPr>
              <a:t>τ</a:t>
            </a:r>
            <a:r>
              <a:rPr lang="ko-KR" altLang="en-US" sz="1050" baseline="-40000" dirty="0">
                <a:solidFill>
                  <a:srgbClr val="B13232"/>
                </a:solidFill>
              </a:rPr>
              <a:t>F</a:t>
            </a:r>
            <a:r>
              <a:rPr lang="ko-KR" altLang="en-US" sz="1050" dirty="0">
                <a:solidFill>
                  <a:srgbClr val="B13232"/>
                </a:solidFill>
              </a:rPr>
              <a:t> = s·</a:t>
            </a:r>
            <a:r>
              <a:rPr lang="ko-KR" altLang="en-US" sz="1050" dirty="0">
                <a:solidFill>
                  <a:srgbClr val="B13232"/>
                </a:solidFill>
              </a:rPr>
              <a:t>t</a:t>
            </a:r>
            <a:r>
              <a:rPr lang="ko-KR" altLang="en-US" sz="1050" baseline="-40000" dirty="0">
                <a:solidFill>
                  <a:srgbClr val="B13232"/>
                </a:solidFill>
              </a:rPr>
              <a:t>600</a:t>
            </a:r>
            <a:endParaRPr lang="ko-KR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31089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</a:rPr>
              <a:t>층 경계 배리어: 막을 확률 </a:t>
            </a:r>
            <a:r>
              <a:rPr lang="ko-KR" altLang="en-US" sz="1050" dirty="0">
                <a:solidFill>
                  <a:schemeClr val="tx1"/>
                </a:solidFill>
              </a:rPr>
              <a:t>p</a:t>
            </a:r>
            <a:r>
              <a:rPr lang="ko-KR" altLang="en-US" sz="1050" baseline="-40000" dirty="0">
                <a:solidFill>
                  <a:schemeClr val="tx1"/>
                </a:solidFill>
              </a:rPr>
              <a:t>cb</a:t>
            </a:r>
            <a:r>
              <a:rPr lang="ko-KR" altLang="en-US" sz="1050" dirty="0">
                <a:solidFill>
                  <a:schemeClr val="tx1"/>
                </a:solidFill>
              </a:rPr>
              <a:t> (M1)</a:t>
            </a:r>
            <a:endParaRPr lang="ko-KR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37947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1F5FAE"/>
                </a:solidFill>
              </a:rPr>
              <a:t>창→창 도약: 층당 </a:t>
            </a:r>
            <a:r>
              <a:rPr lang="ko-KR" altLang="en-US" sz="1050" dirty="0">
                <a:solidFill>
                  <a:srgbClr val="1F5FAE"/>
                </a:solidFill>
              </a:rPr>
              <a:t>p</a:t>
            </a:r>
            <a:r>
              <a:rPr lang="ko-KR" altLang="en-US" sz="1050" baseline="-40000" dirty="0">
                <a:solidFill>
                  <a:srgbClr val="1F5FAE"/>
                </a:solidFill>
              </a:rPr>
              <a:t>L</a:t>
            </a:r>
            <a:r>
              <a:rPr lang="ko-KR" altLang="en-US" sz="1050" dirty="0">
                <a:solidFill>
                  <a:srgbClr val="1F5FAE"/>
                </a:solidFill>
              </a:rPr>
              <a:t>, </a:t>
            </a:r>
            <a:r>
              <a:rPr lang="ko-KR" altLang="en-US" sz="1050" dirty="0">
                <a:solidFill>
                  <a:srgbClr val="1F5FAE"/>
                </a:solidFill>
              </a:rPr>
              <a:t>τ</a:t>
            </a:r>
            <a:r>
              <a:rPr lang="ko-KR" altLang="en-US" sz="1050" baseline="-40000" dirty="0">
                <a:solidFill>
                  <a:srgbClr val="1F5FAE"/>
                </a:solidFill>
              </a:rPr>
              <a:t>L</a:t>
            </a:r>
            <a:endParaRPr lang="ko-KR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383280" y="44165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B35806"/>
                </a:solidFill>
              </a:rPr>
              <a:t>분출화염 (IE1) 또는 외부 화원 (IE2)</a:t>
            </a:r>
            <a:endParaRPr lang="ko-KR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383280" y="50292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1"/>
                </a:solidFill>
              </a:rPr>
              <a:t>진압 </a:t>
            </a:r>
            <a:r>
              <a:rPr lang="ko-KR" altLang="en-US" sz="1050" dirty="0">
                <a:solidFill>
                  <a:schemeClr val="tx1"/>
                </a:solidFill>
              </a:rPr>
              <a:t>T</a:t>
            </a:r>
            <a:r>
              <a:rPr lang="ko-KR" altLang="en-US" sz="1050" baseline="-40000" dirty="0">
                <a:solidFill>
                  <a:schemeClr val="tx1"/>
                </a:solidFill>
              </a:rPr>
              <a:t>FS</a:t>
            </a:r>
            <a:r>
              <a:rPr lang="ko-KR" altLang="en-US" sz="1050" dirty="0">
                <a:solidFill>
                  <a:schemeClr val="tx1"/>
                </a:solidFill>
              </a:rPr>
              <a:t> · 피난 RSET와 경쟁</a:t>
            </a:r>
            <a:endParaRPr lang="ko-KR" sz="1050" dirty="0"/>
          </a:p>
        </p:txBody>
      </p:sp>
      <p:sp>
        <p:nvSpPr>
          <p:cNvPr id="37" name="equations"/>
          <p:cNvSpPr/>
          <p:nvPr/>
        </p:nvSpPr>
        <p:spPr>
          <a:xfrm>
            <a:off x="5715000" y="1691640"/>
            <a:ext cx="6019495" cy="4069080"/>
          </a:xfrm>
          <a:prstGeom prst="roundRect">
            <a:avLst>
              <a:gd name="adj" fmla="val 1798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16168" y="1810512"/>
            <a:ext cx="565373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층당 확산시간  </a:t>
            </a:r>
            <a:r>
              <a:rPr lang="ko-KR" altLang="en-US" sz="1200" dirty="0">
                <a:solidFill>
                  <a:schemeClr val="tx1"/>
                </a:solidFill>
              </a:rPr>
              <a:t>τ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</a:t>
            </a:r>
            <a:r>
              <a:rPr lang="ko-KR" altLang="en-US" sz="1200" dirty="0">
                <a:solidFill>
                  <a:schemeClr val="tx1"/>
                </a:solidFill>
              </a:rPr>
              <a:t> = s ·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00" dirty="0">
                <a:solidFill>
                  <a:schemeClr val="tx1"/>
                </a:solidFill>
              </a:rPr>
              <a:t> · h / 3 m   (s: 실물/시험 보정 0.25–1, 가정)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중공층 경로가 오르는 층 수  </a:t>
            </a:r>
            <a:r>
              <a:rPr lang="ko-KR" altLang="en-US" sz="1200" dirty="0">
                <a:solidFill>
                  <a:schemeClr val="tx1"/>
                </a:solidFill>
              </a:rPr>
              <a:t>n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</a:t>
            </a:r>
            <a:r>
              <a:rPr lang="ko-KR" altLang="en-US" sz="1200" dirty="0">
                <a:solidFill>
                  <a:schemeClr val="tx1"/>
                </a:solidFill>
              </a:rPr>
              <a:t> = 내림[ min(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stop</a:t>
            </a:r>
            <a:r>
              <a:rPr lang="ko-KR" altLang="en-US" sz="1200" dirty="0">
                <a:solidFill>
                  <a:schemeClr val="tx1"/>
                </a:solidFill>
              </a:rPr>
              <a:t>) ÷ </a:t>
            </a:r>
            <a:r>
              <a:rPr lang="ko-KR" altLang="en-US" sz="1200" dirty="0">
                <a:solidFill>
                  <a:schemeClr val="tx1"/>
                </a:solidFill>
              </a:rPr>
              <a:t>τ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</a:t>
            </a:r>
            <a:r>
              <a:rPr lang="ko-KR" altLang="en-US" sz="1200" dirty="0">
                <a:solidFill>
                  <a:schemeClr val="tx1"/>
                </a:solidFill>
              </a:rPr>
              <a:t> ], 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stop</a:t>
            </a:r>
            <a:r>
              <a:rPr lang="ko-KR" altLang="en-US" sz="1200" dirty="0">
                <a:solidFill>
                  <a:schemeClr val="tx1"/>
                </a:solidFill>
              </a:rPr>
              <a:t> =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e</a:t>
            </a:r>
            <a:r>
              <a:rPr lang="ko-KR" altLang="en-US" sz="1200" dirty="0">
                <a:solidFill>
                  <a:schemeClr val="tx1"/>
                </a:solidFill>
              </a:rPr>
              <a:t> (비자립) 또는 ∞ (자립: 플래그 B)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배리어  </a:t>
            </a:r>
            <a:r>
              <a:rPr lang="ko-KR" altLang="en-US" sz="1200" dirty="0">
                <a:solidFill>
                  <a:schemeClr val="tx1"/>
                </a:solidFill>
              </a:rPr>
              <a:t>a</a:t>
            </a:r>
            <a:r>
              <a:rPr lang="ko-KR" altLang="en-US" sz="1200" baseline="-40000" dirty="0">
                <a:solidFill>
                  <a:schemeClr val="tx1"/>
                </a:solidFill>
              </a:rPr>
              <a:t>j</a:t>
            </a:r>
            <a:r>
              <a:rPr lang="ko-KR" altLang="en-US" sz="1200" dirty="0">
                <a:solidFill>
                  <a:schemeClr val="tx1"/>
                </a:solidFill>
              </a:rPr>
              <a:t> = (1 −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cb</a:t>
            </a:r>
            <a:r>
              <a:rPr lang="ko-KR" altLang="en-US" sz="1200" dirty="0">
                <a:solidFill>
                  <a:schemeClr val="tx1"/>
                </a:solidFill>
              </a:rPr>
              <a:t>)</a:t>
            </a:r>
            <a:r>
              <a:rPr lang="ko-KR" altLang="en-US" sz="1200" baseline="30000" dirty="0">
                <a:solidFill>
                  <a:schemeClr val="tx1"/>
                </a:solidFill>
              </a:rPr>
              <a:t>j</a:t>
            </a:r>
            <a:r>
              <a:rPr lang="ko-KR" altLang="en-US" sz="1200" dirty="0">
                <a:solidFill>
                  <a:schemeClr val="tx1"/>
                </a:solidFill>
              </a:rPr>
              <a:t>  (j ≤ </a:t>
            </a:r>
            <a:r>
              <a:rPr lang="ko-KR" altLang="en-US" sz="1200" dirty="0">
                <a:solidFill>
                  <a:schemeClr val="tx1"/>
                </a:solidFill>
              </a:rPr>
              <a:t>n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</a:t>
            </a:r>
            <a:r>
              <a:rPr lang="ko-KR" altLang="en-US" sz="1200" dirty="0">
                <a:solidFill>
                  <a:schemeClr val="tx1"/>
                </a:solidFill>
              </a:rPr>
              <a:t>일 때, 아니면 0) — 층 경계마다 독립으로 막음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창→창 도약  </a:t>
            </a:r>
            <a:r>
              <a:rPr lang="ko-KR" altLang="en-US" sz="1200" dirty="0">
                <a:solidFill>
                  <a:schemeClr val="tx1"/>
                </a:solidFill>
              </a:rPr>
              <a:t>b</a:t>
            </a:r>
            <a:r>
              <a:rPr lang="ko-KR" altLang="en-US" sz="1200" baseline="-40000" dirty="0">
                <a:solidFill>
                  <a:schemeClr val="tx1"/>
                </a:solidFill>
              </a:rPr>
              <a:t>j</a:t>
            </a:r>
            <a:r>
              <a:rPr lang="ko-KR" altLang="en-US" sz="1200" dirty="0">
                <a:solidFill>
                  <a:schemeClr val="tx1"/>
                </a:solidFill>
              </a:rPr>
              <a:t> =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L</a:t>
            </a:r>
            <a:r>
              <a:rPr lang="ko-KR" altLang="en-US" sz="1200" baseline="30000" dirty="0">
                <a:solidFill>
                  <a:schemeClr val="tx1"/>
                </a:solidFill>
              </a:rPr>
              <a:t>j</a:t>
            </a:r>
            <a:r>
              <a:rPr lang="ko-KR" altLang="en-US" sz="1200" dirty="0">
                <a:solidFill>
                  <a:schemeClr val="tx1"/>
                </a:solidFill>
              </a:rPr>
              <a:t>  (j ≤ </a:t>
            </a:r>
            <a:r>
              <a:rPr lang="ko-KR" altLang="en-US" sz="1200" dirty="0">
                <a:solidFill>
                  <a:schemeClr val="tx1"/>
                </a:solidFill>
              </a:rPr>
              <a:t>n</a:t>
            </a:r>
            <a:r>
              <a:rPr lang="ko-KR" altLang="en-US" sz="1200" baseline="-40000" dirty="0">
                <a:solidFill>
                  <a:schemeClr val="tx1"/>
                </a:solidFill>
              </a:rPr>
              <a:t>L</a:t>
            </a:r>
            <a:r>
              <a:rPr lang="ko-KR" altLang="en-US" sz="1200" dirty="0">
                <a:solidFill>
                  <a:schemeClr val="tx1"/>
                </a:solidFill>
              </a:rPr>
              <a:t>일 때), </a:t>
            </a:r>
            <a:r>
              <a:rPr lang="ko-KR" altLang="en-US" sz="1200" dirty="0">
                <a:solidFill>
                  <a:schemeClr val="tx1"/>
                </a:solidFill>
              </a:rPr>
              <a:t>n</a:t>
            </a:r>
            <a:r>
              <a:rPr lang="ko-KR" altLang="en-US" sz="1200" baseline="-40000" dirty="0">
                <a:solidFill>
                  <a:schemeClr val="tx1"/>
                </a:solidFill>
              </a:rPr>
              <a:t>L</a:t>
            </a:r>
            <a:r>
              <a:rPr lang="ko-KR" altLang="en-US" sz="1200" dirty="0">
                <a:solidFill>
                  <a:schemeClr val="tx1"/>
                </a:solidFill>
              </a:rPr>
              <a:t> = 내림[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200" dirty="0">
                <a:solidFill>
                  <a:schemeClr val="tx1"/>
                </a:solidFill>
              </a:rPr>
              <a:t> ÷ </a:t>
            </a:r>
            <a:r>
              <a:rPr lang="ko-KR" altLang="en-US" sz="1200" dirty="0">
                <a:solidFill>
                  <a:schemeClr val="tx1"/>
                </a:solidFill>
              </a:rPr>
              <a:t>τ</a:t>
            </a:r>
            <a:r>
              <a:rPr lang="ko-KR" altLang="en-US" sz="1200" baseline="-40000" dirty="0">
                <a:solidFill>
                  <a:schemeClr val="tx1"/>
                </a:solidFill>
              </a:rPr>
              <a:t>L</a:t>
            </a:r>
            <a:r>
              <a:rPr lang="ko-KR" altLang="en-US" sz="1200" dirty="0">
                <a:solidFill>
                  <a:schemeClr val="tx1"/>
                </a:solidFill>
              </a:rPr>
              <a:t>]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j개 층 이상 확산할 확률  </a:t>
            </a:r>
            <a:r>
              <a:rPr lang="ko-KR" altLang="en-US" sz="1200" dirty="0">
                <a:solidFill>
                  <a:schemeClr val="tx1"/>
                </a:solidFill>
              </a:rPr>
              <a:t>P(n ≥ j) = </a:t>
            </a:r>
            <a:r>
              <a:rPr lang="ko-KR" altLang="en-US" sz="1200" dirty="0">
                <a:solidFill>
                  <a:schemeClr val="tx1"/>
                </a:solidFill>
              </a:rPr>
              <a:t>w</a:t>
            </a:r>
            <a:r>
              <a:rPr lang="ko-KR" altLang="en-US" sz="1200" baseline="-40000" dirty="0">
                <a:solidFill>
                  <a:schemeClr val="tx1"/>
                </a:solidFill>
              </a:rPr>
              <a:t>j</a:t>
            </a:r>
            <a:r>
              <a:rPr lang="ko-KR" altLang="en-US" sz="1200" dirty="0">
                <a:solidFill>
                  <a:schemeClr val="tx1"/>
                </a:solidFill>
              </a:rPr>
              <a:t> [1 − (1 − </a:t>
            </a:r>
            <a:r>
              <a:rPr lang="ko-KR" altLang="en-US" sz="1200" dirty="0">
                <a:solidFill>
                  <a:schemeClr val="tx1"/>
                </a:solidFill>
              </a:rPr>
              <a:t>a</a:t>
            </a:r>
            <a:r>
              <a:rPr lang="ko-KR" altLang="en-US" sz="1200" baseline="-40000" dirty="0">
                <a:solidFill>
                  <a:schemeClr val="tx1"/>
                </a:solidFill>
              </a:rPr>
              <a:t>j</a:t>
            </a:r>
            <a:r>
              <a:rPr lang="ko-KR" altLang="en-US" sz="1200" dirty="0">
                <a:solidFill>
                  <a:schemeClr val="tx1"/>
                </a:solidFill>
              </a:rPr>
              <a:t>)(1 − </a:t>
            </a:r>
            <a:r>
              <a:rPr lang="ko-KR" altLang="en-US" sz="1200" dirty="0">
                <a:solidFill>
                  <a:schemeClr val="tx1"/>
                </a:solidFill>
              </a:rPr>
              <a:t>b</a:t>
            </a:r>
            <a:r>
              <a:rPr lang="ko-KR" altLang="en-US" sz="1200" baseline="-40000" dirty="0">
                <a:solidFill>
                  <a:schemeClr val="tx1"/>
                </a:solidFill>
              </a:rPr>
              <a:t>j</a:t>
            </a:r>
            <a:r>
              <a:rPr lang="ko-KR" altLang="en-US" sz="1200" dirty="0">
                <a:solidFill>
                  <a:schemeClr val="tx1"/>
                </a:solidFill>
              </a:rPr>
              <a:t>)],  </a:t>
            </a:r>
            <a:r>
              <a:rPr lang="ko-KR" altLang="en-US" sz="1200" dirty="0">
                <a:solidFill>
                  <a:schemeClr val="tx1"/>
                </a:solidFill>
              </a:rPr>
              <a:t>w</a:t>
            </a:r>
            <a:r>
              <a:rPr lang="ko-KR" altLang="en-US" sz="1200" baseline="-40000" dirty="0">
                <a:solidFill>
                  <a:schemeClr val="tx1"/>
                </a:solidFill>
              </a:rPr>
              <a:t>j</a:t>
            </a:r>
            <a:r>
              <a:rPr lang="ko-KR" altLang="en-US" sz="1200" dirty="0">
                <a:solidFill>
                  <a:schemeClr val="tx1"/>
                </a:solidFill>
              </a:rPr>
              <a:t> = (N − j)/N (IE1) 또는 1 (IE2)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노출 인원  </a:t>
            </a:r>
            <a:r>
              <a:rPr lang="ko-KR" altLang="en-US" sz="1200" dirty="0">
                <a:solidFill>
                  <a:schemeClr val="tx1"/>
                </a:solidFill>
              </a:rPr>
              <a:t>층 j에 먼저 닿은 경로의 도달시각 &lt; RSET → 그 층의 </a:t>
            </a:r>
            <a:r>
              <a:rPr lang="ko-KR" altLang="en-US" sz="1200" dirty="0">
                <a:solidFill>
                  <a:schemeClr val="tx1"/>
                </a:solidFill>
              </a:rPr>
              <a:t>n</a:t>
            </a:r>
            <a:r>
              <a:rPr lang="ko-KR" altLang="en-US" sz="1200" baseline="-40000" dirty="0">
                <a:solidFill>
                  <a:schemeClr val="tx1"/>
                </a:solidFill>
              </a:rPr>
              <a:t>a</a:t>
            </a:r>
            <a:r>
              <a:rPr lang="ko-KR" altLang="en-US" sz="1200" dirty="0">
                <a:solidFill>
                  <a:schemeClr val="tx1"/>
                </a:solidFill>
              </a:rPr>
              <a:t> × 세대당 재실자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기존 제안과의 관계  </a:t>
            </a:r>
            <a:r>
              <a:rPr lang="ko-KR" altLang="en-US" sz="1200" dirty="0">
                <a:solidFill>
                  <a:schemeClr val="tx1"/>
                </a:solidFill>
              </a:rPr>
              <a:t>FRI =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ref</a:t>
            </a:r>
            <a:r>
              <a:rPr lang="ko-KR" altLang="en-US" sz="1200" dirty="0">
                <a:solidFill>
                  <a:schemeClr val="tx1"/>
                </a:solidFill>
              </a:rPr>
              <a:t> /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00" dirty="0">
                <a:solidFill>
                  <a:schemeClr val="tx1"/>
                </a:solidFill>
              </a:rPr>
              <a:t>(기준시간 동안 오르는 층 수) →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ref</a:t>
            </a:r>
            <a:r>
              <a:rPr lang="ko-KR" altLang="en-US" sz="1200" dirty="0">
                <a:solidFill>
                  <a:schemeClr val="tx1"/>
                </a:solidFill>
              </a:rPr>
              <a:t> 대신 진압 시각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200" dirty="0">
                <a:solidFill>
                  <a:schemeClr val="tx1"/>
                </a:solidFill>
              </a:rPr>
              <a:t>와 확률적으로 경쟁</a:t>
            </a:r>
            <a:endParaRPr lang="ko-KR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587044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결과는 ‘외벽 노출 사건 1회당 기대값’입니다. 같은 식이 계산서 4_결과모델에 셀 수식(SUMPRODUCT)으로 들어 있어 값을 바꿔 가며 확인할 수 있습니다.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7 · 시험 자료가 결과 모델에 들어가는 방식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재료는 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(층당 확산시간)과 플래그 B(자립 연소)로만 들어감 — 외벽 노출 1회당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확산 층 수: PIR(PUR) 가연성 7.0, PF 내부용 2.6, 다른 준불연 0.7–0.9</a:t>
            </a:r>
            <a:endParaRPr lang="ko-KR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685800"/>
                <a:gridCol w="1600200"/>
                <a:gridCol w="1554480"/>
                <a:gridCol w="1600200"/>
                <a:gridCol w="1783080"/>
                <a:gridCol w="914400"/>
                <a:gridCol w="126461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재료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등급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시험 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600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 (s)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τ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 (s), s = 0.5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자립 연소 k/n → 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r>
                        <a:rPr lang="ko-KR" altLang="en-US" sz="1100" b="1" baseline="-40000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E[확산 층 수]</a:t>
                      </a:r>
                      <a:endParaRPr lang="ko-KR" sz="110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배리어 없음 / 있음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P(n ≥ 2)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E[노출 인원]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불연 단열재(기준안)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불연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중공층 경로 없음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0.14 (도약만)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0.7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EPS 준불연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sc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962 / 미도달 / 975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481 / ∞ / 488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0/3 → 0.125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0.67 / 0.30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3.3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PIR(PUR) 가연성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31 / 29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16 / 15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0/2 → 0.167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7.00 / 인정 안 함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0.87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35.0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PIR(PUR) 준불연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sc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1068 / 1091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534 / 546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0/2 → 0.167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0.93 / 0.38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4.7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 준불연 외부용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sc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1245 / 1455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623 / 728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2/2 → 0.833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0.93 / 0.38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0.00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4.7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 준불연 내부용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sc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556 / 472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278 / 236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1/2 → 0.500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2.60 / 0.48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0.87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13.0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4B5563"/>
                          </a:solidFill>
                        </a:rPr>
                        <a:t>EPS 가연성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c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4B5563"/>
                          </a:solidFill>
                        </a:rPr>
                        <a:t>기록 240 / 262 s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4B5563"/>
                          </a:solidFill>
                        </a:rPr>
                        <a:t>산정 불가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4B5563"/>
                          </a:solidFill>
                        </a:rPr>
                        <a:t>정량평가 제외 — 30분 기록으로 재시험 필요 (6.2.1.3 자료 부족)</a:t>
                      </a:r>
                      <a:endParaRPr lang="ko-KR" sz="11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9184" y="2295144"/>
            <a:ext cx="73152" cy="274320"/>
          </a:xfrm>
          <a:prstGeom prst="rect">
            <a:avLst/>
          </a:prstGeom>
          <a:solidFill>
            <a:srgbClr val="8A8F98"/>
          </a:solidFill>
          <a:ln w="6350">
            <a:solidFill>
              <a:srgbClr val="8A8F9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9184" y="2679192"/>
            <a:ext cx="73152" cy="274320"/>
          </a:xfrm>
          <a:prstGeom prst="rect">
            <a:avLst/>
          </a:prstGeom>
          <a:solidFill>
            <a:srgbClr val="E87BA4"/>
          </a:solidFill>
          <a:ln w="6350">
            <a:solidFill>
              <a:srgbClr val="E87BA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9184" y="3063240"/>
            <a:ext cx="73152" cy="274320"/>
          </a:xfrm>
          <a:prstGeom prst="rect">
            <a:avLst/>
          </a:prstGeom>
          <a:solidFill>
            <a:srgbClr val="6250D6"/>
          </a:solidFill>
          <a:ln w="6350">
            <a:solidFill>
              <a:srgbClr val="6250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9184" y="3447288"/>
            <a:ext cx="73152" cy="274320"/>
          </a:xfrm>
          <a:prstGeom prst="rect">
            <a:avLst/>
          </a:prstGeom>
          <a:solidFill>
            <a:srgbClr val="008300"/>
          </a:solidFill>
          <a:ln w="6350">
            <a:solidFill>
              <a:srgbClr val="0083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" y="3831336"/>
            <a:ext cx="73152" cy="274320"/>
          </a:xfrm>
          <a:prstGeom prst="rect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" y="4215384"/>
            <a:ext cx="73152" cy="274320"/>
          </a:xfrm>
          <a:prstGeom prst="rect">
            <a:avLst/>
          </a:prstGeom>
          <a:solidFill>
            <a:srgbClr val="E34948"/>
          </a:solidFill>
          <a:ln w="6350">
            <a:solidFill>
              <a:srgbClr val="E349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0749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E[확산 층 수]·P(n ≥ 2)·E[노출 인원]: IE1(세대 화재) 외벽 노출 1회당, 점추정(</a:t>
            </a:r>
            <a:r>
              <a:rPr lang="ko-KR" altLang="en-US" sz="1100" dirty="0">
                <a:solidFill>
                  <a:schemeClr val="tx2"/>
                </a:solidFill>
              </a:rPr>
              <a:t>T</a:t>
            </a:r>
            <a:r>
              <a:rPr lang="ko-KR" altLang="en-US" sz="1100" baseline="-40000" dirty="0">
                <a:solidFill>
                  <a:schemeClr val="tx2"/>
                </a:solidFill>
              </a:rPr>
              <a:t>FS</a:t>
            </a:r>
            <a:r>
              <a:rPr lang="ko-KR" altLang="en-US" sz="1100" dirty="0">
                <a:solidFill>
                  <a:schemeClr val="tx2"/>
                </a:solidFill>
              </a:rPr>
              <a:t> = RSET = 15분, 분출 지속 20분, </a:t>
            </a:r>
            <a:r>
              <a:rPr lang="ko-KR" altLang="en-US" sz="1100" dirty="0">
                <a:solidFill>
                  <a:schemeClr val="tx2"/>
                </a:solidFill>
              </a:rPr>
              <a:t>τ</a:t>
            </a:r>
            <a:r>
              <a:rPr lang="ko-KR" altLang="en-US" sz="1100" baseline="-40000" dirty="0">
                <a:solidFill>
                  <a:schemeClr val="tx2"/>
                </a:solidFill>
              </a:rPr>
              <a:t>L</a:t>
            </a:r>
            <a:r>
              <a:rPr lang="ko-KR" altLang="en-US" sz="1100" dirty="0">
                <a:solidFill>
                  <a:schemeClr val="tx2"/>
                </a:solidFill>
              </a:rPr>
              <a:t> = 12분), 발화층 15개 층 균등, 노출 인원은 층당 5명(2세대 × 2.5명) 기준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p</a:t>
            </a:r>
            <a:r>
              <a:rPr lang="ko-KR" altLang="en-US" sz="1100" baseline="-40000" dirty="0">
                <a:solidFill>
                  <a:schemeClr val="tx2"/>
                </a:solidFill>
              </a:rPr>
              <a:t>B</a:t>
            </a:r>
            <a:r>
              <a:rPr lang="ko-KR" altLang="en-US" sz="1100" dirty="0">
                <a:solidFill>
                  <a:schemeClr val="tx2"/>
                </a:solidFill>
              </a:rPr>
              <a:t> = (k + ½)/(n + 1): 반복 2–3회에서 0/2를 ‘절대 안 됨’으로, 2/2를 ‘항상’으로 단정하지 않기 위한 추정(Jeffreys) · EPS 준불연 #2는 30분 안에 3000 mm 600 K에 이르지 않아 ‘다음 층으로 오르지 않는 사건’으로 넣음</a:t>
            </a:r>
            <a:endParaRPr lang="ko-KR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9436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가연성 등급의 ‘배리어 있음’은 인정 안 함: 3 m 중공층이 30 s 만에 전면 화염이 된 재료에 배리어가 듣는다는 시험 근거가 없음(5.1.4.5 신뢰도·효과).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8 · 위험도 산정 — R = Σ F·C를 한 재료로 손계산 (8.2.1.2 단계별 확인)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PF 준불연 내부용(스프링클러 설치, 대책 없음): </a:t>
            </a:r>
            <a:r>
              <a:rPr lang="ko-KR" altLang="en-US" sz="2000" b="1" dirty="0">
                <a:solidFill>
                  <a:schemeClr val="tx1"/>
                </a:solidFill>
              </a:rPr>
              <a:t>R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S</a:t>
            </a:r>
            <a:r>
              <a:rPr lang="ko-KR" altLang="en-US" sz="2000" b="1" dirty="0">
                <a:solidFill>
                  <a:schemeClr val="tx1"/>
                </a:solidFill>
              </a:rPr>
              <a:t> = 1.8×10</a:t>
            </a:r>
            <a:r>
              <a:rPr lang="ko-KR" altLang="en-US" sz="2000" b="1" baseline="30000" dirty="0">
                <a:solidFill>
                  <a:schemeClr val="tx1"/>
                </a:solidFill>
              </a:rPr>
              <a:t>−3</a:t>
            </a:r>
            <a:r>
              <a:rPr lang="ko-KR" altLang="en-US" sz="2000" b="1" dirty="0">
                <a:solidFill>
                  <a:schemeClr val="tx1"/>
                </a:solidFill>
              </a:rPr>
              <a:t>층/동·년,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F(n ≥ 2) = 6.4×10</a:t>
            </a:r>
            <a:r>
              <a:rPr lang="ko-KR" altLang="en-US" sz="2000" b="1" baseline="30000" dirty="0">
                <a:solidFill>
                  <a:schemeClr val="tx1"/>
                </a:solidFill>
              </a:rPr>
              <a:t>−4</a:t>
            </a:r>
            <a:r>
              <a:rPr lang="ko-KR" altLang="en-US" sz="2000" b="1" dirty="0">
                <a:solidFill>
                  <a:schemeClr val="tx1"/>
                </a:solidFill>
              </a:rPr>
              <a:t>/동·년 → 예시 기준의 6배, 83 %가 외부 발화원(IE2)</a:t>
            </a:r>
            <a:endParaRPr lang="ko-KR" sz="2000" dirty="0"/>
          </a:p>
        </p:txBody>
      </p:sp>
      <p:sp>
        <p:nvSpPr>
          <p:cNvPr id="4" name="hand calculation"/>
          <p:cNvSpPr/>
          <p:nvPr/>
        </p:nvSpPr>
        <p:spPr>
          <a:xfrm>
            <a:off x="457200" y="1691640"/>
            <a:ext cx="6720840" cy="4114800"/>
          </a:xfrm>
          <a:prstGeom prst="roundRect">
            <a:avLst>
              <a:gd name="adj" fmla="val 1778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10512"/>
            <a:ext cx="6309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① </a:t>
            </a:r>
            <a:r>
              <a:rPr lang="ko-KR" altLang="en-US" sz="1250" b="1" dirty="0">
                <a:solidFill>
                  <a:schemeClr val="tx1"/>
                </a:solidFill>
              </a:rPr>
              <a:t>F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1</a:t>
            </a:r>
            <a:r>
              <a:rPr lang="ko-KR" altLang="en-US" sz="1250" b="1" dirty="0">
                <a:solidFill>
                  <a:schemeClr val="tx1"/>
                </a:solidFill>
              </a:rPr>
              <a:t> </a:t>
            </a:r>
            <a:r>
              <a:rPr lang="ko-KR" altLang="en-US" sz="1250" dirty="0">
                <a:solidFill>
                  <a:schemeClr val="tx1"/>
                </a:solidFill>
              </a:rPr>
              <a:t>= </a:t>
            </a:r>
            <a:r>
              <a:rPr lang="ko-KR" altLang="en-US" sz="1250" dirty="0">
                <a:solidFill>
                  <a:schemeClr val="tx1"/>
                </a:solidFill>
              </a:rPr>
              <a:t>λ</a:t>
            </a:r>
            <a:r>
              <a:rPr lang="ko-KR" altLang="en-US" sz="1250" baseline="-40000" dirty="0">
                <a:solidFill>
                  <a:schemeClr val="tx1"/>
                </a:solidFill>
              </a:rPr>
              <a:t>1</a:t>
            </a:r>
            <a:r>
              <a:rPr lang="ko-KR" altLang="en-US" sz="1250" dirty="0">
                <a:solidFill>
                  <a:schemeClr val="tx1"/>
                </a:solidFill>
              </a:rPr>
              <a:t> · U · (1 − </a:t>
            </a:r>
            <a:r>
              <a:rPr lang="ko-KR" altLang="en-US" sz="1250" dirty="0">
                <a:solidFill>
                  <a:schemeClr val="tx1"/>
                </a:solidFill>
              </a:rPr>
              <a:t>p</a:t>
            </a:r>
            <a:r>
              <a:rPr lang="ko-KR" altLang="en-US" sz="1250" baseline="-40000" dirty="0">
                <a:solidFill>
                  <a:schemeClr val="tx1"/>
                </a:solidFill>
              </a:rPr>
              <a:t>s</a:t>
            </a:r>
            <a:r>
              <a:rPr lang="ko-KR" altLang="en-US" sz="1250" dirty="0">
                <a:solidFill>
                  <a:schemeClr val="tx1"/>
                </a:solidFill>
              </a:rPr>
              <a:t>) · </a:t>
            </a:r>
            <a:r>
              <a:rPr lang="ko-KR" altLang="en-US" sz="1250" dirty="0">
                <a:solidFill>
                  <a:schemeClr val="tx1"/>
                </a:solidFill>
              </a:rPr>
              <a:t>p</a:t>
            </a:r>
            <a:r>
              <a:rPr lang="ko-KR" altLang="en-US" sz="1250" baseline="-40000" dirty="0">
                <a:solidFill>
                  <a:schemeClr val="tx1"/>
                </a:solidFill>
              </a:rPr>
              <a:t>FO</a:t>
            </a:r>
            <a:r>
              <a:rPr lang="ko-KR" altLang="en-US" sz="1250" dirty="0">
                <a:solidFill>
                  <a:schemeClr val="tx1"/>
                </a:solidFill>
              </a:rPr>
              <a:t> · </a:t>
            </a:r>
            <a:r>
              <a:rPr lang="ko-KR" altLang="en-US" sz="1250" dirty="0">
                <a:solidFill>
                  <a:schemeClr val="tx1"/>
                </a:solidFill>
              </a:rPr>
              <a:t>p</a:t>
            </a:r>
            <a:r>
              <a:rPr lang="ko-KR" altLang="en-US" sz="1250" baseline="-40000" dirty="0">
                <a:solidFill>
                  <a:schemeClr val="tx1"/>
                </a:solidFill>
              </a:rPr>
              <a:t>v</a:t>
            </a:r>
            <a:r>
              <a:rPr lang="ko-KR" altLang="en-US" sz="1250" dirty="0">
                <a:solidFill>
                  <a:schemeClr val="tx1"/>
                </a:solidFill>
              </a:rPr>
              <a:t> = </a:t>
            </a:r>
            <a:r>
              <a:rPr lang="ko-KR" altLang="en-US" sz="1250" dirty="0">
                <a:solidFill>
                  <a:schemeClr val="tx1"/>
                </a:solidFill>
              </a:rPr>
              <a:t>2.0×10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× 60 × 0.10 × 0.15 × 0.70 = </a:t>
            </a:r>
            <a:r>
              <a:rPr lang="ko-KR" altLang="en-US" sz="1250" dirty="0">
                <a:solidFill>
                  <a:schemeClr val="tx1"/>
                </a:solidFill>
              </a:rPr>
              <a:t>1.26×10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/년</a:t>
            </a:r>
            <a:endParaRPr lang="ko-KR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② </a:t>
            </a:r>
            <a:r>
              <a:rPr lang="ko-KR" altLang="en-US" sz="1250" b="1" dirty="0">
                <a:solidFill>
                  <a:schemeClr val="tx1"/>
                </a:solidFill>
              </a:rPr>
              <a:t>F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b="1" dirty="0">
                <a:solidFill>
                  <a:schemeClr val="tx1"/>
                </a:solidFill>
              </a:rPr>
              <a:t> </a:t>
            </a:r>
            <a:r>
              <a:rPr lang="ko-KR" altLang="en-US" sz="1250" dirty="0">
                <a:solidFill>
                  <a:schemeClr val="tx1"/>
                </a:solidFill>
              </a:rPr>
              <a:t>= </a:t>
            </a:r>
            <a:r>
              <a:rPr lang="ko-KR" altLang="en-US" sz="1250" dirty="0">
                <a:solidFill>
                  <a:schemeClr val="tx1"/>
                </a:solidFill>
              </a:rPr>
              <a:t>λ</a:t>
            </a:r>
            <a:r>
              <a:rPr lang="ko-KR" altLang="en-US" sz="1250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dirty="0">
                <a:solidFill>
                  <a:schemeClr val="tx1"/>
                </a:solidFill>
              </a:rPr>
              <a:t> · </a:t>
            </a:r>
            <a:r>
              <a:rPr lang="ko-KR" altLang="en-US" sz="1250" dirty="0">
                <a:solidFill>
                  <a:schemeClr val="tx1"/>
                </a:solidFill>
              </a:rPr>
              <a:t>p</a:t>
            </a:r>
            <a:r>
              <a:rPr lang="ko-KR" altLang="en-US" sz="1250" baseline="-40000" dirty="0">
                <a:solidFill>
                  <a:schemeClr val="tx1"/>
                </a:solidFill>
              </a:rPr>
              <a:t>x</a:t>
            </a:r>
            <a:r>
              <a:rPr lang="ko-KR" altLang="en-US" sz="1250" dirty="0">
                <a:solidFill>
                  <a:schemeClr val="tx1"/>
                </a:solidFill>
              </a:rPr>
              <a:t> = </a:t>
            </a:r>
            <a:r>
              <a:rPr lang="ko-KR" altLang="en-US" sz="1250" dirty="0">
                <a:solidFill>
                  <a:schemeClr val="tx1"/>
                </a:solidFill>
              </a:rPr>
              <a:t>2.0×10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−3</a:t>
            </a:r>
            <a:r>
              <a:rPr lang="ko-KR" altLang="en-US" sz="1250" dirty="0">
                <a:solidFill>
                  <a:schemeClr val="tx1"/>
                </a:solidFill>
              </a:rPr>
              <a:t> × 0.30 = </a:t>
            </a:r>
            <a:r>
              <a:rPr lang="ko-KR" altLang="en-US" sz="1250" dirty="0">
                <a:solidFill>
                  <a:schemeClr val="tx1"/>
                </a:solidFill>
              </a:rPr>
              <a:t>6.00×10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/년</a:t>
            </a:r>
            <a:endParaRPr lang="ko-KR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③ C </a:t>
            </a:r>
            <a:r>
              <a:rPr lang="ko-KR" altLang="en-US" sz="1250" dirty="0">
                <a:solidFill>
                  <a:schemeClr val="tx1"/>
                </a:solidFill>
              </a:rPr>
              <a:t>(노출 1회당 확산 층 수, 4_결과모델): IE1 외벽+도약 2.600 · 도약만 0.140 · IE2 외벽 2.750</a:t>
            </a:r>
            <a:endParaRPr lang="ko-KR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④ </a:t>
            </a:r>
            <a:r>
              <a:rPr lang="ko-KR" altLang="en-US" sz="1250" b="1" dirty="0">
                <a:solidFill>
                  <a:schemeClr val="tx1"/>
                </a:solidFill>
              </a:rPr>
              <a:t>R</a:t>
            </a:r>
            <a:r>
              <a:rPr lang="ko-KR" altLang="en-US" sz="1250" b="1" baseline="-40000" dirty="0">
                <a:solidFill>
                  <a:schemeClr val="tx1"/>
                </a:solidFill>
              </a:rPr>
              <a:t>S</a:t>
            </a:r>
            <a:r>
              <a:rPr lang="ko-KR" altLang="en-US" sz="1250" b="1" dirty="0">
                <a:solidFill>
                  <a:schemeClr val="tx1"/>
                </a:solidFill>
              </a:rPr>
              <a:t> </a:t>
            </a:r>
            <a:r>
              <a:rPr lang="ko-KR" altLang="en-US" sz="1250" dirty="0">
                <a:solidFill>
                  <a:schemeClr val="tx1"/>
                </a:solidFill>
              </a:rPr>
              <a:t>= </a:t>
            </a:r>
            <a:r>
              <a:rPr lang="ko-KR" altLang="en-US" sz="1250" dirty="0">
                <a:solidFill>
                  <a:schemeClr val="tx1"/>
                </a:solidFill>
              </a:rPr>
              <a:t>F</a:t>
            </a:r>
            <a:r>
              <a:rPr lang="ko-KR" altLang="en-US" sz="1250" baseline="-40000" dirty="0">
                <a:solidFill>
                  <a:schemeClr val="tx1"/>
                </a:solidFill>
              </a:rPr>
              <a:t>1</a:t>
            </a:r>
            <a:r>
              <a:rPr lang="ko-KR" altLang="en-US" sz="1250" dirty="0">
                <a:solidFill>
                  <a:schemeClr val="tx1"/>
                </a:solidFill>
              </a:rPr>
              <a:t> [</a:t>
            </a:r>
            <a:r>
              <a:rPr lang="ko-KR" altLang="en-US" sz="1250" dirty="0">
                <a:solidFill>
                  <a:schemeClr val="tx1"/>
                </a:solidFill>
              </a:rPr>
              <a:t>p</a:t>
            </a:r>
            <a:r>
              <a:rPr lang="ko-KR" altLang="en-US" sz="1250" baseline="-40000" dirty="0">
                <a:solidFill>
                  <a:schemeClr val="tx1"/>
                </a:solidFill>
              </a:rPr>
              <a:t>e</a:t>
            </a:r>
            <a:r>
              <a:rPr lang="ko-KR" altLang="en-US" sz="1250" dirty="0">
                <a:solidFill>
                  <a:schemeClr val="tx1"/>
                </a:solidFill>
              </a:rPr>
              <a:t> </a:t>
            </a:r>
            <a:r>
              <a:rPr lang="ko-KR" altLang="en-US" sz="1250" dirty="0">
                <a:solidFill>
                  <a:schemeClr val="tx1"/>
                </a:solidFill>
              </a:rPr>
              <a:t>C</a:t>
            </a:r>
            <a:r>
              <a:rPr lang="ko-KR" altLang="en-US" sz="1250" baseline="-40000" dirty="0">
                <a:solidFill>
                  <a:schemeClr val="tx1"/>
                </a:solidFill>
              </a:rPr>
              <a:t>1</a:t>
            </a:r>
            <a:r>
              <a:rPr lang="ko-KR" altLang="en-US" sz="1250" dirty="0">
                <a:solidFill>
                  <a:schemeClr val="tx1"/>
                </a:solidFill>
              </a:rPr>
              <a:t> + (1 − </a:t>
            </a:r>
            <a:r>
              <a:rPr lang="ko-KR" altLang="en-US" sz="1250" dirty="0">
                <a:solidFill>
                  <a:schemeClr val="tx1"/>
                </a:solidFill>
              </a:rPr>
              <a:t>p</a:t>
            </a:r>
            <a:r>
              <a:rPr lang="ko-KR" altLang="en-US" sz="1250" baseline="-40000" dirty="0">
                <a:solidFill>
                  <a:schemeClr val="tx1"/>
                </a:solidFill>
              </a:rPr>
              <a:t>e</a:t>
            </a:r>
            <a:r>
              <a:rPr lang="ko-KR" altLang="en-US" sz="1250" dirty="0">
                <a:solidFill>
                  <a:schemeClr val="tx1"/>
                </a:solidFill>
              </a:rPr>
              <a:t>) </a:t>
            </a:r>
            <a:r>
              <a:rPr lang="ko-KR" altLang="en-US" sz="1250" dirty="0">
                <a:solidFill>
                  <a:schemeClr val="tx1"/>
                </a:solidFill>
              </a:rPr>
              <a:t>C</a:t>
            </a:r>
            <a:r>
              <a:rPr lang="ko-KR" altLang="en-US" sz="1250" baseline="-40000" dirty="0">
                <a:solidFill>
                  <a:schemeClr val="tx1"/>
                </a:solidFill>
              </a:rPr>
              <a:t>L</a:t>
            </a:r>
            <a:r>
              <a:rPr lang="ko-KR" altLang="en-US" sz="1250" dirty="0">
                <a:solidFill>
                  <a:schemeClr val="tx1"/>
                </a:solidFill>
              </a:rPr>
              <a:t>] + </a:t>
            </a:r>
            <a:r>
              <a:rPr lang="ko-KR" altLang="en-US" sz="1250" dirty="0">
                <a:solidFill>
                  <a:schemeClr val="tx1"/>
                </a:solidFill>
              </a:rPr>
              <a:t>F</a:t>
            </a:r>
            <a:r>
              <a:rPr lang="ko-KR" altLang="en-US" sz="1250" baseline="-40000" dirty="0">
                <a:solidFill>
                  <a:schemeClr val="tx1"/>
                </a:solidFill>
              </a:rPr>
              <a:t>2</a:t>
            </a:r>
            <a:r>
              <a:rPr lang="ko-KR" altLang="en-US" sz="1250" dirty="0">
                <a:solidFill>
                  <a:schemeClr val="tx1"/>
                </a:solidFill>
              </a:rPr>
              <a:t> </a:t>
            </a:r>
            <a:r>
              <a:rPr lang="ko-KR" altLang="en-US" sz="1250" dirty="0">
                <a:solidFill>
                  <a:schemeClr val="tx1"/>
                </a:solidFill>
              </a:rPr>
              <a:t>p</a:t>
            </a:r>
            <a:r>
              <a:rPr lang="ko-KR" altLang="en-US" sz="1250" baseline="-40000" dirty="0">
                <a:solidFill>
                  <a:schemeClr val="tx1"/>
                </a:solidFill>
              </a:rPr>
              <a:t>e</a:t>
            </a:r>
            <a:r>
              <a:rPr lang="ko-KR" altLang="en-US" sz="1250" dirty="0">
                <a:solidFill>
                  <a:schemeClr val="tx1"/>
                </a:solidFill>
              </a:rPr>
              <a:t> </a:t>
            </a:r>
            <a:r>
              <a:rPr lang="ko-KR" altLang="en-US" sz="1250" dirty="0">
                <a:solidFill>
                  <a:schemeClr val="tx1"/>
                </a:solidFill>
              </a:rPr>
              <a:t>C</a:t>
            </a:r>
            <a:r>
              <a:rPr lang="ko-KR" altLang="en-US" sz="1250" baseline="-40000" dirty="0">
                <a:solidFill>
                  <a:schemeClr val="tx1"/>
                </a:solidFill>
              </a:rPr>
              <a:t>2</a:t>
            </a:r>
            <a:endParaRPr lang="ko-KR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      = </a:t>
            </a:r>
            <a:r>
              <a:rPr lang="ko-KR" altLang="en-US" sz="1250" dirty="0">
                <a:solidFill>
                  <a:schemeClr val="tx1"/>
                </a:solidFill>
              </a:rPr>
              <a:t>1.26×10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× (0.9 × 2.600 + 0.1 × 0.140) + </a:t>
            </a:r>
            <a:r>
              <a:rPr lang="ko-KR" altLang="en-US" sz="1250" dirty="0">
                <a:solidFill>
                  <a:schemeClr val="tx1"/>
                </a:solidFill>
              </a:rPr>
              <a:t>6.0×10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× 0.9 × 2.750</a:t>
            </a:r>
            <a:endParaRPr lang="ko-KR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dirty="0">
                <a:solidFill>
                  <a:schemeClr val="tx1"/>
                </a:solidFill>
              </a:rPr>
              <a:t>      = </a:t>
            </a:r>
            <a:r>
              <a:rPr lang="ko-KR" altLang="en-US" sz="1250" dirty="0">
                <a:solidFill>
                  <a:schemeClr val="tx1"/>
                </a:solidFill>
              </a:rPr>
              <a:t>2.97×10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+ </a:t>
            </a:r>
            <a:r>
              <a:rPr lang="ko-KR" altLang="en-US" sz="1250" dirty="0">
                <a:solidFill>
                  <a:schemeClr val="tx1"/>
                </a:solidFill>
              </a:rPr>
              <a:t>1.48×10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−3</a:t>
            </a:r>
            <a:r>
              <a:rPr lang="ko-KR" altLang="en-US" sz="1250" dirty="0">
                <a:solidFill>
                  <a:schemeClr val="tx1"/>
                </a:solidFill>
              </a:rPr>
              <a:t> = </a:t>
            </a:r>
            <a:r>
              <a:rPr lang="ko-KR" altLang="en-US" sz="1250" b="1" dirty="0">
                <a:solidFill>
                  <a:schemeClr val="tx1"/>
                </a:solidFill>
              </a:rPr>
              <a:t>1.78×10</a:t>
            </a:r>
            <a:r>
              <a:rPr lang="ko-KR" altLang="en-US" sz="1250" b="1" baseline="30000" dirty="0">
                <a:solidFill>
                  <a:schemeClr val="tx1"/>
                </a:solidFill>
              </a:rPr>
              <a:t>−3</a:t>
            </a:r>
            <a:r>
              <a:rPr lang="ko-KR" altLang="en-US" sz="1250" b="1" dirty="0">
                <a:solidFill>
                  <a:schemeClr val="tx1"/>
                </a:solidFill>
              </a:rPr>
              <a:t> 층/동·년</a:t>
            </a:r>
            <a:endParaRPr lang="ko-KR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⑤ F(n ≥ 2) </a:t>
            </a:r>
            <a:r>
              <a:rPr lang="ko-KR" altLang="en-US" sz="1250" dirty="0">
                <a:solidFill>
                  <a:schemeClr val="tx1"/>
                </a:solidFill>
              </a:rPr>
              <a:t>= </a:t>
            </a:r>
            <a:r>
              <a:rPr lang="ko-KR" altLang="en-US" sz="1250" dirty="0">
                <a:solidFill>
                  <a:schemeClr val="tx1"/>
                </a:solidFill>
              </a:rPr>
              <a:t>1.26×10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× 0.9 × 0.867 + </a:t>
            </a:r>
            <a:r>
              <a:rPr lang="ko-KR" altLang="en-US" sz="1250" dirty="0">
                <a:solidFill>
                  <a:schemeClr val="tx1"/>
                </a:solidFill>
              </a:rPr>
              <a:t>6.0×10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× 0.9 × 1.000 = </a:t>
            </a:r>
            <a:r>
              <a:rPr lang="ko-KR" altLang="en-US" sz="1250" b="1" dirty="0">
                <a:solidFill>
                  <a:schemeClr val="tx1"/>
                </a:solidFill>
              </a:rPr>
              <a:t>6.38×10</a:t>
            </a:r>
            <a:r>
              <a:rPr lang="ko-KR" altLang="en-US" sz="1250" b="1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/년</a:t>
            </a:r>
            <a:endParaRPr lang="ko-KR" sz="125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⑥ 판정(점추정) </a:t>
            </a:r>
            <a:r>
              <a:rPr lang="ko-KR" altLang="en-US" sz="1250" dirty="0">
                <a:solidFill>
                  <a:schemeClr val="tx1"/>
                </a:solidFill>
              </a:rPr>
              <a:t>6.4×10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&gt; </a:t>
            </a:r>
            <a:r>
              <a:rPr lang="ko-KR" altLang="en-US" sz="1250" dirty="0">
                <a:solidFill>
                  <a:schemeClr val="tx1"/>
                </a:solidFill>
              </a:rPr>
              <a:t>1×10</a:t>
            </a:r>
            <a:r>
              <a:rPr lang="ko-KR" altLang="en-US" sz="12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250" dirty="0">
                <a:solidFill>
                  <a:schemeClr val="tx1"/>
                </a:solidFill>
              </a:rPr>
              <a:t> → 불충족 · IE2 비중 </a:t>
            </a:r>
            <a:r>
              <a:rPr lang="ko-KR" altLang="en-US" sz="1250" dirty="0">
                <a:solidFill>
                  <a:schemeClr val="tx1"/>
                </a:solidFill>
              </a:rPr>
              <a:t>83 %</a:t>
            </a:r>
            <a:endParaRPr lang="ko-KR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69164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전체 재료 · 점추정 (B1 · M0)</a:t>
            </a:r>
            <a:endParaRPr lang="ko-KR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011680"/>
          <a:ext cx="4327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960120"/>
                <a:gridCol w="548640"/>
                <a:gridCol w="533095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재료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R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S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F(n ≥ 2)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RR</a:t>
                      </a:r>
                      <a:r>
                        <a:rPr lang="ko-KR" altLang="en-US" sz="1050" b="1" baseline="-40000" dirty="0">
                          <a:solidFill>
                            <a:srgbClr val="FFFFFF"/>
                          </a:solidFill>
                        </a:rPr>
                        <a:t>S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IE2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불연 단열재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1.8×10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0 %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EPS 준불연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4.4×10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25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82 %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PIR(PUR) 가연성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8.4×10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6.4×10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474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90 %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PIR(PUR) 준불연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6.5×10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37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83 %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PF 준불연 외부용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6.5×10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37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83 %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23303D"/>
                          </a:solidFill>
                        </a:rPr>
                        <a:t>PF 준불연 내부용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1.8×10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6.4×10</a:t>
                      </a:r>
                      <a:r>
                        <a:rPr lang="ko-KR" altLang="en-US" sz="105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101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23303D"/>
                          </a:solidFill>
                        </a:rPr>
                        <a:t>83 %</a:t>
                      </a:r>
                      <a:endParaRPr lang="ko-KR" sz="1050" dirty="0"/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406640" y="5029200"/>
            <a:ext cx="4327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050" dirty="0">
                <a:solidFill>
                  <a:schemeClr val="tx2"/>
                </a:solidFill>
              </a:rPr>
              <a:t>RR</a:t>
            </a:r>
            <a:r>
              <a:rPr lang="ko-KR" altLang="en-US" sz="1050" baseline="-40000" dirty="0">
                <a:solidFill>
                  <a:schemeClr val="tx2"/>
                </a:solidFill>
              </a:rPr>
              <a:t>S</a:t>
            </a:r>
            <a:r>
              <a:rPr lang="ko-KR" altLang="en-US" sz="1050" dirty="0">
                <a:solidFill>
                  <a:schemeClr val="tx2"/>
                </a:solidFill>
              </a:rPr>
              <a:t> = </a:t>
            </a:r>
            <a:r>
              <a:rPr lang="ko-KR" altLang="en-US" sz="1050" dirty="0">
                <a:solidFill>
                  <a:schemeClr val="tx2"/>
                </a:solidFill>
              </a:rPr>
              <a:t>R</a:t>
            </a:r>
            <a:r>
              <a:rPr lang="ko-KR" altLang="en-US" sz="1050" baseline="-40000" dirty="0">
                <a:solidFill>
                  <a:schemeClr val="tx2"/>
                </a:solidFill>
              </a:rPr>
              <a:t>S</a:t>
            </a:r>
            <a:r>
              <a:rPr lang="ko-KR" altLang="en-US" sz="1050" dirty="0">
                <a:solidFill>
                  <a:schemeClr val="tx2"/>
                </a:solidFill>
              </a:rPr>
              <a:t> ÷ 불연 기준안의 </a:t>
            </a:r>
            <a:r>
              <a:rPr lang="ko-KR" altLang="en-US" sz="1050" dirty="0">
                <a:solidFill>
                  <a:schemeClr val="tx2"/>
                </a:solidFill>
              </a:rPr>
              <a:t>R</a:t>
            </a:r>
            <a:r>
              <a:rPr lang="ko-KR" altLang="en-US" sz="1050" baseline="-40000" dirty="0">
                <a:solidFill>
                  <a:schemeClr val="tx2"/>
                </a:solidFill>
              </a:rPr>
              <a:t>S</a:t>
            </a:r>
            <a:r>
              <a:rPr lang="ko-KR" altLang="en-US" sz="1050" dirty="0">
                <a:solidFill>
                  <a:schemeClr val="tx2"/>
                </a:solidFill>
              </a:rPr>
              <a:t> (도약만, IE2 확산 없음)</a:t>
            </a:r>
            <a:endParaRPr lang="ko-KR" sz="105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050" dirty="0">
                <a:solidFill>
                  <a:schemeClr val="tx2"/>
                </a:solidFill>
              </a:rPr>
              <a:t>F(n ≥ 2) = 0인 재료도 MC에서는 0이 아님 → 15쪽</a:t>
            </a:r>
            <a:endParaRPr lang="ko-KR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9436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같은 값이 계산서 5_위험도(수식)와 파이썬 point_estimate.csv에 있고, 7_검증 시트에서 두 값이 일치함을 확인합니다(17쪽).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예제 결과 ① — 외벽 확산 위험도 </a:t>
            </a:r>
            <a:r>
              <a:rPr lang="ko-KR" altLang="en-US" sz="1200" b="1" dirty="0">
                <a:solidFill>
                  <a:schemeClr val="tx2"/>
                </a:solidFill>
              </a:rPr>
              <a:t>R</a:t>
            </a:r>
            <a:r>
              <a:rPr lang="ko-KR" altLang="en-US" sz="1200" b="1" baseline="-40000" dirty="0">
                <a:solidFill>
                  <a:schemeClr val="tx2"/>
                </a:solidFill>
              </a:rPr>
              <a:t>S</a:t>
            </a:r>
            <a:r>
              <a:rPr lang="ko-KR" altLang="en-US" sz="1200" b="1" dirty="0">
                <a:solidFill>
                  <a:schemeClr val="tx2"/>
                </a:solidFill>
              </a:rPr>
              <a:t>와 90 % 구간 (2중 몬테카를로, 스프링클러 설치)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순위: PIR(PUR) 가연성 ≫ PF 내부용 &gt; PF 외부용 ≈ PIR(PUR) 준불연 &gt; EPS 준불연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— 차단재 + 배리어(M1)로 준불연 </a:t>
            </a:r>
            <a:r>
              <a:rPr lang="ko-KR" altLang="en-US" sz="2000" b="1" dirty="0">
                <a:solidFill>
                  <a:schemeClr val="tx1"/>
                </a:solidFill>
              </a:rPr>
              <a:t>R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S</a:t>
            </a:r>
            <a:r>
              <a:rPr lang="ko-KR" altLang="en-US" sz="2000" b="1" dirty="0">
                <a:solidFill>
                  <a:schemeClr val="tx1"/>
                </a:solidFill>
              </a:rPr>
              <a:t>는 1/9–1/19, 가연성은 효과 불인정</a:t>
            </a:r>
            <a:endParaRPr lang="ko-KR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7635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301991" y="523402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불연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(기준안)</a:t>
            </a:r>
            <a:endParaRPr lang="ko-KR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2409101" y="523402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EPS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준불연</a:t>
            </a:r>
            <a:endParaRPr lang="ko-KR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516211" y="523402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PIR(PUR)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가연성</a:t>
            </a:r>
            <a:endParaRPr lang="ko-KR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623321" y="523402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PIR(PUR)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준불연</a:t>
            </a:r>
            <a:endParaRPr lang="ko-KR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730431" y="523402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PF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외부용</a:t>
            </a:r>
            <a:endParaRPr lang="ko-KR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37540" y="523402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PF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dirty="0">
                <a:solidFill>
                  <a:srgbClr val="23303D"/>
                </a:solidFill>
              </a:rPr>
              <a:t>내부용</a:t>
            </a:r>
            <a:endParaRPr lang="ko-KR" sz="1050" dirty="0"/>
          </a:p>
        </p:txBody>
      </p:sp>
      <p:sp>
        <p:nvSpPr>
          <p:cNvPr id="11" name="Text 8"/>
          <p:cNvSpPr txBox="1"/>
          <p:nvPr/>
        </p:nvSpPr>
        <p:spPr>
          <a:xfrm rot="16200000">
            <a:off x="-850392" y="331378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R</a:t>
            </a:r>
            <a:r>
              <a:rPr lang="ko-KR" altLang="en-US" sz="1100" baseline="-40000" dirty="0">
                <a:solidFill>
                  <a:schemeClr val="tx2"/>
                </a:solidFill>
              </a:rPr>
              <a:t>S</a:t>
            </a:r>
            <a:r>
              <a:rPr lang="ko-KR" altLang="en-US" sz="1100" dirty="0">
                <a:solidFill>
                  <a:schemeClr val="tx2"/>
                </a:solidFill>
              </a:rPr>
              <a:t> (층/동·년, 로그; 1E-3 = 10⁻³)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1325880" y="5998464"/>
            <a:ext cx="146304" cy="146304"/>
          </a:xfrm>
          <a:prstGeom prst="ellipse">
            <a:avLst/>
          </a:prstGeom>
          <a:solidFill>
            <a:srgbClr val="4B5563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536192" y="5943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M0 대책 없음 (평균, 세로선 = 90 % 구간)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6003036"/>
            <a:ext cx="137160" cy="137160"/>
          </a:xfrm>
          <a:prstGeom prst="rect">
            <a:avLst/>
          </a:prstGeom>
          <a:solidFill>
            <a:srgbClr val="AEB3B9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10912" y="5943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M1 차단재 + 배리어 (점선 = 90 % 구간)</a:t>
            </a:r>
            <a:endParaRPr lang="ko-KR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691640"/>
          <a:ext cx="3413455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786384"/>
                <a:gridCol w="786384"/>
                <a:gridCol w="578815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재료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M0 평균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M1 평균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감소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불연 단열재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1.8×10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1.8×10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—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EPS 준불연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6.8×10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7.3×10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÷9.3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PIR(PUR) 가연성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1.1×10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−2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1.1×10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−2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÷1.0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PIR(PUR) 준불연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8.8×10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9.2×10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÷9.6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PF 준불연 외부용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1.0×10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9.7×10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÷10.8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PF 준불연 내부용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2.8×10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1.5×10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÷18.6</a:t>
                      </a:r>
                      <a:endParaRPr lang="ko-KR" sz="1000" dirty="0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8321040" y="4206240"/>
            <a:ext cx="34134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PF 외부용은 자립 연소(B 2/2) 때문에 진압이 늦은 사건에서 계속 올라가 평균이 PIR(PUR) 준불연보다 큼 — 점추정(중앙값)에서는 둘이 같았음</a:t>
            </a:r>
            <a:endParaRPr lang="ko-KR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90 % 구간 폭이 10–30배 → 판정은 평균 하나가 아니라 ‘기준을 만족하는 비율’로 함(15쪽)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예제 결과 ② — 초과빈도 곡선 F(발화층 위 확산 ≥ n) (MC 평균, 스프링클러 설치)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n ≥ 2에서 PIR(PUR) 가연성·PF 내부용은 예시 기준의 6–9배, 다른 준불연은 기준 근처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— 차단재 + 배리어(M1)에서 준불연은 0.8–2.9×10</a:t>
            </a:r>
            <a:r>
              <a:rPr lang="ko-KR" altLang="en-US" sz="2000" b="1" baseline="30000" dirty="0">
                <a:solidFill>
                  <a:schemeClr val="tx1"/>
                </a:solidFill>
              </a:rPr>
              <a:t>−5</a:t>
            </a:r>
            <a:r>
              <a:rPr lang="ko-KR" altLang="en-US" sz="2000" b="1" dirty="0">
                <a:solidFill>
                  <a:schemeClr val="tx1"/>
                </a:solidFill>
              </a:rPr>
              <a:t>/동·년으로 기준 아래</a:t>
            </a:r>
            <a:endParaRPr lang="ko-KR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5478628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278994" y="5250485"/>
            <a:ext cx="443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발화층 위로 번진 층 수 n</a:t>
            </a:r>
            <a:endParaRPr lang="ko-KR" sz="1100" dirty="0"/>
          </a:p>
        </p:txBody>
      </p:sp>
      <p:sp>
        <p:nvSpPr>
          <p:cNvPr id="6" name="Text 3"/>
          <p:cNvSpPr txBox="1"/>
          <p:nvPr/>
        </p:nvSpPr>
        <p:spPr>
          <a:xfrm rot="16200000">
            <a:off x="-301752" y="335676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F (/동·년, 로그)</a:t>
            </a:r>
            <a:endParaRPr lang="ko-KR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55868" y="1691640"/>
          <a:ext cx="5478628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077662" y="5250485"/>
            <a:ext cx="443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발화층 위로 번진 층 수 n</a:t>
            </a:r>
            <a:endParaRPr lang="ko-KR" sz="1100" dirty="0"/>
          </a:p>
        </p:txBody>
      </p:sp>
      <p:sp>
        <p:nvSpPr>
          <p:cNvPr id="9" name="Text 5"/>
          <p:cNvSpPr txBox="1"/>
          <p:nvPr/>
        </p:nvSpPr>
        <p:spPr>
          <a:xfrm rot="16200000">
            <a:off x="5496916" y="335676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F (/동·년, 로그)</a:t>
            </a:r>
            <a:endParaRPr lang="ko-KR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9412230" y="2195817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PIR(PUR) 가연성: M1 = M0</a:t>
            </a:r>
            <a:endParaRPr lang="ko-KR" sz="1000" dirty="0"/>
          </a:p>
          <a:p>
            <a:pPr algn="r"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(대책 효과 불인정)</a:t>
            </a:r>
            <a:endParaRPr lang="ko-KR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5888736"/>
            <a:ext cx="329184" cy="0"/>
          </a:xfrm>
          <a:prstGeom prst="line">
            <a:avLst/>
          </a:prstGeom>
          <a:noFill/>
          <a:ln w="25400">
            <a:solidFill>
              <a:srgbClr val="8A8F98"/>
            </a:solidFill>
            <a:prstDash val="dash"/>
          </a:ln>
        </p:spPr>
      </p:sp>
      <p:sp>
        <p:nvSpPr>
          <p:cNvPr id="12" name="Text 8"/>
          <p:cNvSpPr txBox="1"/>
          <p:nvPr/>
        </p:nvSpPr>
        <p:spPr>
          <a:xfrm>
            <a:off x="859536" y="57607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불연 기준안</a:t>
            </a:r>
            <a:endParaRPr lang="ko-KR" sz="1100" dirty="0"/>
          </a:p>
        </p:txBody>
      </p:sp>
      <p:sp>
        <p:nvSpPr>
          <p:cNvPr id="13" name="Shape 9"/>
          <p:cNvSpPr/>
          <p:nvPr/>
        </p:nvSpPr>
        <p:spPr>
          <a:xfrm>
            <a:off x="2029968" y="5888736"/>
            <a:ext cx="329184" cy="0"/>
          </a:xfrm>
          <a:prstGeom prst="line">
            <a:avLst/>
          </a:prstGeom>
          <a:noFill/>
          <a:ln w="25400">
            <a:solidFill>
              <a:srgbClr val="E87BA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2304" y="57607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EPS 준불연</a:t>
            </a:r>
            <a:endParaRPr lang="ko-KR" sz="1100" dirty="0"/>
          </a:p>
        </p:txBody>
      </p:sp>
      <p:sp>
        <p:nvSpPr>
          <p:cNvPr id="15" name="Shape 11"/>
          <p:cNvSpPr/>
          <p:nvPr/>
        </p:nvSpPr>
        <p:spPr>
          <a:xfrm>
            <a:off x="3602736" y="5888736"/>
            <a:ext cx="329184" cy="0"/>
          </a:xfrm>
          <a:prstGeom prst="line">
            <a:avLst/>
          </a:prstGeom>
          <a:noFill/>
          <a:ln w="25400">
            <a:solidFill>
              <a:srgbClr val="6250D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005072" y="57607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PIR 가연성</a:t>
            </a:r>
            <a:endParaRPr lang="ko-KR" sz="1100" dirty="0"/>
          </a:p>
        </p:txBody>
      </p:sp>
      <p:sp>
        <p:nvSpPr>
          <p:cNvPr id="17" name="Shape 13"/>
          <p:cNvSpPr/>
          <p:nvPr/>
        </p:nvSpPr>
        <p:spPr>
          <a:xfrm>
            <a:off x="5175504" y="5888736"/>
            <a:ext cx="329184" cy="0"/>
          </a:xfrm>
          <a:prstGeom prst="line">
            <a:avLst/>
          </a:prstGeom>
          <a:noFill/>
          <a:ln w="25400">
            <a:solidFill>
              <a:srgbClr val="0083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577840" y="57607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PIR 준불연</a:t>
            </a:r>
            <a:endParaRPr lang="ko-KR" sz="1100" dirty="0"/>
          </a:p>
        </p:txBody>
      </p:sp>
      <p:sp>
        <p:nvSpPr>
          <p:cNvPr id="19" name="Shape 15"/>
          <p:cNvSpPr/>
          <p:nvPr/>
        </p:nvSpPr>
        <p:spPr>
          <a:xfrm>
            <a:off x="6748272" y="5888736"/>
            <a:ext cx="329184" cy="0"/>
          </a:xfrm>
          <a:prstGeom prst="line">
            <a:avLst/>
          </a:prstGeom>
          <a:noFill/>
          <a:ln w="25400">
            <a:solidFill>
              <a:srgbClr val="2A78D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150608" y="57607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PF 외부용</a:t>
            </a:r>
            <a:endParaRPr lang="ko-KR" sz="1100" dirty="0"/>
          </a:p>
        </p:txBody>
      </p:sp>
      <p:sp>
        <p:nvSpPr>
          <p:cNvPr id="21" name="Shape 17"/>
          <p:cNvSpPr/>
          <p:nvPr/>
        </p:nvSpPr>
        <p:spPr>
          <a:xfrm>
            <a:off x="8321040" y="5888736"/>
            <a:ext cx="329184" cy="0"/>
          </a:xfrm>
          <a:prstGeom prst="line">
            <a:avLst/>
          </a:prstGeom>
          <a:noFill/>
          <a:ln w="25400">
            <a:solidFill>
              <a:srgbClr val="E3494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723376" y="57607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PF 내부용</a:t>
            </a:r>
            <a:endParaRPr lang="ko-KR" sz="1100" dirty="0"/>
          </a:p>
        </p:txBody>
      </p:sp>
      <p:sp>
        <p:nvSpPr>
          <p:cNvPr id="23" name="Shape 19"/>
          <p:cNvSpPr/>
          <p:nvPr/>
        </p:nvSpPr>
        <p:spPr>
          <a:xfrm>
            <a:off x="9985248" y="5806440"/>
            <a:ext cx="155448" cy="155448"/>
          </a:xfrm>
          <a:prstGeom prst="ellipse">
            <a:avLst/>
          </a:prstGeom>
          <a:solidFill>
            <a:srgbClr val="23303D"/>
          </a:solidFill>
          <a:ln w="6350">
            <a:solidFill>
              <a:srgbClr val="23303D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296144" y="57607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예시 기준 (n = 2)</a:t>
            </a:r>
            <a:endParaRPr lang="ko-KR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080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곡선은 인식론적 평균. 90 % 구간은 계산서 6_불확실성(MC)·figures/fig1_exceedance.png. 1×10</a:t>
            </a:r>
            <a:r>
              <a:rPr lang="ko-KR" altLang="en-US" sz="1050" baseline="30000" dirty="0">
                <a:solidFill>
                  <a:schemeClr val="tx2"/>
                </a:solidFill>
              </a:rPr>
              <a:t>−8</a:t>
            </a:r>
            <a:r>
              <a:rPr lang="ko-KR" altLang="en-US" sz="1050" dirty="0">
                <a:solidFill>
                  <a:schemeClr val="tx2"/>
                </a:solidFill>
              </a:rPr>
              <a:t> 아래는 그리지 않음.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예제 결과 ③ — 허용기준 판정: 점추정과 불확실성을 넣은 판정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대책 없음: PIR(PUR) 가연성·PF 내부용 ‘불충족’, 준불연 3종 ‘판단 유보’(충족 41–55 %)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— 차단재 + 배리어로 준불연 4종 ‘충족’(96–100 %), 가연성은 ‘불충족’</a:t>
            </a:r>
            <a:endParaRPr lang="ko-KR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72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1600200"/>
                <a:gridCol w="3291840"/>
                <a:gridCol w="1508760"/>
                <a:gridCol w="1950415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재료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대책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F(n ≥ 2) 점추정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F(n ≥ 2) MC 평균 [5 – 95 %]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기준 충족 비율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판정 (신뢰 90 %)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불연 단열재(기준안)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1.1×10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−8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100.0 %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M1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1.1×10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−8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100.0 %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EPS 준불연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1.6×10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54.6 %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M1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8.1×10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−7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99.8 %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PIR(PUR) 가연성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6.4×10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8.8×10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0.1 %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M1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6.4×10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8.8×10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0.1 %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PIR(PUR) 준불연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2.0×10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8×10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52.0 %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M1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9.8×10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−7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99.4 %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 준불연 외부용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2.5×10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41.0 %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M1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1.2×10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−7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99.2 %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PF 준불연 내부용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M0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6.4×10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6.4×10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2.1 %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M1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1.9×10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2.9×10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 [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−6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9×10</a:t>
                      </a:r>
                      <a:r>
                        <a:rPr lang="ko-KR" altLang="en-US" sz="1100" baseline="30000" dirty="0">
                          <a:solidFill>
                            <a:srgbClr val="23303D"/>
                          </a:solidFill>
                        </a:rPr>
                        <a:t>−5</a:t>
                      </a: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]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95.7 %</a:t>
                      </a: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058400" y="197053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49840" y="2048256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332720" y="197053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충족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329184" y="2002536"/>
            <a:ext cx="73152" cy="512064"/>
          </a:xfrm>
          <a:prstGeom prst="rect">
            <a:avLst/>
          </a:prstGeom>
          <a:solidFill>
            <a:srgbClr val="8A8F98"/>
          </a:solidFill>
          <a:ln w="6350">
            <a:solidFill>
              <a:srgbClr val="8A8F9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0" y="227228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49840" y="2350008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332720" y="227228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충족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10058400" y="2574036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49840" y="2651760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332720" y="257403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판단 유보</a:t>
            </a:r>
            <a:endParaRPr lang="ko-KR" sz="1100" dirty="0"/>
          </a:p>
        </p:txBody>
      </p:sp>
      <p:sp>
        <p:nvSpPr>
          <p:cNvPr id="15" name="Shape 12"/>
          <p:cNvSpPr/>
          <p:nvPr/>
        </p:nvSpPr>
        <p:spPr>
          <a:xfrm>
            <a:off x="329184" y="2606040"/>
            <a:ext cx="73152" cy="512064"/>
          </a:xfrm>
          <a:prstGeom prst="rect">
            <a:avLst/>
          </a:prstGeom>
          <a:solidFill>
            <a:srgbClr val="E87BA4"/>
          </a:solidFill>
          <a:ln w="6350">
            <a:solidFill>
              <a:srgbClr val="E87BA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58400" y="287578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149840" y="2953512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332720" y="287578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충족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10058400" y="317754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149840" y="3255264"/>
            <a:ext cx="118872" cy="118872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332720" y="317754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불충족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329184" y="3209544"/>
            <a:ext cx="73152" cy="512064"/>
          </a:xfrm>
          <a:prstGeom prst="rect">
            <a:avLst/>
          </a:prstGeom>
          <a:solidFill>
            <a:srgbClr val="6250D6"/>
          </a:solidFill>
          <a:ln w="6350">
            <a:solidFill>
              <a:srgbClr val="6250D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058400" y="347929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149840" y="3557016"/>
            <a:ext cx="118872" cy="118872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332720" y="347929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불충족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10058400" y="378104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149840" y="3858768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32720" y="378104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판단 유보</a:t>
            </a:r>
            <a:endParaRPr lang="ko-KR" sz="1100" dirty="0"/>
          </a:p>
        </p:txBody>
      </p:sp>
      <p:sp>
        <p:nvSpPr>
          <p:cNvPr id="29" name="Shape 26"/>
          <p:cNvSpPr/>
          <p:nvPr/>
        </p:nvSpPr>
        <p:spPr>
          <a:xfrm>
            <a:off x="329184" y="3813048"/>
            <a:ext cx="73152" cy="512064"/>
          </a:xfrm>
          <a:prstGeom prst="rect">
            <a:avLst/>
          </a:prstGeom>
          <a:solidFill>
            <a:srgbClr val="008300"/>
          </a:solidFill>
          <a:ln w="6350">
            <a:solidFill>
              <a:srgbClr val="0083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058400" y="4082796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149840" y="4160520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332720" y="408279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충족</a:t>
            </a:r>
            <a:endParaRPr lang="ko-KR" sz="1100" dirty="0"/>
          </a:p>
        </p:txBody>
      </p:sp>
      <p:sp>
        <p:nvSpPr>
          <p:cNvPr id="33" name="Shape 30"/>
          <p:cNvSpPr/>
          <p:nvPr/>
        </p:nvSpPr>
        <p:spPr>
          <a:xfrm>
            <a:off x="10058400" y="438454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EF2D3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49840" y="4462272"/>
            <a:ext cx="118872" cy="118872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332720" y="438454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판단 유보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329184" y="4416552"/>
            <a:ext cx="73152" cy="512064"/>
          </a:xfrm>
          <a:prstGeom prst="rect">
            <a:avLst/>
          </a:prstGeom>
          <a:solidFill>
            <a:srgbClr val="2A78D6"/>
          </a:solidFill>
          <a:ln w="6350">
            <a:solidFill>
              <a:srgbClr val="2A78D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058400" y="468630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149840" y="4764024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332720" y="468630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충족</a:t>
            </a:r>
            <a:endParaRPr lang="ko-KR" sz="1100" dirty="0"/>
          </a:p>
        </p:txBody>
      </p:sp>
      <p:sp>
        <p:nvSpPr>
          <p:cNvPr id="40" name="Shape 37"/>
          <p:cNvSpPr/>
          <p:nvPr/>
        </p:nvSpPr>
        <p:spPr>
          <a:xfrm>
            <a:off x="10058400" y="498805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8DEDE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149840" y="5065776"/>
            <a:ext cx="118872" cy="118872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332720" y="49880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불충족</a:t>
            </a:r>
            <a:endParaRPr lang="ko-KR" sz="1100" dirty="0"/>
          </a:p>
        </p:txBody>
      </p:sp>
      <p:sp>
        <p:nvSpPr>
          <p:cNvPr id="43" name="Shape 40"/>
          <p:cNvSpPr/>
          <p:nvPr/>
        </p:nvSpPr>
        <p:spPr>
          <a:xfrm>
            <a:off x="329184" y="5020056"/>
            <a:ext cx="73152" cy="512064"/>
          </a:xfrm>
          <a:prstGeom prst="rect">
            <a:avLst/>
          </a:prstGeom>
          <a:solidFill>
            <a:srgbClr val="E34948"/>
          </a:solidFill>
          <a:ln w="6350">
            <a:solidFill>
              <a:srgbClr val="E3494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058400" y="528980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E2F3E2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149840" y="5367528"/>
            <a:ext cx="118872" cy="118872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332720" y="528980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충족</a:t>
            </a:r>
            <a:endParaRPr lang="ko-KR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457200" y="5687568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판정 규칙(예시): </a:t>
            </a:r>
            <a:r>
              <a:rPr lang="ko-KR" altLang="en-US" sz="1100" dirty="0">
                <a:solidFill>
                  <a:schemeClr val="tx1"/>
                </a:solidFill>
              </a:rPr>
              <a:t>인식론적 표본 2,000개 중 F(n ≥ 2) ≤ 1×10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100" dirty="0">
                <a:solidFill>
                  <a:schemeClr val="tx1"/>
                </a:solidFill>
              </a:rPr>
              <a:t>인 비율이 90 % 이상 → 충족, 10 % 이하 → 불충족, 그 사이 → 판단 유보(자료를 더 모아야 결론이 나는 상태)</a:t>
            </a:r>
            <a:endParaRPr lang="ko-KR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00" b="1" dirty="0">
                <a:solidFill>
                  <a:schemeClr val="tx1"/>
                </a:solidFill>
              </a:rPr>
              <a:t>점추정의 함정: </a:t>
            </a:r>
            <a:r>
              <a:rPr lang="ko-KR" altLang="en-US" sz="1100" dirty="0">
                <a:solidFill>
                  <a:schemeClr val="tx1"/>
                </a:solidFill>
              </a:rPr>
              <a:t>PIR(PUR) 준불연·PF 외부용·EPS 준불연은 점추정 0인데 MC 평균 1.6–2.5×10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100" dirty="0">
                <a:solidFill>
                  <a:schemeClr val="tx1"/>
                </a:solidFill>
              </a:rPr>
              <a:t> — 진압이 늦어지는 꼬리 사건을 중앙값 하나로는 볼 수 없음(A.5.5.6)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9 · 불확실성과 민감도 — 우연적·인식론적 분리 (4.5, 5.5.6, A.5.5.6)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결론을 가장 크게 흔드는 입력은 s(3 m 시험 → 실물)와 외부 발화원 빈도 </a:t>
            </a:r>
            <a:r>
              <a:rPr lang="ko-KR" altLang="en-US" sz="2000" b="1" dirty="0">
                <a:solidFill>
                  <a:schemeClr val="tx1"/>
                </a:solidFill>
              </a:rPr>
              <a:t>λ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2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— 대책(M1)을 넣으면 배리어 효과 </a:t>
            </a:r>
            <a:r>
              <a:rPr lang="ko-KR" altLang="en-US" sz="2000" b="1" dirty="0">
                <a:solidFill>
                  <a:schemeClr val="tx1"/>
                </a:solidFill>
              </a:rPr>
              <a:t>p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cb</a:t>
            </a:r>
            <a:r>
              <a:rPr lang="ko-KR" altLang="en-US" sz="2000" b="1" dirty="0">
                <a:solidFill>
                  <a:schemeClr val="tx1"/>
                </a:solidFill>
              </a:rPr>
              <a:t>와 차단재 효과 </a:t>
            </a:r>
            <a:r>
              <a:rPr lang="ko-KR" altLang="en-US" sz="2000" b="1" dirty="0">
                <a:solidFill>
                  <a:schemeClr val="tx1"/>
                </a:solidFill>
              </a:rPr>
              <a:t>p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e1</a:t>
            </a:r>
            <a:r>
              <a:rPr lang="ko-KR" altLang="en-US" sz="2000" b="1" dirty="0">
                <a:solidFill>
                  <a:schemeClr val="tx1"/>
                </a:solidFill>
              </a:rPr>
              <a:t>이 커짐</a:t>
            </a:r>
            <a:endParaRPr lang="ko-KR" sz="2000" dirty="0"/>
          </a:p>
        </p:txBody>
      </p:sp>
      <p:sp>
        <p:nvSpPr>
          <p:cNvPr id="4" name="인식론적 (바깥 루프 2,000)"/>
          <p:cNvSpPr/>
          <p:nvPr/>
        </p:nvSpPr>
        <p:spPr>
          <a:xfrm>
            <a:off x="457200" y="169164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647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인식론적 (바깥 루프 2,000)</a:t>
            </a:r>
            <a:endParaRPr lang="ko-KR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더 알면 줄어드는 불확실성</a:t>
            </a:r>
            <a:endParaRPr lang="ko-KR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13432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λ</a:t>
            </a:r>
            <a:r>
              <a:rPr lang="ko-KR" altLang="en-US" sz="1100" baseline="-40000" dirty="0">
                <a:solidFill>
                  <a:schemeClr val="tx1"/>
                </a:solidFill>
              </a:rPr>
              <a:t>1</a:t>
            </a:r>
            <a:r>
              <a:rPr lang="ko-KR" altLang="en-US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λ</a:t>
            </a:r>
            <a:r>
              <a:rPr lang="ko-KR" altLang="en-US" sz="1100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s</a:t>
            </a:r>
            <a:r>
              <a:rPr lang="ko-KR" altLang="en-US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FO</a:t>
            </a:r>
            <a:r>
              <a:rPr lang="ko-KR" altLang="en-US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v</a:t>
            </a:r>
            <a:r>
              <a:rPr lang="ko-KR" altLang="en-US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x</a:t>
            </a:r>
            <a:r>
              <a:rPr lang="ko-KR" altLang="en-US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e0</a:t>
            </a:r>
            <a:r>
              <a:rPr lang="ko-KR" altLang="en-US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e1</a:t>
            </a:r>
            <a:r>
              <a:rPr lang="ko-KR" altLang="en-US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cb</a:t>
            </a:r>
            <a:r>
              <a:rPr lang="ko-KR" altLang="en-US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L</a:t>
            </a:r>
            <a:r>
              <a:rPr lang="ko-KR" altLang="en-US" sz="1100" dirty="0">
                <a:solidFill>
                  <a:schemeClr val="tx1"/>
                </a:solidFill>
              </a:rPr>
              <a:t>, s, </a:t>
            </a:r>
            <a:r>
              <a:rPr lang="ko-KR" altLang="en-US" sz="1100" dirty="0">
                <a:solidFill>
                  <a:schemeClr val="tx1"/>
                </a:solidFill>
              </a:rPr>
              <a:t>T</a:t>
            </a:r>
            <a:r>
              <a:rPr lang="ko-KR" altLang="en-US" sz="11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100" dirty="0">
                <a:solidFill>
                  <a:schemeClr val="tx1"/>
                </a:solidFill>
              </a:rPr>
              <a:t>·RSET·</a:t>
            </a:r>
            <a:r>
              <a:rPr lang="ko-KR" altLang="en-US" sz="1100" dirty="0">
                <a:solidFill>
                  <a:schemeClr val="tx1"/>
                </a:solidFill>
              </a:rPr>
              <a:t>τ</a:t>
            </a:r>
            <a:r>
              <a:rPr lang="ko-KR" altLang="en-US" sz="1100" baseline="-40000" dirty="0">
                <a:solidFill>
                  <a:schemeClr val="tx1"/>
                </a:solidFill>
              </a:rPr>
              <a:t>L</a:t>
            </a:r>
            <a:r>
              <a:rPr lang="ko-KR" altLang="en-US" sz="1100" dirty="0">
                <a:solidFill>
                  <a:schemeClr val="tx1"/>
                </a:solidFill>
              </a:rPr>
              <a:t>의 중앙값,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B</a:t>
            </a:r>
            <a:r>
              <a:rPr lang="ko-KR" altLang="en-US" sz="1100" dirty="0">
                <a:solidFill>
                  <a:schemeClr val="tx1"/>
                </a:solidFill>
              </a:rPr>
              <a:t> ~ Beta(k + ½, n − k + ½)</a:t>
            </a:r>
            <a:endParaRPr lang="ko-KR" sz="1100" dirty="0"/>
          </a:p>
        </p:txBody>
      </p:sp>
      <p:sp>
        <p:nvSpPr>
          <p:cNvPr id="8" name="우연적 (안쪽 루프 400, LHS)"/>
          <p:cNvSpPr/>
          <p:nvPr/>
        </p:nvSpPr>
        <p:spPr>
          <a:xfrm>
            <a:off x="457200" y="329184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3649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우연적 (안쪽 루프 400, LHS)</a:t>
            </a:r>
            <a:endParaRPr lang="ko-KR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576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화재마다 달라지는 변동</a:t>
            </a:r>
            <a:endParaRPr lang="ko-KR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13632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T</a:t>
            </a:r>
            <a:r>
              <a:rPr lang="ko-KR" altLang="en-US" sz="11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100" dirty="0">
                <a:solidFill>
                  <a:schemeClr val="tx1"/>
                </a:solidFill>
              </a:rPr>
              <a:t>·RSET·</a:t>
            </a:r>
            <a:r>
              <a:rPr lang="ko-KR" altLang="en-US" sz="1100" dirty="0">
                <a:solidFill>
                  <a:schemeClr val="tx1"/>
                </a:solidFill>
              </a:rPr>
              <a:t>τ</a:t>
            </a:r>
            <a:r>
              <a:rPr lang="ko-KR" altLang="en-US" sz="1100" baseline="-40000" dirty="0">
                <a:solidFill>
                  <a:schemeClr val="tx1"/>
                </a:solidFill>
              </a:rPr>
              <a:t>L</a:t>
            </a:r>
            <a:r>
              <a:rPr lang="ko-KR" altLang="en-US" sz="1100" dirty="0">
                <a:solidFill>
                  <a:schemeClr val="tx1"/>
                </a:solidFill>
              </a:rPr>
              <a:t> (로그정규), 분출 지속 </a:t>
            </a:r>
            <a:r>
              <a:rPr lang="ko-KR" altLang="en-US" sz="1100" dirty="0">
                <a:solidFill>
                  <a:schemeClr val="tx1"/>
                </a:solidFill>
              </a:rPr>
              <a:t>t</a:t>
            </a:r>
            <a:r>
              <a:rPr lang="ko-KR" altLang="en-US" sz="1100" baseline="-40000" dirty="0">
                <a:solidFill>
                  <a:schemeClr val="tx1"/>
                </a:solidFill>
              </a:rPr>
              <a:t>e</a:t>
            </a:r>
            <a:r>
              <a:rPr lang="ko-KR" altLang="en-US" sz="1100" dirty="0">
                <a:solidFill>
                  <a:schemeClr val="tx1"/>
                </a:solidFill>
              </a:rPr>
              <a:t> (균등), 어떤 반복시험처럼 거동하는지, 자립 연소 B</a:t>
            </a:r>
            <a:endParaRPr lang="ko-KR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9377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위험도 = 우연적 변동에 대한 기대값(안쪽), 그 위험도의 분포 = 인식론적 불확실성(바깥)</a:t>
            </a:r>
            <a:endParaRPr lang="ko-KR" sz="11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ko-KR" altLang="en-US" sz="1100" dirty="0">
                <a:solidFill>
                  <a:schemeClr val="tx2"/>
                </a:solidFill>
              </a:rPr>
              <a:t>모든 재료가 같은 표본을 써서(공통 난수) 재료 간 비교가 정밀함</a:t>
            </a:r>
            <a:endParaRPr lang="ko-KR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91640"/>
          <a:ext cx="6842455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603778"/>
                <a:gridCol w="603778"/>
                <a:gridCol w="603778"/>
                <a:gridCol w="603778"/>
                <a:gridCol w="603778"/>
                <a:gridCol w="603778"/>
                <a:gridCol w="603778"/>
                <a:gridCol w="603778"/>
                <a:gridCol w="603778"/>
                <a:gridCol w="603778"/>
              </a:tblGrid>
              <a:tr h="27432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입력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M0 대책 없음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M1 차단재 + 배리어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2062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EPS</a:t>
                      </a:r>
                      <a:endParaRPr lang="ko-KR" sz="9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준불연</a:t>
                      </a:r>
                      <a:endParaRPr lang="ko-KR" sz="95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PIR</a:t>
                      </a:r>
                      <a:endParaRPr lang="ko-KR" sz="9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가연성</a:t>
                      </a:r>
                      <a:endParaRPr lang="ko-KR" sz="95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PIR</a:t>
                      </a:r>
                      <a:endParaRPr lang="ko-KR" sz="9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준불연</a:t>
                      </a:r>
                      <a:endParaRPr lang="ko-KR" sz="95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PF</a:t>
                      </a:r>
                      <a:endParaRPr lang="ko-KR" sz="9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외부용</a:t>
                      </a:r>
                      <a:endParaRPr lang="ko-KR" sz="95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PF</a:t>
                      </a:r>
                      <a:endParaRPr lang="ko-KR" sz="9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내부용</a:t>
                      </a:r>
                      <a:endParaRPr lang="ko-KR" sz="95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EPS</a:t>
                      </a:r>
                      <a:endParaRPr lang="ko-KR" sz="9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준불연</a:t>
                      </a:r>
                      <a:endParaRPr lang="ko-KR" sz="95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PIR</a:t>
                      </a:r>
                      <a:endParaRPr lang="ko-KR" sz="9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가연성</a:t>
                      </a:r>
                      <a:endParaRPr lang="ko-KR" sz="95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PIR</a:t>
                      </a:r>
                      <a:endParaRPr lang="ko-KR" sz="9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준불연</a:t>
                      </a:r>
                      <a:endParaRPr lang="ko-KR" sz="95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PF</a:t>
                      </a:r>
                      <a:endParaRPr lang="ko-KR" sz="9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외부용</a:t>
                      </a:r>
                      <a:endParaRPr lang="ko-KR" sz="95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PF</a:t>
                      </a:r>
                      <a:endParaRPr lang="ko-KR" sz="950" dirty="0"/>
                    </a:p>
                    <a:p>
                      <a:pPr algn="ctr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내부용</a:t>
                      </a:r>
                      <a:endParaRPr lang="ko-KR" sz="95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FFFFFF"/>
                          </a:solidFill>
                        </a:rPr>
                        <a:t>−0.67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4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+0.04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FFFFFF"/>
                          </a:solidFill>
                        </a:rPr>
                        <a:t>−0.70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FFFFFF"/>
                          </a:solidFill>
                        </a:rPr>
                        <a:t>−0.63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−0.49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0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−0.40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F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+0.04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−0.48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B3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−0.40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F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−0.11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100" b="1" baseline="-40000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FFFFFF"/>
                          </a:solidFill>
                        </a:rPr>
                        <a:t>+0.56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8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FFFFFF"/>
                          </a:solidFill>
                        </a:rPr>
                        <a:t>+0.92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58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+0.52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93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FFFFFF"/>
                          </a:solidFill>
                        </a:rPr>
                        <a:t>+0.57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8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FFFFFF"/>
                          </a:solidFill>
                        </a:rPr>
                        <a:t>+0.71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6C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+0.52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9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FFFFFF"/>
                          </a:solidFill>
                        </a:rPr>
                        <a:t>+0.92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58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+0.51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95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FFFFFF"/>
                          </a:solidFill>
                        </a:rPr>
                        <a:t>+0.55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8B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FFFFFF"/>
                          </a:solidFill>
                        </a:rPr>
                        <a:t>+0.68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71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="1" baseline="-40000" dirty="0">
                          <a:solidFill>
                            <a:srgbClr val="23303D"/>
                          </a:solidFill>
                        </a:rPr>
                        <a:t>x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+0.24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C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+0.35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5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C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+0.29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2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+0.35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5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2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E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6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100" b="1" baseline="-40000" dirty="0">
                          <a:solidFill>
                            <a:srgbClr val="23303D"/>
                          </a:solidFill>
                        </a:rPr>
                        <a:t>FS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−0.01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+0.16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D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+0.28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5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B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+0.18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A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−0.01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B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CB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+0.09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="1" baseline="-40000" dirty="0">
                          <a:solidFill>
                            <a:srgbClr val="23303D"/>
                          </a:solidFill>
                        </a:rPr>
                        <a:t>cb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−0.04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−0.36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C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−0.35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8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−0.36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5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−0.49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1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="1" baseline="-40000" dirty="0">
                          <a:solidFill>
                            <a:srgbClr val="23303D"/>
                          </a:solidFill>
                        </a:rPr>
                        <a:t>e1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−0.01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−0.00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−0.01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−0.01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F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E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C7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100" b="1" baseline="-40000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+0.10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+0.11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+0.26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CA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+0.20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CC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="1" baseline="-40000" dirty="0">
                          <a:solidFill>
                            <a:srgbClr val="23303D"/>
                          </a:solidFill>
                        </a:rPr>
                        <a:t>FO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+0.06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+0.09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+0.10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+0.06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+0.20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+0.18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9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+0.16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EC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="1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−0.09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−0.08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−0.06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−0.19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−0.17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4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−0.15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−0.13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100" b="1" baseline="-40000" dirty="0">
                          <a:solidFill>
                            <a:srgbClr val="23303D"/>
                          </a:solidFill>
                        </a:rPr>
                        <a:t>B</a:t>
                      </a:r>
                      <a:endParaRPr lang="ko-KR" sz="11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+0.12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+0.14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1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+0.18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A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+0.05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−0.03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+0.08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+0.07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+0.04</a:t>
                      </a:r>
                      <a:endParaRPr lang="ko-KR" sz="1000" dirty="0"/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2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892040" y="5193792"/>
            <a:ext cx="6842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tx2"/>
                </a:solidFill>
              </a:rPr>
              <a:t>값: log </a:t>
            </a:r>
            <a:r>
              <a:rPr lang="ko-KR" altLang="en-US" sz="1000" dirty="0">
                <a:solidFill>
                  <a:schemeClr val="tx2"/>
                </a:solidFill>
              </a:rPr>
              <a:t>R</a:t>
            </a:r>
            <a:r>
              <a:rPr lang="ko-KR" altLang="en-US" sz="1000" baseline="-40000" dirty="0">
                <a:solidFill>
                  <a:schemeClr val="tx2"/>
                </a:solidFill>
              </a:rPr>
              <a:t>S</a:t>
            </a:r>
            <a:r>
              <a:rPr lang="ko-KR" altLang="en-US" sz="1000" dirty="0">
                <a:solidFill>
                  <a:schemeClr val="tx2"/>
                </a:solidFill>
              </a:rPr>
              <a:t>와의 순위상관 ρ (주황 +: 클수록 위험 증가, 청록 −: 클수록 감소)</a:t>
            </a:r>
            <a:endParaRPr lang="ko-KR" sz="1000" dirty="0"/>
          </a:p>
        </p:txBody>
      </p:sp>
      <p:sp>
        <p:nvSpPr>
          <p:cNvPr id="15" name="priorities"/>
          <p:cNvSpPr/>
          <p:nvPr/>
        </p:nvSpPr>
        <p:spPr>
          <a:xfrm>
            <a:off x="4892040" y="5468112"/>
            <a:ext cx="684245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33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0" y="5504688"/>
            <a:ext cx="6568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자료 보강 우선순위  </a:t>
            </a:r>
            <a:r>
              <a:rPr lang="ko-KR" altLang="en-US" sz="1100" dirty="0">
                <a:solidFill>
                  <a:schemeClr val="tx1"/>
                </a:solidFill>
              </a:rPr>
              <a:t>① s → 실대형 시험(KS F 8414) 2–3종  ② </a:t>
            </a:r>
            <a:r>
              <a:rPr lang="ko-KR" altLang="en-US" sz="1100" dirty="0">
                <a:solidFill>
                  <a:schemeClr val="tx1"/>
                </a:solidFill>
              </a:rPr>
              <a:t>λ</a:t>
            </a:r>
            <a:r>
              <a:rPr lang="ko-KR" altLang="en-US" sz="1100" baseline="-400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·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x</a:t>
            </a:r>
            <a:r>
              <a:rPr lang="ko-KR" altLang="en-US" sz="1100" dirty="0">
                <a:solidFill>
                  <a:schemeClr val="tx1"/>
                </a:solidFill>
              </a:rPr>
              <a:t> → 국가화재정보시스템 발화 장소 통계</a:t>
            </a:r>
            <a:endParaRPr lang="ko-KR" sz="1100" dirty="0"/>
          </a:p>
          <a:p>
            <a:pPr indent="0" marL="0">
              <a:spcAft>
                <a:spcPts val="200"/>
              </a:spcAft>
              <a:buNone/>
            </a:pPr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③ 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cb</a:t>
            </a:r>
            <a:r>
              <a:rPr lang="ko-KR" altLang="en-US" sz="1100" dirty="0">
                <a:solidFill>
                  <a:schemeClr val="tx1"/>
                </a:solidFill>
              </a:rPr>
              <a:t>·</a:t>
            </a:r>
            <a:r>
              <a:rPr lang="ko-KR" altLang="en-US" sz="1100" dirty="0">
                <a:solidFill>
                  <a:schemeClr val="tx1"/>
                </a:solidFill>
              </a:rPr>
              <a:t>p</a:t>
            </a:r>
            <a:r>
              <a:rPr lang="ko-KR" altLang="en-US" sz="1100" baseline="-40000" dirty="0">
                <a:solidFill>
                  <a:schemeClr val="tx1"/>
                </a:solidFill>
              </a:rPr>
              <a:t>e1</a:t>
            </a:r>
            <a:r>
              <a:rPr lang="ko-KR" altLang="en-US" sz="1100" dirty="0">
                <a:solidFill>
                  <a:schemeClr val="tx1"/>
                </a:solidFill>
              </a:rPr>
              <a:t> → 배리어·차단재를 넣은 중공층 시험  ④ </a:t>
            </a:r>
            <a:r>
              <a:rPr lang="ko-KR" altLang="en-US" sz="1100" dirty="0">
                <a:solidFill>
                  <a:schemeClr val="tx1"/>
                </a:solidFill>
              </a:rPr>
              <a:t>T</a:t>
            </a:r>
            <a:r>
              <a:rPr lang="ko-KR" altLang="en-US" sz="1100" baseline="-40000" dirty="0">
                <a:solidFill>
                  <a:schemeClr val="tx1"/>
                </a:solidFill>
              </a:rPr>
              <a:t>FS</a:t>
            </a:r>
            <a:r>
              <a:rPr lang="ko-KR" altLang="en-US" sz="1100" dirty="0">
                <a:solidFill>
                  <a:schemeClr val="tx1"/>
                </a:solidFill>
              </a:rPr>
              <a:t> → 관할 소방서 출동·전개 시간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10 · 검증과 확인 (5.5.9, 8.2) — 계산이 맞는가, 모델이 현실을 대표하는가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검증: 엑셀 수식과 파이썬이 독립적으로 같은 값 (최대 상대차 3.7×10</a:t>
            </a:r>
            <a:r>
              <a:rPr lang="ko-KR" altLang="en-US" sz="2000" b="1" baseline="30000" dirty="0">
                <a:solidFill>
                  <a:schemeClr val="tx1"/>
                </a:solidFill>
              </a:rPr>
              <a:t>−13</a:t>
            </a:r>
            <a:r>
              <a:rPr lang="ko-KR" altLang="en-US" sz="2000" b="1" dirty="0">
                <a:solidFill>
                  <a:schemeClr val="tx1"/>
                </a:solidFill>
              </a:rPr>
              <a:t>)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확인: ‘3 m 시험 = 1개 층’ 외삽은 미확인 → 실대형 시험·PyroSim 비교가 다음 단계</a:t>
            </a:r>
            <a:endParaRPr lang="ko-KR" sz="2000" dirty="0"/>
          </a:p>
        </p:txBody>
      </p:sp>
      <p:sp>
        <p:nvSpPr>
          <p:cNvPr id="4" name="verification"/>
          <p:cNvSpPr/>
          <p:nvPr/>
        </p:nvSpPr>
        <p:spPr>
          <a:xfrm>
            <a:off x="457200" y="1691640"/>
            <a:ext cx="5524348" cy="4160520"/>
          </a:xfrm>
          <a:prstGeom prst="roundRect">
            <a:avLst>
              <a:gd name="adj" fmla="val 1758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5158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chemeClr val="tx1"/>
                </a:solidFill>
              </a:rPr>
              <a:t>검증 (Verification, 8.2.1) — 완료</a:t>
            </a:r>
            <a:endParaRPr lang="ko-KR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51585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8.2.1.1 대체 계산 재현  </a:t>
            </a:r>
            <a:r>
              <a:rPr lang="ko-KR" altLang="en-US" sz="1200" dirty="0">
                <a:solidFill>
                  <a:schemeClr val="tx1"/>
                </a:solidFill>
              </a:rPr>
              <a:t>엑셀 수식 3,986개 vs 파이썬 — 24경우 × 5지표 120개 값, 최대 상대차 </a:t>
            </a:r>
            <a:r>
              <a:rPr lang="ko-KR" altLang="en-US" sz="1200" dirty="0">
                <a:solidFill>
                  <a:schemeClr val="tx1"/>
                </a:solidFill>
              </a:rPr>
              <a:t>3.7×10</a:t>
            </a:r>
            <a:r>
              <a:rPr lang="ko-KR" altLang="en-US" sz="1200" baseline="30000" dirty="0">
                <a:solidFill>
                  <a:schemeClr val="tx1"/>
                </a:solidFill>
              </a:rPr>
              <a:t>−13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8.2.1.2 단계별 확인  </a:t>
            </a:r>
            <a:r>
              <a:rPr lang="ko-KR" altLang="en-US" sz="1200" dirty="0">
                <a:solidFill>
                  <a:schemeClr val="tx1"/>
                </a:solidFill>
              </a:rPr>
              <a:t>PF 내부용 손계산(12쪽) = 계산서 5_위험도 = point_estimate.csv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몬테카를로 내부 확인  </a:t>
            </a:r>
            <a:r>
              <a:rPr lang="ko-KR" altLang="en-US" sz="1200" dirty="0">
                <a:solidFill>
                  <a:schemeClr val="tx1"/>
                </a:solidFill>
              </a:rPr>
              <a:t>우연적 변동을 0으로 두면 MC 결과가 점추정과 같음(상대차 0, qfra.py의 assert)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표본 수 확인  </a:t>
            </a:r>
            <a:r>
              <a:rPr lang="ko-KR" altLang="en-US" sz="1200" dirty="0">
                <a:solidFill>
                  <a:schemeClr val="tx1"/>
                </a:solidFill>
              </a:rPr>
              <a:t>안쪽 표본 1,000개(무작위)와 400개(LHS)의 </a:t>
            </a:r>
            <a:r>
              <a:rPr lang="ko-KR" altLang="en-US" sz="1200" dirty="0">
                <a:solidFill>
                  <a:schemeClr val="tx1"/>
                </a:solidFill>
              </a:rPr>
              <a:t>R</a:t>
            </a:r>
            <a:r>
              <a:rPr lang="ko-KR" altLang="en-US" sz="1200" baseline="-40000" dirty="0">
                <a:solidFill>
                  <a:schemeClr val="tx1"/>
                </a:solidFill>
              </a:rPr>
              <a:t>S</a:t>
            </a:r>
            <a:r>
              <a:rPr lang="ko-KR" altLang="en-US" sz="1200" dirty="0">
                <a:solidFill>
                  <a:schemeClr val="tx1"/>
                </a:solidFill>
              </a:rPr>
              <a:t> 평균 차이 1.5 % 이내</a:t>
            </a:r>
            <a:endParaRPr lang="ko-KR" sz="1200" dirty="0"/>
          </a:p>
        </p:txBody>
      </p:sp>
      <p:sp>
        <p:nvSpPr>
          <p:cNvPr id="7" name="validation"/>
          <p:cNvSpPr/>
          <p:nvPr/>
        </p:nvSpPr>
        <p:spPr>
          <a:xfrm>
            <a:off x="6210148" y="1691640"/>
            <a:ext cx="5524348" cy="4160520"/>
          </a:xfrm>
          <a:prstGeom prst="roundRect">
            <a:avLst>
              <a:gd name="adj" fmla="val 1758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1783080"/>
            <a:ext cx="5158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chemeClr val="tx1"/>
                </a:solidFill>
              </a:rPr>
              <a:t>확인 (Validation, 8.2.2) — 계획</a:t>
            </a:r>
            <a:endParaRPr lang="ko-KR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93028" y="2194560"/>
            <a:ext cx="51585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시험과 비교 (8.2.2.2)  </a:t>
            </a:r>
            <a:r>
              <a:rPr lang="ko-KR" altLang="en-US" sz="1200" dirty="0">
                <a:solidFill>
                  <a:schemeClr val="tx1"/>
                </a:solidFill>
              </a:rPr>
              <a:t>재료 입력이 시험값 자체라 3 m 안에서는 일치. ‘한 층씩 </a:t>
            </a:r>
            <a:r>
              <a:rPr lang="ko-KR" altLang="en-US" sz="1200" dirty="0">
                <a:solidFill>
                  <a:schemeClr val="tx1"/>
                </a:solidFill>
              </a:rPr>
              <a:t>τ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</a:t>
            </a:r>
            <a:r>
              <a:rPr lang="ko-KR" altLang="en-US" sz="1200" dirty="0">
                <a:solidFill>
                  <a:schemeClr val="tx1"/>
                </a:solidFill>
              </a:rPr>
              <a:t>로 오른다’는 외삽은 2개 층 이상 실대형 시험(KS F 8414)으로 확인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대체 모델 비교 (8.2.2.1)  </a:t>
            </a:r>
            <a:r>
              <a:rPr lang="ko-KR" altLang="en-US" sz="1200" dirty="0">
                <a:solidFill>
                  <a:schemeClr val="tx1"/>
                </a:solidFill>
              </a:rPr>
              <a:t>PyroSim(FDS)으로 분출화염 → 중공층 확산을 계산해 </a:t>
            </a:r>
            <a:r>
              <a:rPr lang="ko-KR" altLang="en-US" sz="1200" dirty="0">
                <a:solidFill>
                  <a:schemeClr val="tx1"/>
                </a:solidFill>
              </a:rPr>
              <a:t>τ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</a:t>
            </a:r>
            <a:r>
              <a:rPr lang="ko-KR" altLang="en-US" sz="1200" dirty="0">
                <a:solidFill>
                  <a:schemeClr val="tx1"/>
                </a:solidFill>
              </a:rPr>
              <a:t>와 s 비교(면재·마감층 포함 모델, 앞선 PyroSim 자료)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TGA 예측식의 범위  </a:t>
            </a:r>
            <a:r>
              <a:rPr lang="ko-KR" altLang="en-US" sz="1200" dirty="0">
                <a:solidFill>
                  <a:schemeClr val="tx1"/>
                </a:solidFill>
              </a:rPr>
              <a:t>미시험 준불연 제품의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00" dirty="0">
                <a:solidFill>
                  <a:schemeClr val="tx1"/>
                </a:solidFill>
              </a:rPr>
              <a:t> 추정에 쓸 수 있음(교차검증 P등급 6/6, 오차 −14 – +29 %); 가연성은 불가(예측 777 s → 실측 30 s)</a:t>
            </a:r>
            <a:endParaRPr lang="ko-KR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200" b="1" dirty="0">
                <a:solidFill>
                  <a:schemeClr val="tx1"/>
                </a:solidFill>
              </a:rPr>
              <a:t>실제 화재와 비교  </a:t>
            </a:r>
            <a:r>
              <a:rPr lang="ko-KR" altLang="en-US" sz="1200" dirty="0">
                <a:solidFill>
                  <a:schemeClr val="tx1"/>
                </a:solidFill>
              </a:rPr>
              <a:t>국내 외벽 화재의 층간 확산 시간·층 수와 정성 비교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9436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NFPA 551 5.5.9: 정량법은 ‘제대로 구성되면 실제 위험을 정확히 대표’한다고 받아들여지지만, 결과·빈도 추정에 쓴 모델의 확인 근거는 함께 제출해야 함.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11 · 문서화 — 무엇을 어떻게 서술하나 (7.2 개념보고서, 7.3.3.4 정량 결과 문서)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개념보고서는 ‘분석 전에 합의할 것’ 8항목, 정량 결과 문서는 ‘분석에서 나온 것’ 8항목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서술양식.docx에 항목마다 쓸 내용 · 작성 방법 · 예문을 넣어 둠</a:t>
            </a:r>
            <a:endParaRPr lang="ko-KR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01488" cy="384048"/>
          </a:xfrm>
          <a:prstGeom prst="roundRect">
            <a:avLst>
              <a:gd name="adj" fmla="val 14286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91640"/>
            <a:ext cx="522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개념보고서 (7.2) — 분석 전, 관할기관과 합의</a:t>
            </a:r>
            <a:endParaRPr lang="ko-KR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501488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355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7.2.2.1 참여자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평가자·검토자의 학력, FRA 경력, 자격(1.4)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7.2.2.2 범위·목적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목적, 건물·외벽 시스템, 사용 단계, 외벽 경로만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7.2.2.3 목표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발화층 위 재실자 보호, 확산 층 수 제한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7.2.2.4 허용기준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F(n ≥ 2) ≤ 기준값, 신뢰수준, 근거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7.2.2.5 위험요소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노출 대상 · 자극 · 전달 · 반응(4.4.2)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7.2.2.6 시나리오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IE1 · IE2, 군집 근거, 제외와 이유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7.2.2.7 방법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사건수목 + 층간 확산 모델 + 2중 MC, 적합성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7.2.2.8 자료 출처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통계·시험·가정값, 예시값 표시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33008" y="1691640"/>
            <a:ext cx="5501488" cy="384048"/>
          </a:xfrm>
          <a:prstGeom prst="roundRect">
            <a:avLst>
              <a:gd name="adj" fmla="val 14286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70168" y="1691640"/>
            <a:ext cx="522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정량 결과 문서 (7.3.3.4) — 분석 후 제출</a:t>
            </a:r>
            <a:endParaRPr lang="ko-KR" sz="13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2148840"/>
          <a:ext cx="5501488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355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7.3.3.4.1 빈도·확률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경로별 F와 기간(/동·년), 사건수목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7.3.3.4.2 결과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군집별 C와 대표성(반복시험 가중)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7.3.3.4.3 위험도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R = Σ F·C, 시나리오 대표성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7.3.3.4.4 불확실성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구분·전파·민감도·신뢰수준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7.3.3.4.5 SW·모델 평가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버전, 검증 결과, 적용 범위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7.3.3.4.6 한계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3 m → 1개 층 외삽, 예시 입력 등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7.3.3.4.7 결론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기준 대비 판정, 목적 달성 정도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7.3.3.4.8 참고문헌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도면·시험성적서·통계·기준(판/연도)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example sentence"/>
          <p:cNvSpPr/>
          <p:nvPr/>
        </p:nvSpPr>
        <p:spPr>
          <a:xfrm>
            <a:off x="457200" y="548640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551383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예문 (7.3.3.4.3)  </a:t>
            </a:r>
            <a:r>
              <a:rPr lang="ko-KR" altLang="en-US" sz="1100" dirty="0">
                <a:solidFill>
                  <a:schemeClr val="tx1"/>
                </a:solidFill>
              </a:rPr>
              <a:t>“PF 준불연 내부용 외단열을 적용한 15층 공동주택의 외벽 확산 위험도는 1.8×10</a:t>
            </a:r>
            <a:r>
              <a:rPr lang="ko-KR" altLang="en-US" sz="1100" baseline="30000" dirty="0">
                <a:solidFill>
                  <a:schemeClr val="tx1"/>
                </a:solidFill>
              </a:rPr>
              <a:t>−3</a:t>
            </a:r>
            <a:r>
              <a:rPr lang="ko-KR" altLang="en-US" sz="1100" dirty="0">
                <a:solidFill>
                  <a:schemeClr val="tx1"/>
                </a:solidFill>
              </a:rPr>
              <a:t>층/동·년(점추정)이며, 이 중 83 %는 외부 발화원(IE2)에서 기인한다. 사건수목의 두 초기사건은 외벽을 화염에 노출시키는 모든 사용 단계 시나리오를 포함하도록 선정하였다(5.5.1.1).”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11 · 운영 · 유지관리 매뉴얼 (7.4)과 이행 (7.5) — 평가가 유효하려면 지켜야 할 조건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외벽 평가는 평가 때의 재료·차단재·배리어·발화원 관리가 그대로일 때만 유효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— 지킬 조건, 점검, 변경 관리, 재평가 계기를 매뉴얼에 적음</a:t>
            </a:r>
            <a:endParaRPr lang="ko-KR" sz="2000" dirty="0"/>
          </a:p>
        </p:txBody>
      </p:sp>
      <p:sp>
        <p:nvSpPr>
          <p:cNvPr id="4" name="card 7.4.2 한계·가정 목록"/>
          <p:cNvSpPr/>
          <p:nvPr/>
        </p:nvSpPr>
        <p:spPr>
          <a:xfrm>
            <a:off x="457200" y="1691640"/>
            <a:ext cx="2682164" cy="4069080"/>
          </a:xfrm>
          <a:prstGeom prst="roundRect">
            <a:avLst>
              <a:gd name="adj" fmla="val 2727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8366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2087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7.4.2 한계·가정 목록</a:t>
            </a:r>
            <a:endParaRPr lang="ko-KR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21992"/>
            <a:ext cx="22981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외장재·단열재가 평가한 제품(시험 시편과 같은 구성)일 것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개구부 차단재·층간 배리어가 설계대로 시공되고 관통부가 없을 것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필로티·외벽 하부에 차량·쓰레기 등 가연물을 두지 않을 것(IE2 빈도 가정)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세대 스프링클러가 작동 상태일 것(IE1 분기)</a:t>
            </a:r>
            <a:endParaRPr lang="ko-KR" sz="1150" dirty="0"/>
          </a:p>
        </p:txBody>
      </p:sp>
      <p:sp>
        <p:nvSpPr>
          <p:cNvPr id="8" name="card 7.4.3 변경 관리"/>
          <p:cNvSpPr/>
          <p:nvPr/>
        </p:nvSpPr>
        <p:spPr>
          <a:xfrm>
            <a:off x="3322244" y="1691640"/>
            <a:ext cx="2682164" cy="4069080"/>
          </a:xfrm>
          <a:prstGeom prst="roundRect">
            <a:avLst>
              <a:gd name="adj" fmla="val 2727"/>
            </a:avLst>
          </a:prstGeom>
          <a:solidFill>
            <a:srgbClr val="FEF2D3"/>
          </a:solidFill>
          <a:ln w="9525">
            <a:solidFill>
              <a:srgbClr val="FEF2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05124" y="1883664"/>
            <a:ext cx="182880" cy="182880"/>
          </a:xfrm>
          <a:prstGeom prst="ellipse">
            <a:avLst/>
          </a:prstGeom>
          <a:solidFill>
            <a:srgbClr val="FAB219"/>
          </a:solidFill>
          <a:ln w="6350">
            <a:solidFill>
              <a:srgbClr val="FAB2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79444" y="1783080"/>
            <a:ext cx="2087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7.4.3 변경 관리</a:t>
            </a:r>
            <a:endParaRPr lang="ko-KR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23412" y="2221992"/>
            <a:ext cx="22981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외장 교체·리모델링·창호 교체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설비 관통부 추가, 발코니 확장·용도 변경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→ 위 변경 전 영향 평가, 필요하면 재평가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변경 이력을 평가 문서에 기록</a:t>
            </a:r>
            <a:endParaRPr lang="ko-KR" sz="1150" dirty="0"/>
          </a:p>
        </p:txBody>
      </p:sp>
      <p:sp>
        <p:nvSpPr>
          <p:cNvPr id="12" name="card 7.4.4 점검·유지관리"/>
          <p:cNvSpPr/>
          <p:nvPr/>
        </p:nvSpPr>
        <p:spPr>
          <a:xfrm>
            <a:off x="6187288" y="1691640"/>
            <a:ext cx="2682164" cy="4069080"/>
          </a:xfrm>
          <a:prstGeom prst="roundRect">
            <a:avLst>
              <a:gd name="adj" fmla="val 2727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0168" y="188366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44488" y="1783080"/>
            <a:ext cx="2087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7.4.4 점검·유지관리</a:t>
            </a:r>
            <a:endParaRPr lang="ko-KR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88456" y="2221992"/>
            <a:ext cx="22981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배리어·차단재: 관통부·시공 하자 정기 점검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스프링클러: 작동 시험(신뢰도 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</a:t>
            </a:r>
            <a:r>
              <a:rPr lang="ko-KR" altLang="en-US" sz="1150" dirty="0">
                <a:solidFill>
                  <a:schemeClr val="tx1"/>
                </a:solidFill>
              </a:rPr>
              <a:t> 근거)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필로티 주차·적치물 점검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점검 결과로 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</a:t>
            </a:r>
            <a:r>
              <a:rPr lang="ko-KR" altLang="en-US" sz="1150" dirty="0">
                <a:solidFill>
                  <a:schemeClr val="tx1"/>
                </a:solidFill>
              </a:rPr>
              <a:t>·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e</a:t>
            </a:r>
            <a:r>
              <a:rPr lang="ko-KR" altLang="en-US" sz="1150" dirty="0">
                <a:solidFill>
                  <a:schemeClr val="tx1"/>
                </a:solidFill>
              </a:rPr>
              <a:t>·</a:t>
            </a:r>
            <a:r>
              <a:rPr lang="ko-KR" altLang="en-US" sz="1150" dirty="0">
                <a:solidFill>
                  <a:schemeClr val="tx1"/>
                </a:solidFill>
              </a:rPr>
              <a:t>p</a:t>
            </a:r>
            <a:r>
              <a:rPr lang="ko-KR" altLang="en-US" sz="1150" baseline="-40000" dirty="0">
                <a:solidFill>
                  <a:schemeClr val="tx1"/>
                </a:solidFill>
              </a:rPr>
              <a:t>cb</a:t>
            </a:r>
            <a:r>
              <a:rPr lang="ko-KR" altLang="en-US" sz="1150" dirty="0">
                <a:solidFill>
                  <a:schemeClr val="tx1"/>
                </a:solidFill>
              </a:rPr>
              <a:t> 가정을 갱신</a:t>
            </a:r>
            <a:endParaRPr lang="ko-KR" sz="1150" dirty="0"/>
          </a:p>
        </p:txBody>
      </p:sp>
      <p:sp>
        <p:nvSpPr>
          <p:cNvPr id="16" name="card 7.5 이행"/>
          <p:cNvSpPr/>
          <p:nvPr/>
        </p:nvSpPr>
        <p:spPr>
          <a:xfrm>
            <a:off x="9052331" y="1691640"/>
            <a:ext cx="2682164" cy="4069080"/>
          </a:xfrm>
          <a:prstGeom prst="roundRect">
            <a:avLst>
              <a:gd name="adj" fmla="val 2727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211" y="1883664"/>
            <a:ext cx="182880" cy="182880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531" y="1783080"/>
            <a:ext cx="2087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chemeClr val="tx1"/>
                </a:solidFill>
              </a:rPr>
              <a:t>7.5 이행</a:t>
            </a:r>
            <a:endParaRPr lang="ko-KR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53499" y="2221992"/>
            <a:ext cx="22981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점검 기록 제출 주기와 담당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미이행 시 조치(관할 규정 연계)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사후 발견(제품 리콜, 시공 하자) 시 재평가</a:t>
            </a:r>
            <a:endParaRPr lang="ko-KR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chemeClr val="tx1"/>
                </a:solidFill>
              </a:rPr>
              <a:t>재평가 계기를 계약·관리 규약에 반영</a:t>
            </a:r>
            <a:endParaRPr lang="ko-KR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9436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NFPA 551 8.3 검토 질문 (7)–(9): 운영·유지관리 매뉴얼, 변경 관리 지침, 점검·시험·유지관리 프로그램이 있는가.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단계 12 · 검토와 승인 (8.1, 8.3) — 검토 질문 9개와 답하는 위치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관할기관은 직접 검토하거나 제3자(동료 검토·계약 검토)에 맡김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— 검토 질문 9개의 답 위치를 미리 표로 붙이면 검토가 빨라짐</a:t>
            </a:r>
            <a:endParaRPr lang="ko-KR" sz="2000" dirty="0"/>
          </a:p>
        </p:txBody>
      </p:sp>
      <p:sp>
        <p:nvSpPr>
          <p:cNvPr id="4" name="review approaches"/>
          <p:cNvSpPr/>
          <p:nvPr/>
        </p:nvSpPr>
        <p:spPr>
          <a:xfrm>
            <a:off x="457200" y="1691640"/>
            <a:ext cx="3291840" cy="4114800"/>
          </a:xfrm>
          <a:prstGeom prst="roundRect">
            <a:avLst>
              <a:gd name="adj" fmla="val 222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검토 방식 (8.1)</a:t>
            </a:r>
            <a:endParaRPr lang="ko-K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29260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직접 검토  </a:t>
            </a:r>
            <a:r>
              <a:rPr lang="ko-KR" altLang="en-US" sz="1150" dirty="0">
                <a:solidFill>
                  <a:schemeClr val="tx1"/>
                </a:solidFill>
              </a:rPr>
              <a:t>관할기관이 자원이 있을 때 문서를 직접 검토(8.1.1)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동료 검토  </a:t>
            </a:r>
            <a:r>
              <a:rPr lang="ko-KR" altLang="en-US" sz="1150" dirty="0">
                <a:solidFill>
                  <a:schemeClr val="tx1"/>
                </a:solidFill>
              </a:rPr>
              <a:t>제3자가 의견서 제출, 판단은 관할기관(8.1.2.1). 검토자는 평가에 관여하지 않은 같은 수준의 전문가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계약 검토  </a:t>
            </a:r>
            <a:r>
              <a:rPr lang="ko-KR" altLang="en-US" sz="1150" dirty="0">
                <a:solidFill>
                  <a:schemeClr val="tx1"/>
                </a:solidFill>
              </a:rPr>
              <a:t>제3자가 승인·보완·반려까지 결정(8.1.2.2)</a:t>
            </a:r>
            <a:endParaRPr lang="ko-KR" sz="11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검토 기법 (8.2)  </a:t>
            </a:r>
            <a:r>
              <a:rPr lang="ko-KR" altLang="en-US" sz="1150" dirty="0">
                <a:solidFill>
                  <a:schemeClr val="tx1"/>
                </a:solidFill>
              </a:rPr>
              <a:t>검증: 대체 계산·단계 확인·표본 감사 / 확인: 대체 모델·시험 비교·실증</a:t>
            </a:r>
            <a:endParaRPr lang="ko-KR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691640"/>
          <a:ext cx="7756855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3657600"/>
                <a:gridCol w="350489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8.3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검토 질문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</a:rPr>
                        <a:t>답하는 위치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(1)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평가 목적이 명시되었는가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서술양식 1.2 · 이 덱 7쪽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(2)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평가 범위가 명시되었는가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서술양식 1.2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(3)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방법과 적합성 근거가 있는가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서술양식 1.7 · 이 덱 3·10쪽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(4)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한계가 명시되었는가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서술양식 2.6 · 이 덱 21쪽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(5)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분석 결과가 포함되었는가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계산서 5_위험도 · 6_불확실성(MC)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(6)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결론이 포함되었는가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서술양식 2.7 · 이 덱 15쪽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(7)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운영·유지관리 매뉴얼이 있는가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서술양식 3.1 · 이 덱 19쪽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(8)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변경 관리 지침이 있는가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서술양식 3.2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3303D"/>
                          </a:solidFill>
                        </a:rPr>
                        <a:t>(9)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점검·시험·유지관리 프로그램이 있는가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23303D"/>
                          </a:solidFill>
                        </a:rPr>
                        <a:t>서술양식 3.3</a:t>
                      </a:r>
                      <a:endParaRPr lang="ko-KR" sz="11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59436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계산서 8_문서화점검 시트에 7.2 · 7.3.3.4 · 7.4 · 8.3 항목과 상태(완료/작성 중/미작성/해당 없음)를 기록할 수 있습니다.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한계 (7.3.3.4.6)와 다음 단계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가장 약한 고리는 ‘3 m 중규모 시험 = 1개 층, 층마다 같은 시간’이라는 외삽과 예시 입력값 —</a:t>
            </a:r>
            <a:endParaRPr lang="ko-KR" sz="2000" dirty="0"/>
          </a:p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실대형 시험 · 화재 통계 · 배리어 시험이 들어오면 같은 절차로 결론이 확정됨</a:t>
            </a:r>
            <a:endParaRPr lang="ko-KR" sz="2000" dirty="0"/>
          </a:p>
        </p:txBody>
      </p:sp>
      <p:sp>
        <p:nvSpPr>
          <p:cNvPr id="4" name="card 한계"/>
          <p:cNvSpPr/>
          <p:nvPr/>
        </p:nvSpPr>
        <p:spPr>
          <a:xfrm>
            <a:off x="457200" y="1691640"/>
            <a:ext cx="5524348" cy="4114800"/>
          </a:xfrm>
          <a:prstGeom prst="roundRect">
            <a:avLst>
              <a:gd name="adj" fmla="val 1778"/>
            </a:avLst>
          </a:prstGeom>
          <a:solidFill>
            <a:srgbClr val="F8DEDE"/>
          </a:solidFill>
          <a:ln w="9525">
            <a:solidFill>
              <a:srgbClr val="F8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83664"/>
            <a:ext cx="182880" cy="182880"/>
          </a:xfrm>
          <a:prstGeom prst="ellipse">
            <a:avLst/>
          </a:prstGeom>
          <a:solidFill>
            <a:srgbClr val="D03B3B"/>
          </a:solidFill>
          <a:ln w="6350">
            <a:solidFill>
              <a:srgbClr val="D03B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한계</a:t>
            </a:r>
            <a:endParaRPr lang="ko-K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21992"/>
            <a:ext cx="51403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3 m 중공층 시험을 ‘1개 층 확산’으로 외삽, 층마다 같은 </a:t>
            </a:r>
            <a:r>
              <a:rPr lang="ko-KR" altLang="en-US" sz="1200" dirty="0">
                <a:solidFill>
                  <a:schemeClr val="tx1"/>
                </a:solidFill>
              </a:rPr>
              <a:t>τ</a:t>
            </a:r>
            <a:r>
              <a:rPr lang="ko-KR" altLang="en-US" sz="1200" baseline="-40000" dirty="0">
                <a:solidFill>
                  <a:schemeClr val="tx1"/>
                </a:solidFill>
              </a:rPr>
              <a:t>F</a:t>
            </a:r>
            <a:r>
              <a:rPr lang="ko-KR" altLang="en-US" sz="1200" dirty="0">
                <a:solidFill>
                  <a:schemeClr val="tx1"/>
                </a:solidFill>
              </a:rPr>
              <a:t> (s = 0.25–1 가정)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빈도·분기확률·시간은 예시값 — 국내 통계 미반영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분기 독립 가정, 수평 확산·바람·낙하물 미고려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노출 = 피난 완료 전 화염 도달(연기 영향 제외), 사망 환산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d</a:t>
            </a:r>
            <a:r>
              <a:rPr lang="ko-KR" altLang="en-US" sz="1200" dirty="0">
                <a:solidFill>
                  <a:schemeClr val="tx1"/>
                </a:solidFill>
              </a:rPr>
              <a:t>는 가정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반복시험 2–3회 →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200" dirty="0">
                <a:solidFill>
                  <a:schemeClr val="tx1"/>
                </a:solidFill>
              </a:rPr>
              <a:t>·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 표본이 작음, EPS 가연성은 자료 없음</a:t>
            </a:r>
            <a:endParaRPr lang="ko-KR" sz="1200" dirty="0"/>
          </a:p>
        </p:txBody>
      </p:sp>
      <p:sp>
        <p:nvSpPr>
          <p:cNvPr id="8" name="card 다음 단계"/>
          <p:cNvSpPr/>
          <p:nvPr/>
        </p:nvSpPr>
        <p:spPr>
          <a:xfrm>
            <a:off x="6210148" y="1691640"/>
            <a:ext cx="5524348" cy="4114800"/>
          </a:xfrm>
          <a:prstGeom prst="roundRect">
            <a:avLst>
              <a:gd name="adj" fmla="val 1778"/>
            </a:avLst>
          </a:prstGeom>
          <a:solidFill>
            <a:srgbClr val="E2F3E2"/>
          </a:solidFill>
          <a:ln w="9525">
            <a:solidFill>
              <a:srgbClr val="E2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3028" y="1883664"/>
            <a:ext cx="182880" cy="182880"/>
          </a:xfrm>
          <a:prstGeom prst="ellipse">
            <a:avLst/>
          </a:prstGeom>
          <a:solidFill>
            <a:srgbClr val="0CA30C"/>
          </a:solidFill>
          <a:ln w="6350">
            <a:solidFill>
              <a:srgbClr val="0CA3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7348" y="1783080"/>
            <a:ext cx="492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다음 단계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11316" y="2221992"/>
            <a:ext cx="51403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EFFECT 사용자 가이드 원문 → 문항·가중치 대응표와 입력 갱신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국가화재정보시스템: 공동주택 화재 · 발화 장소(필로티·주차장) 빈도 → </a:t>
            </a:r>
            <a:r>
              <a:rPr lang="ko-KR" altLang="en-US" sz="1200" dirty="0">
                <a:solidFill>
                  <a:schemeClr val="tx1"/>
                </a:solidFill>
              </a:rPr>
              <a:t>λ</a:t>
            </a:r>
            <a:r>
              <a:rPr lang="ko-KR" altLang="en-US" sz="1200" baseline="-400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λ</a:t>
            </a:r>
            <a:r>
              <a:rPr lang="ko-KR" altLang="en-US" sz="1200" baseline="-40000" dirty="0">
                <a:solidFill>
                  <a:schemeClr val="tx1"/>
                </a:solidFill>
              </a:rPr>
              <a:t>2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실대형 시험(KS F 8414) 2–3종 → s 보정(가장 큰 불확실성)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배리어·차단재를 넣은 중공층 시험 →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cb</a:t>
            </a:r>
            <a:r>
              <a:rPr lang="ko-KR" altLang="en-US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p</a:t>
            </a:r>
            <a:r>
              <a:rPr lang="ko-KR" altLang="en-US" sz="1200" baseline="-40000" dirty="0">
                <a:solidFill>
                  <a:schemeClr val="tx1"/>
                </a:solidFill>
              </a:rPr>
              <a:t>e1</a:t>
            </a:r>
            <a:r>
              <a:rPr lang="ko-KR" altLang="en-US" sz="1200" dirty="0">
                <a:solidFill>
                  <a:schemeClr val="tx1"/>
                </a:solidFill>
              </a:rPr>
              <a:t> (배리어 재착화 시간 </a:t>
            </a:r>
            <a:r>
              <a:rPr lang="ko-KR" altLang="en-US" sz="1200" dirty="0">
                <a:solidFill>
                  <a:schemeClr val="tx1"/>
                </a:solidFill>
              </a:rPr>
              <a:t>t</a:t>
            </a:r>
            <a:r>
              <a:rPr lang="ko-KR" altLang="en-US" sz="1200" baseline="-40000" dirty="0">
                <a:solidFill>
                  <a:schemeClr val="tx1"/>
                </a:solidFill>
              </a:rPr>
              <a:t>b</a:t>
            </a:r>
            <a:r>
              <a:rPr lang="ko-KR" altLang="en-US" sz="1200" dirty="0">
                <a:solidFill>
                  <a:schemeClr val="tx1"/>
                </a:solidFill>
              </a:rPr>
              <a:t>)</a:t>
            </a:r>
            <a:endParaRPr lang="ko-KR" sz="12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EPS 가연성 재시험(30분 기록) · 필요하면 비용편익(5.6)으로 대책 비교</a:t>
            </a:r>
            <a:endParaRPr lang="ko-KR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9436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chemeClr val="tx2"/>
                </a:solidFill>
              </a:rPr>
              <a:t>입력을 바꾸면: 계산서(xlsx) 노란 칸 → 점추정 즉시 갱신 / qfra.py의 PARAMS → MC·민감도·그림 갱신.</a:t>
            </a:r>
            <a:endParaRPr lang="ko-KR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부록 A — 기호와 입력값 (예시값과 대체할 자료)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측정값은 </a:t>
            </a:r>
            <a:r>
              <a:rPr lang="ko-KR" altLang="en-US" sz="2000" b="1" dirty="0">
                <a:solidFill>
                  <a:schemeClr val="tx1"/>
                </a:solidFill>
              </a:rPr>
              <a:t>t</a:t>
            </a:r>
            <a:r>
              <a:rPr lang="ko-KR" altLang="en-US" sz="2000" b="1" baseline="-40000" dirty="0">
                <a:solidFill>
                  <a:schemeClr val="tx1"/>
                </a:solidFill>
              </a:rPr>
              <a:t>600</a:t>
            </a:r>
            <a:r>
              <a:rPr lang="ko-KR" altLang="en-US" sz="2000" b="1" dirty="0">
                <a:solidFill>
                  <a:schemeClr val="tx1"/>
                </a:solidFill>
              </a:rPr>
              <a:t>·플래그 B뿐, 나머지는 예시값 — 대체할 자료를 함께 적어 둠 (6.2.1.3)</a:t>
            </a:r>
            <a:endParaRPr lang="ko-KR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788920"/>
                <a:gridCol w="685800"/>
                <a:gridCol w="822960"/>
                <a:gridCol w="1325880"/>
                <a:gridCol w="914400"/>
                <a:gridCol w="4172407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기호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단위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범위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NFPA 551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근거 · 대체할 자료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세대 화재 발생빈도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/세대·년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2.0×10</a:t>
                      </a:r>
                      <a:r>
                        <a:rPr lang="ko-KR" altLang="en-US" sz="1000" b="1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1.0×10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4.0×10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5.3.1.1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국가화재정보시스템(NFDS) 공동주택 화재 건수 ÷ 세대 수(주택총조사)로 대체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λ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2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외부 발화원 화재빈도(외벽 하부)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/동·년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2.0×10</a:t>
                      </a:r>
                      <a:r>
                        <a:rPr lang="ko-KR" altLang="en-US" sz="1000" b="1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5.0×10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8.0×10</a:t>
                      </a:r>
                      <a:r>
                        <a:rPr lang="ko-KR" altLang="en-US" sz="1000" baseline="30000" dirty="0">
                          <a:solidFill>
                            <a:srgbClr val="23303D"/>
                          </a:solidFill>
                        </a:rPr>
                        <a:t>−3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5.3.1.1, 6.2.1.3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예시값(자료 부족). 필로티·주차 차량, 쓰레기, 외부 설비 화재 통계로 대체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스프링클러 작동·제어 확률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0.9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0.8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0.97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5.1.4.5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국내 스프링클러 작동·효과 통계로 대체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FO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제어 실패 화재의 최성기 도달 확률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0.15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0.05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0.3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5.1.1.4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NFDS 연소 확대 범위(발화실 밖 확대) 비율로 대체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v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최성기 화재의 창 분출화염 확률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0.7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0.5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0.9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4.4.2.3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창호 형식(복층유리·방화유리) 반영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x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외부 화원의 외벽 노출 확률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0.3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0.1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0.6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4.4.2.3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화원–외벽 거리, 필로티 구조 반영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e0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중공층·단열재 노출 확률(차단재 없음)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0.9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0.7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4.4.2.3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개구부 주위·하부가 열려 있을 때. 현장조사(EFFECT Tier 2 수준)로 확인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e1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중공층·단열재 노출 확률(불연 차단재 설치)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0.3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0.1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0.5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5.1.4.5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차단재 시공 품질·시험 근거로 대체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cb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캐비티 배리어가 한 층 경계를 막을 확률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0.7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0.4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0.9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5.1.4.5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배리어를 넣은 중공층 시험·실대형 시험(KS F 8414)으로 대체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L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창→창 도약 확산 확률(한 층)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0.15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0.05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0.3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4.4.2.3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스팬드럴 높이·발코니 유무 반영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τ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L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도약 확산 한 층 소요시간(중앙값)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분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12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8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20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5.4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구획화재 성장시간(FDS·CFAST)으로 대체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FS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외벽 화재 진압 유효 시각(중앙값, 분출 기준)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분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15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10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25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5.1.1.4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관할 소방서 도착시간 + 전개시간(고가사다리 도달 높이 포함)으로 대체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RSET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상부층 피난 완료 시각(중앙값, 분출 기준)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분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15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10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25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4.4.2.4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경보 방식·재실자 특성으로 피난 계산해 대체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s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실물/시험 층당 확산시간 비(τ = s·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t</a:t>
                      </a:r>
                      <a:r>
                        <a:rPr lang="ko-KR" altLang="en-US" sz="1000" baseline="-40000" dirty="0">
                          <a:solidFill>
                            <a:srgbClr val="23303D"/>
                          </a:solidFill>
                        </a:rPr>
                        <a:t>600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)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0.5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0.25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1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5.4.4, 6.2.2.5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가정. 3 m·30 kW 시험을 실물 분출화염 조건으로 옮기는 계수. 실대형 시험(KS F 8414)으로 보정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p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d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노출 재실자 사망 확률(선택)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–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0.05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0.01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 – </a:t>
                      </a: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0.2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A.5.1.2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예시값. 인명 지표로 환산할 때만 사용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F</a:t>
                      </a:r>
                      <a:r>
                        <a:rPr lang="ko-KR" altLang="en-US" sz="1000" b="1" baseline="-40000" dirty="0">
                          <a:solidFill>
                            <a:srgbClr val="23303D"/>
                          </a:solidFill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*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허용기준 예시: 발화층 위 2개 층 이상 확산 빈도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/동·년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23303D"/>
                          </a:solidFill>
                        </a:rPr>
                        <a:t>1.0×10</a:t>
                      </a:r>
                      <a:r>
                        <a:rPr lang="ko-KR" altLang="en-US" sz="1000" b="1" baseline="30000" dirty="0">
                          <a:solidFill>
                            <a:srgbClr val="23303D"/>
                          </a:solidFill>
                        </a:rPr>
                        <a:t>−4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23303D"/>
                          </a:solidFill>
                        </a:rPr>
                        <a:t>고정</a:t>
                      </a:r>
                      <a:endParaRPr lang="ko-KR" sz="100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4.4.3, A.5.1.2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23303D"/>
                          </a:solidFill>
                        </a:rPr>
                        <a:t>예시값(규제 기준 아님). 사전협의에서 정함</a:t>
                      </a:r>
                      <a:endParaRPr lang="ko-KR" sz="950" dirty="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chemeClr val="tx2"/>
                </a:solidFill>
              </a:rPr>
              <a:t>부록 B — 근거 자료와 재현 방법</a:t>
            </a:r>
            <a:endParaRPr lang="ko-K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772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이 자료의 수치는 아래 스크립트로 다시 만들어지며, 원자료(시험 엑셀) 없이 결과 CSV만으로 계산됨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552434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NFPA 551 (2022) </a:t>
            </a:r>
            <a:r>
              <a:rPr lang="ko-KR" altLang="en-US" sz="1150" dirty="0">
                <a:solidFill>
                  <a:schemeClr val="tx1"/>
                </a:solidFill>
              </a:rPr>
              <a:t>Guide for the Evaluation of Fire Risk Assessments — 1.1–1.5, 3.3, 4.2–4.5, 5.1–5.6, 표 5.1.2.1, 6.2, 7.2–7.5, 8.1–8.3, Annex A(A.5.1.2, A.5.2.5, A.5.5.6)</a:t>
            </a:r>
            <a:endParaRPr lang="ko-KR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EFFECT </a:t>
            </a:r>
            <a:r>
              <a:rPr lang="ko-KR" altLang="en-US" sz="1150" dirty="0">
                <a:solidFill>
                  <a:schemeClr val="tx1"/>
                </a:solidFill>
              </a:rPr>
              <a:t>NFPA·Arup, 2018 — Tier 1·2 구성, 발화원·요인 항목(NFPA·Arup 공개 발표, 업계 보도 기준). 사용자 가이드 원문 미반영</a:t>
            </a:r>
            <a:endParaRPr lang="ko-KR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HSE R2P2 (2001) </a:t>
            </a:r>
            <a:r>
              <a:rPr lang="ko-KR" altLang="en-US" sz="1150" dirty="0">
                <a:solidFill>
                  <a:schemeClr val="tx1"/>
                </a:solidFill>
              </a:rPr>
              <a:t>Reducing risks, protecting people — 개인위험도 10</a:t>
            </a:r>
            <a:r>
              <a:rPr lang="ko-KR" altLang="en-US" sz="1150" baseline="30000" dirty="0">
                <a:solidFill>
                  <a:schemeClr val="tx1"/>
                </a:solidFill>
              </a:rPr>
              <a:t>−6</a:t>
            </a:r>
            <a:r>
              <a:rPr lang="ko-KR" altLang="en-US" sz="1150" dirty="0">
                <a:solidFill>
                  <a:schemeClr val="tx1"/>
                </a:solidFill>
              </a:rPr>
              <a:t>/년(일반적으로 허용), 10</a:t>
            </a:r>
            <a:r>
              <a:rPr lang="ko-KR" altLang="en-US" sz="1150" baseline="30000" dirty="0">
                <a:solidFill>
                  <a:schemeClr val="tx1"/>
                </a:solidFill>
              </a:rPr>
              <a:t>−4</a:t>
            </a:r>
            <a:r>
              <a:rPr lang="ko-KR" altLang="en-US" sz="1150" dirty="0">
                <a:solidFill>
                  <a:schemeClr val="tx1"/>
                </a:solidFill>
              </a:rPr>
              <a:t>/년(일반인 허용 한계) 참고값</a:t>
            </a:r>
            <a:endParaRPr lang="ko-KR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KS F 8414 </a:t>
            </a:r>
            <a:r>
              <a:rPr lang="ko-KR" altLang="en-US" sz="1150" dirty="0">
                <a:solidFill>
                  <a:schemeClr val="tx1"/>
                </a:solidFill>
              </a:rPr>
              <a:t>외벽 실물모형 화재시험(BS 8414 계열) — s 보정과 모델 확인용</a:t>
            </a:r>
            <a:endParaRPr lang="ko-KR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ko-KR" altLang="en-US" sz="1150" b="1" dirty="0">
                <a:solidFill>
                  <a:schemeClr val="tx1"/>
                </a:solidFill>
              </a:rPr>
              <a:t>이 저장소 </a:t>
            </a:r>
            <a:r>
              <a:rPr lang="ko-KR" altLang="en-US" sz="1150" dirty="0">
                <a:solidFill>
                  <a:schemeClr val="tx1"/>
                </a:solidFill>
              </a:rPr>
              <a:t>cavity_fire_index(α₆₀₀, FRI, R = P×S), integrated_model(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600</a:t>
            </a:r>
            <a:r>
              <a:rPr lang="ko-KR" altLang="en-US" sz="1150" dirty="0">
                <a:solidFill>
                  <a:schemeClr val="tx1"/>
                </a:solidFill>
              </a:rPr>
              <a:t> =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ig</a:t>
            </a:r>
            <a:r>
              <a:rPr lang="ko-KR" altLang="en-US" sz="1150" dirty="0">
                <a:solidFill>
                  <a:schemeClr val="tx1"/>
                </a:solidFill>
              </a:rPr>
              <a:t> + </a:t>
            </a:r>
            <a:r>
              <a:rPr lang="ko-KR" altLang="en-US" sz="1150" dirty="0">
                <a:solidFill>
                  <a:schemeClr val="tx1"/>
                </a:solidFill>
              </a:rPr>
              <a:t>t</a:t>
            </a:r>
            <a:r>
              <a:rPr lang="ko-KR" altLang="en-US" sz="1150" baseline="-40000" dirty="0">
                <a:solidFill>
                  <a:schemeClr val="tx1"/>
                </a:solidFill>
              </a:rPr>
              <a:t>sp</a:t>
            </a:r>
            <a:r>
              <a:rPr lang="ko-KR" altLang="en-US" sz="1150" dirty="0">
                <a:solidFill>
                  <a:schemeClr val="tx1"/>
                </a:solidFill>
              </a:rPr>
              <a:t>, 플래그 B, TGA 예측식), tga_dsc(PyroSim 입력)</a:t>
            </a:r>
            <a:endParaRPr lang="ko-KR" sz="1150" dirty="0"/>
          </a:p>
        </p:txBody>
      </p:sp>
      <p:sp>
        <p:nvSpPr>
          <p:cNvPr id="5" name="reproduce"/>
          <p:cNvSpPr/>
          <p:nvPr/>
        </p:nvSpPr>
        <p:spPr>
          <a:xfrm>
            <a:off x="6210148" y="1691640"/>
            <a:ext cx="5524348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93028" y="1810512"/>
            <a:ext cx="515858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ko-KR" altLang="en-US" sz="1150" b="1" dirty="0">
                <a:solidFill>
                  <a:schemeClr val="tx1"/>
                </a:solidFill>
              </a:rPr>
              <a:t>재현 (facade_fra/)</a:t>
            </a:r>
            <a:endParaRPr lang="ko-KR" sz="1150" dirty="0"/>
          </a:p>
          <a:p>
            <a:pPr indent="0" marL="0">
              <a:spcAft>
                <a:spcPts val="700"/>
              </a:spcAft>
              <a:buNone/>
            </a:pPr>
            <a:r>
              <a:rPr lang="ko-KR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qfra.py</a:t>
            </a:r>
            <a:r>
              <a:rPr lang="ko-KR" altLang="en-US" sz="1150" dirty="0">
                <a:solidFill>
                  <a:schemeClr val="tx1"/>
                </a:solidFill>
              </a:rPr>
              <a:t> → inputs/, results/, figures/, report/qfra_data.json</a:t>
            </a:r>
            <a:endParaRPr lang="ko-KR" sz="1150" dirty="0"/>
          </a:p>
          <a:p>
            <a:pPr indent="0" marL="0">
              <a:spcAft>
                <a:spcPts val="700"/>
              </a:spcAft>
              <a:buNone/>
            </a:pPr>
            <a:r>
              <a:rPr lang="ko-KR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report/build_qfra_xlsx.py</a:t>
            </a:r>
            <a:r>
              <a:rPr lang="ko-KR" altLang="en-US" sz="1150" dirty="0">
                <a:solidFill>
                  <a:schemeClr val="tx1"/>
                </a:solidFill>
              </a:rPr>
              <a:t> → 외벽_QFRA_계산서.xlsx</a:t>
            </a:r>
            <a:endParaRPr lang="ko-KR" sz="1150" dirty="0"/>
          </a:p>
          <a:p>
            <a:pPr indent="0" marL="0">
              <a:spcAft>
                <a:spcPts val="700"/>
              </a:spcAft>
              <a:buNone/>
            </a:pPr>
            <a:r>
              <a:rPr lang="ko-KR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recalc → python report/check_xlsx.py</a:t>
            </a:r>
            <a:r>
              <a:rPr lang="ko-KR" altLang="en-US" sz="1150" dirty="0">
                <a:solidFill>
                  <a:schemeClr val="tx1"/>
                </a:solidFill>
              </a:rPr>
              <a:t> → verification.json (엑셀 = 파이썬)</a:t>
            </a:r>
            <a:endParaRPr lang="ko-KR" sz="1150" dirty="0"/>
          </a:p>
          <a:p>
            <a:pPr indent="0" marL="0">
              <a:spcAft>
                <a:spcPts val="700"/>
              </a:spcAft>
              <a:buNone/>
            </a:pPr>
            <a:r>
              <a:rPr lang="ko-KR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report/build_qfra_deck.js</a:t>
            </a:r>
            <a:r>
              <a:rPr lang="ko-KR" altLang="en-US" sz="1150" dirty="0">
                <a:solidFill>
                  <a:schemeClr val="tx1"/>
                </a:solidFill>
              </a:rPr>
              <a:t> → 이 덱</a:t>
            </a:r>
            <a:endParaRPr lang="ko-KR" sz="1150" dirty="0"/>
          </a:p>
          <a:p>
            <a:pPr indent="0" marL="0">
              <a:spcAft>
                <a:spcPts val="700"/>
              </a:spcAft>
              <a:buNone/>
            </a:pPr>
            <a:r>
              <a:rPr lang="ko-KR" alt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report/build_qfra_docx.js</a:t>
            </a:r>
            <a:r>
              <a:rPr lang="ko-KR" altLang="en-US" sz="1150" dirty="0">
                <a:solidFill>
                  <a:schemeClr val="tx1"/>
                </a:solidFill>
              </a:rPr>
              <a:t> → 외벽_QFRA_서술양식.docx</a:t>
            </a:r>
            <a:endParaRPr lang="ko-KR" sz="1150" dirty="0"/>
          </a:p>
          <a:p>
            <a:pPr indent="0" marL="0">
              <a:spcAft>
                <a:spcPts val="700"/>
              </a:spcAft>
              <a:buNone/>
            </a:pPr>
            <a:r>
              <a:rPr lang="ko-KR" altLang="en-US" sz="1150" dirty="0">
                <a:solidFill>
                  <a:schemeClr val="tx1"/>
                </a:solidFill>
              </a:rPr>
              <a:t>MC: 인식론적 2,000 × 우연적 400 (LHS), seed 551</a:t>
            </a:r>
            <a:endParaRPr lang="ko-KR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CT facade QFRA">
  <a:themeElements>
    <a:clrScheme name="KICT facade QFRA">
      <a:dk1>
        <a:srgbClr val="23303D"/>
      </a:dk1>
      <a:lt1>
        <a:srgbClr val="FFFFFF"/>
      </a:lt1>
      <a:dk2>
        <a:srgbClr val="4B5563"/>
      </a:dk2>
      <a:lt2>
        <a:srgbClr val="F3F4F6"/>
      </a:lt2>
      <a:accent1>
        <a:srgbClr val="EB6834"/>
      </a:accent1>
      <a:accent2>
        <a:srgbClr val="2A78D6"/>
      </a:accent2>
      <a:accent3>
        <a:srgbClr val="0CA30C"/>
      </a:accent3>
      <a:accent4>
        <a:srgbClr val="FAB219"/>
      </a:accent4>
      <a:accent5>
        <a:srgbClr val="EC835A"/>
      </a:accent5>
      <a:accent6>
        <a:srgbClr val="D03B3B"/>
      </a:accent6>
      <a:hlink>
        <a:srgbClr val="2A78D6"/>
      </a:hlink>
      <a:folHlink>
        <a:srgbClr val="4B5563"/>
      </a:folHlink>
    </a:clrScheme>
    <a:fontScheme name="KICT facade QFRA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외벽 화재위험성평가의 정량적 방법과 절차</dc:title>
  <dc:subject>NFPA 551(2022) 5.5 정량적 화재위험성평가를 외벽(중공층 외단열)에 적용하는 절차, EFFECT 요인 연계, 중공층 시험 예제</dc:subject>
  <dc:creator>KICT 중공층 외단열 화재 분석</dc:creator>
  <cp:lastModifiedBy>KICT 중공층 외단열 화재 분석</cp:lastModifiedBy>
  <cp:revision>1</cp:revision>
  <dcterms:created xsi:type="dcterms:W3CDTF">2026-10-23T06:32:24Z</dcterms:created>
  <dcterms:modified xsi:type="dcterms:W3CDTF">2026-10-23T06:32:24Z</dcterms:modified>
</cp:coreProperties>
</file>