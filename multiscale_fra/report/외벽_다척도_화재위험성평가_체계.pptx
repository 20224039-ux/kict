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결론" id="{02855d0a-d644-8300-4e83-e821e56f00e0}">
          <p14:sldIdLst>
            <p14:sldId id="256"/>
            <p14:sldId id="257"/>
          </p14:sldIdLst>
        </p14:section>
        <p14:section name="EFFECT 검토" id="{b27629c5-423e-0b9d-68a2-c65769557908}">
          <p14:sldIdLst>
            <p14:sldId id="258"/>
            <p14:sldId id="259"/>
          </p14:sldIdLst>
        </p14:section>
        <p14:section name="체계" id="{5b51280b-6e5f-95ab-4c09-ba2054241b5c}">
          <p14:sldIdLst>
            <p14:sldId id="260"/>
            <p14:sldId id="261"/>
          </p14:sldIdLst>
        </p14:section>
        <p14:section name="L1 소형시료" id="{7112f8bf-8978-e9ba-6728-752f73c89fe9}">
          <p14:sldIdLst>
            <p14:sldId id="262"/>
            <p14:sldId id="263"/>
            <p14:sldId id="264"/>
            <p14:sldId id="265"/>
            <p14:sldId id="266"/>
          </p14:sldIdLst>
        </p14:section>
        <p14:section name="결합 · 정합성" id="{e132ae8e-1498-c477-c5de-824d426d6c80}">
          <p14:sldIdLst>
            <p14:sldId id="267"/>
            <p14:sldId id="268"/>
          </p14:sldIdLst>
        </p14:section>
        <p14:section name="척도별 위험도" id="{cb077262-ae2f-a446-ab16-0da492bb3448}">
          <p14:sldIdLst>
            <p14:sldId id="269"/>
            <p14:sldId id="270"/>
            <p14:sldId id="271"/>
          </p14:sldIdLst>
        </p14:section>
        <p14:section name="L3 시뮬레이션" id="{2358052d-44f1-0d92-abe9-b5450abc7c4f}">
          <p14:sldIdLst>
            <p14:sldId id="272"/>
            <p14:sldId id="273"/>
          </p14:sldIdLst>
        </p14:section>
        <p14:section name="적용" id="{b410fc2e-5c33-285f-76b4-998402986bb2}">
          <p14:sldIdLst>
            <p14:sldId id="274"/>
            <p14:sldId id="275"/>
            <p14:sldId id="276"/>
          </p14:sldIdLst>
        </p14:section>
        <p14:section name="부록" id="{0f04bf45-2860-492e-e5b6-fe22dae0b396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5"/>
          <c:y val="0.05"/>
          <c:w val="0.8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1:1</c:v>
                </c:pt>
              </c:strCache>
            </c:strRef>
          </c:tx>
          <c:spPr>
            <a:solidFill>
              <a:srgbClr val="4B5563"/>
            </a:solidFill>
            <a:ln w="19050" cap="flat">
              <a:solidFill>
                <a:srgbClr val="4B5563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200</c:v>
                </c:pt>
                <c:pt idx="1">
                  <c:v>2000</c:v>
                </c:pt>
                <c:pt idx="2">
                  <c:v>200</c:v>
                </c:pt>
                <c:pt idx="3">
                  <c:v>2000</c:v>
                </c:pt>
                <c:pt idx="4">
                  <c:v>661.1996283255</c:v>
                </c:pt>
                <c:pt idx="5">
                  <c:v>661.1996283255</c:v>
                </c:pt>
                <c:pt idx="6">
                  <c:v>661.1996283255</c:v>
                </c:pt>
                <c:pt idx="7">
                  <c:v>811.7562700107</c:v>
                </c:pt>
                <c:pt idx="8">
                  <c:v>811.7562700107</c:v>
                </c:pt>
                <c:pt idx="9">
                  <c:v>811.7562700107</c:v>
                </c:pt>
                <c:pt idx="10">
                  <c:v>925.76</c:v>
                </c:pt>
                <c:pt idx="11">
                  <c:v>925.76</c:v>
                </c:pt>
                <c:pt idx="12">
                  <c:v>925.76</c:v>
                </c:pt>
                <c:pt idx="13">
                  <c:v>1260.9</c:v>
                </c:pt>
                <c:pt idx="14">
                  <c:v>1260.9</c:v>
                </c:pt>
                <c:pt idx="15">
                  <c:v>1260.9</c:v>
                </c:pt>
                <c:pt idx="16">
                  <c:v>664.06</c:v>
                </c:pt>
                <c:pt idx="17">
                  <c:v>664.06</c:v>
                </c:pt>
                <c:pt idx="18">
                  <c:v>664.06</c:v>
                </c:pt>
              </c:numCache>
            </c:numRef>
          </c:xVal>
          <c:yVal>
            <c:numRef>
              <c:f>Sheet1!$B$2:$B$20</c:f>
              <c:numCache>
                <c:formatCode>General</c:formatCode>
                <c:ptCount val="19"/>
                <c:pt idx="0">
                  <c:v>200</c:v>
                </c:pt>
                <c:pt idx="1">
                  <c:v>2000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band lo</c:v>
                </c:pt>
              </c:strCache>
            </c:strRef>
          </c:tx>
          <c:spPr>
            <a:solidFill>
              <a:srgbClr val="9CA3AF"/>
            </a:solidFill>
            <a:ln w="19050" cap="flat">
              <a:solidFill>
                <a:srgbClr val="9CA3AF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200</c:v>
                </c:pt>
                <c:pt idx="1">
                  <c:v>2000</c:v>
                </c:pt>
                <c:pt idx="2">
                  <c:v>200</c:v>
                </c:pt>
                <c:pt idx="3">
                  <c:v>2000</c:v>
                </c:pt>
                <c:pt idx="4">
                  <c:v>661.1996283255</c:v>
                </c:pt>
                <c:pt idx="5">
                  <c:v>661.1996283255</c:v>
                </c:pt>
                <c:pt idx="6">
                  <c:v>661.1996283255</c:v>
                </c:pt>
                <c:pt idx="7">
                  <c:v>811.7562700107</c:v>
                </c:pt>
                <c:pt idx="8">
                  <c:v>811.7562700107</c:v>
                </c:pt>
                <c:pt idx="9">
                  <c:v>811.7562700107</c:v>
                </c:pt>
                <c:pt idx="10">
                  <c:v>925.76</c:v>
                </c:pt>
                <c:pt idx="11">
                  <c:v>925.76</c:v>
                </c:pt>
                <c:pt idx="12">
                  <c:v>925.76</c:v>
                </c:pt>
                <c:pt idx="13">
                  <c:v>1260.9</c:v>
                </c:pt>
                <c:pt idx="14">
                  <c:v>1260.9</c:v>
                </c:pt>
                <c:pt idx="15">
                  <c:v>1260.9</c:v>
                </c:pt>
                <c:pt idx="16">
                  <c:v>664.06</c:v>
                </c:pt>
                <c:pt idx="17">
                  <c:v>664.06</c:v>
                </c:pt>
                <c:pt idx="18">
                  <c:v>664.06</c:v>
                </c:pt>
              </c:numCache>
            </c:numRef>
          </c:xVal>
          <c:yVal>
            <c:numRef>
              <c:f>Sheet1!$C$2:$C$20</c:f>
              <c:numCache>
                <c:formatCode>General</c:formatCode>
                <c:ptCount val="19"/>
                <c:pt idx="2">
                  <c:v>137.8683591586055</c:v>
                </c:pt>
                <c:pt idx="3">
                  <c:v>1378.6835915860552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band hi</c:v>
                </c:pt>
              </c:strCache>
            </c:strRef>
          </c:tx>
          <c:spPr>
            <a:solidFill>
              <a:srgbClr val="9CA3AF"/>
            </a:solidFill>
            <a:ln w="19050" cap="flat">
              <a:solidFill>
                <a:srgbClr val="9CA3AF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200</c:v>
                </c:pt>
                <c:pt idx="1">
                  <c:v>2000</c:v>
                </c:pt>
                <c:pt idx="2">
                  <c:v>200</c:v>
                </c:pt>
                <c:pt idx="3">
                  <c:v>2000</c:v>
                </c:pt>
                <c:pt idx="4">
                  <c:v>661.1996283255</c:v>
                </c:pt>
                <c:pt idx="5">
                  <c:v>661.1996283255</c:v>
                </c:pt>
                <c:pt idx="6">
                  <c:v>661.1996283255</c:v>
                </c:pt>
                <c:pt idx="7">
                  <c:v>811.7562700107</c:v>
                </c:pt>
                <c:pt idx="8">
                  <c:v>811.7562700107</c:v>
                </c:pt>
                <c:pt idx="9">
                  <c:v>811.7562700107</c:v>
                </c:pt>
                <c:pt idx="10">
                  <c:v>925.76</c:v>
                </c:pt>
                <c:pt idx="11">
                  <c:v>925.76</c:v>
                </c:pt>
                <c:pt idx="12">
                  <c:v>925.76</c:v>
                </c:pt>
                <c:pt idx="13">
                  <c:v>1260.9</c:v>
                </c:pt>
                <c:pt idx="14">
                  <c:v>1260.9</c:v>
                </c:pt>
                <c:pt idx="15">
                  <c:v>1260.9</c:v>
                </c:pt>
                <c:pt idx="16">
                  <c:v>664.06</c:v>
                </c:pt>
                <c:pt idx="17">
                  <c:v>664.06</c:v>
                </c:pt>
                <c:pt idx="18">
                  <c:v>664.06</c:v>
                </c:pt>
              </c:numCache>
            </c:numRef>
          </c:xVal>
          <c:yVal>
            <c:numRef>
              <c:f>Sheet1!$D$2:$D$20</c:f>
              <c:numCache>
                <c:formatCode>General</c:formatCode>
                <c:ptCount val="19"/>
                <c:pt idx="2">
                  <c:v>290.1318347742392</c:v>
                </c:pt>
                <c:pt idx="3">
                  <c:v>2901.3183477423922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pt EPS_SC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0A9C4"/>
              </a:solidFill>
              <a:ln w="19050">
                <a:solidFill>
                  <a:srgbClr val="E87BA4"/>
                </a:solidFill>
              </a:ln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200</c:v>
                </c:pt>
                <c:pt idx="1">
                  <c:v>2000</c:v>
                </c:pt>
                <c:pt idx="2">
                  <c:v>200</c:v>
                </c:pt>
                <c:pt idx="3">
                  <c:v>2000</c:v>
                </c:pt>
                <c:pt idx="4">
                  <c:v>661.1996283255</c:v>
                </c:pt>
                <c:pt idx="5">
                  <c:v>661.1996283255</c:v>
                </c:pt>
                <c:pt idx="6">
                  <c:v>661.1996283255</c:v>
                </c:pt>
                <c:pt idx="7">
                  <c:v>811.7562700107</c:v>
                </c:pt>
                <c:pt idx="8">
                  <c:v>811.7562700107</c:v>
                </c:pt>
                <c:pt idx="9">
                  <c:v>811.7562700107</c:v>
                </c:pt>
                <c:pt idx="10">
                  <c:v>925.76</c:v>
                </c:pt>
                <c:pt idx="11">
                  <c:v>925.76</c:v>
                </c:pt>
                <c:pt idx="12">
                  <c:v>925.76</c:v>
                </c:pt>
                <c:pt idx="13">
                  <c:v>1260.9</c:v>
                </c:pt>
                <c:pt idx="14">
                  <c:v>1260.9</c:v>
                </c:pt>
                <c:pt idx="15">
                  <c:v>1260.9</c:v>
                </c:pt>
                <c:pt idx="16">
                  <c:v>664.06</c:v>
                </c:pt>
                <c:pt idx="17">
                  <c:v>664.06</c:v>
                </c:pt>
                <c:pt idx="18">
                  <c:v>664.06</c:v>
                </c:pt>
              </c:numCache>
            </c:numRef>
          </c:xVal>
          <c:yVal>
            <c:numRef>
              <c:f>Sheet1!$E$2:$E$20</c:f>
              <c:numCache>
                <c:formatCode>General</c:formatCode>
                <c:ptCount val="19"/>
                <c:pt idx="4">
                  <c:v>962</c:v>
                </c:pt>
                <c:pt idx="6">
                  <c:v>975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pt PIR_C</c:v>
                </c:pt>
              </c:strCache>
            </c:strRef>
          </c:tx>
          <c:spPr>
            <a:solidFill>
              <a:srgbClr val="6250D6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98DE4"/>
              </a:solidFill>
              <a:ln w="19050">
                <a:solidFill>
                  <a:srgbClr val="6250D6"/>
                </a:solidFill>
              </a:ln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200</c:v>
                </c:pt>
                <c:pt idx="1">
                  <c:v>2000</c:v>
                </c:pt>
                <c:pt idx="2">
                  <c:v>200</c:v>
                </c:pt>
                <c:pt idx="3">
                  <c:v>2000</c:v>
                </c:pt>
                <c:pt idx="4">
                  <c:v>661.1996283255</c:v>
                </c:pt>
                <c:pt idx="5">
                  <c:v>661.1996283255</c:v>
                </c:pt>
                <c:pt idx="6">
                  <c:v>661.1996283255</c:v>
                </c:pt>
                <c:pt idx="7">
                  <c:v>811.7562700107</c:v>
                </c:pt>
                <c:pt idx="8">
                  <c:v>811.7562700107</c:v>
                </c:pt>
                <c:pt idx="9">
                  <c:v>811.7562700107</c:v>
                </c:pt>
                <c:pt idx="10">
                  <c:v>925.76</c:v>
                </c:pt>
                <c:pt idx="11">
                  <c:v>925.76</c:v>
                </c:pt>
                <c:pt idx="12">
                  <c:v>925.76</c:v>
                </c:pt>
                <c:pt idx="13">
                  <c:v>1260.9</c:v>
                </c:pt>
                <c:pt idx="14">
                  <c:v>1260.9</c:v>
                </c:pt>
                <c:pt idx="15">
                  <c:v>1260.9</c:v>
                </c:pt>
                <c:pt idx="16">
                  <c:v>664.06</c:v>
                </c:pt>
                <c:pt idx="17">
                  <c:v>664.06</c:v>
                </c:pt>
                <c:pt idx="18">
                  <c:v>664.06</c:v>
                </c:pt>
              </c:numCache>
            </c:numRef>
          </c:xVal>
          <c:yVal>
            <c:numRef>
              <c:f>Sheet1!$F$2:$F$20</c:f>
              <c:numCache>
                <c:formatCode>General</c:formatCode>
                <c:ptCount val="19"/>
                <c:pt idx="7">
                  <c:v>31</c:v>
                </c:pt>
                <c:pt idx="8">
                  <c:v>29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pt PIR_SC</c:v>
                </c:pt>
              </c:strCache>
            </c:strRef>
          </c:tx>
          <c:spPr>
            <a:solidFill>
              <a:srgbClr val="00830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008300"/>
              </a:solidFill>
              <a:ln w="19050">
                <a:solidFill>
                  <a:srgbClr val="008300"/>
                </a:solidFill>
              </a:ln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200</c:v>
                </c:pt>
                <c:pt idx="1">
                  <c:v>2000</c:v>
                </c:pt>
                <c:pt idx="2">
                  <c:v>200</c:v>
                </c:pt>
                <c:pt idx="3">
                  <c:v>2000</c:v>
                </c:pt>
                <c:pt idx="4">
                  <c:v>661.1996283255</c:v>
                </c:pt>
                <c:pt idx="5">
                  <c:v>661.1996283255</c:v>
                </c:pt>
                <c:pt idx="6">
                  <c:v>661.1996283255</c:v>
                </c:pt>
                <c:pt idx="7">
                  <c:v>811.7562700107</c:v>
                </c:pt>
                <c:pt idx="8">
                  <c:v>811.7562700107</c:v>
                </c:pt>
                <c:pt idx="9">
                  <c:v>811.7562700107</c:v>
                </c:pt>
                <c:pt idx="10">
                  <c:v>925.76</c:v>
                </c:pt>
                <c:pt idx="11">
                  <c:v>925.76</c:v>
                </c:pt>
                <c:pt idx="12">
                  <c:v>925.76</c:v>
                </c:pt>
                <c:pt idx="13">
                  <c:v>1260.9</c:v>
                </c:pt>
                <c:pt idx="14">
                  <c:v>1260.9</c:v>
                </c:pt>
                <c:pt idx="15">
                  <c:v>1260.9</c:v>
                </c:pt>
                <c:pt idx="16">
                  <c:v>664.06</c:v>
                </c:pt>
                <c:pt idx="17">
                  <c:v>664.06</c:v>
                </c:pt>
                <c:pt idx="18">
                  <c:v>664.06</c:v>
                </c:pt>
              </c:numCache>
            </c:numRef>
          </c:xVal>
          <c:yVal>
            <c:numRef>
              <c:f>Sheet1!$G$2:$G$20</c:f>
              <c:numCache>
                <c:formatCode>General</c:formatCode>
                <c:ptCount val="19"/>
                <c:pt idx="10">
                  <c:v>1068</c:v>
                </c:pt>
                <c:pt idx="11">
                  <c:v>1091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pt PF_out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A78D6"/>
              </a:solidFill>
              <a:ln w="19050">
                <a:solidFill>
                  <a:srgbClr val="2A78D6"/>
                </a:solidFill>
              </a:ln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200</c:v>
                </c:pt>
                <c:pt idx="1">
                  <c:v>2000</c:v>
                </c:pt>
                <c:pt idx="2">
                  <c:v>200</c:v>
                </c:pt>
                <c:pt idx="3">
                  <c:v>2000</c:v>
                </c:pt>
                <c:pt idx="4">
                  <c:v>661.1996283255</c:v>
                </c:pt>
                <c:pt idx="5">
                  <c:v>661.1996283255</c:v>
                </c:pt>
                <c:pt idx="6">
                  <c:v>661.1996283255</c:v>
                </c:pt>
                <c:pt idx="7">
                  <c:v>811.7562700107</c:v>
                </c:pt>
                <c:pt idx="8">
                  <c:v>811.7562700107</c:v>
                </c:pt>
                <c:pt idx="9">
                  <c:v>811.7562700107</c:v>
                </c:pt>
                <c:pt idx="10">
                  <c:v>925.76</c:v>
                </c:pt>
                <c:pt idx="11">
                  <c:v>925.76</c:v>
                </c:pt>
                <c:pt idx="12">
                  <c:v>925.76</c:v>
                </c:pt>
                <c:pt idx="13">
                  <c:v>1260.9</c:v>
                </c:pt>
                <c:pt idx="14">
                  <c:v>1260.9</c:v>
                </c:pt>
                <c:pt idx="15">
                  <c:v>1260.9</c:v>
                </c:pt>
                <c:pt idx="16">
                  <c:v>664.06</c:v>
                </c:pt>
                <c:pt idx="17">
                  <c:v>664.06</c:v>
                </c:pt>
                <c:pt idx="18">
                  <c:v>664.06</c:v>
                </c:pt>
              </c:numCache>
            </c:numRef>
          </c:xVal>
          <c:yVal>
            <c:numRef>
              <c:f>Sheet1!$H$2:$H$20</c:f>
              <c:numCache>
                <c:formatCode>General</c:formatCode>
                <c:ptCount val="19"/>
                <c:pt idx="13">
                  <c:v>1245</c:v>
                </c:pt>
                <c:pt idx="14">
                  <c:v>1455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pt PF_in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E34948"/>
              </a:solidFill>
              <a:ln w="19050">
                <a:solidFill>
                  <a:srgbClr val="E34948"/>
                </a:solidFill>
              </a:ln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200</c:v>
                </c:pt>
                <c:pt idx="1">
                  <c:v>2000</c:v>
                </c:pt>
                <c:pt idx="2">
                  <c:v>200</c:v>
                </c:pt>
                <c:pt idx="3">
                  <c:v>2000</c:v>
                </c:pt>
                <c:pt idx="4">
                  <c:v>661.1996283255</c:v>
                </c:pt>
                <c:pt idx="5">
                  <c:v>661.1996283255</c:v>
                </c:pt>
                <c:pt idx="6">
                  <c:v>661.1996283255</c:v>
                </c:pt>
                <c:pt idx="7">
                  <c:v>811.7562700107</c:v>
                </c:pt>
                <c:pt idx="8">
                  <c:v>811.7562700107</c:v>
                </c:pt>
                <c:pt idx="9">
                  <c:v>811.7562700107</c:v>
                </c:pt>
                <c:pt idx="10">
                  <c:v>925.76</c:v>
                </c:pt>
                <c:pt idx="11">
                  <c:v>925.76</c:v>
                </c:pt>
                <c:pt idx="12">
                  <c:v>925.76</c:v>
                </c:pt>
                <c:pt idx="13">
                  <c:v>1260.9</c:v>
                </c:pt>
                <c:pt idx="14">
                  <c:v>1260.9</c:v>
                </c:pt>
                <c:pt idx="15">
                  <c:v>1260.9</c:v>
                </c:pt>
                <c:pt idx="16">
                  <c:v>664.06</c:v>
                </c:pt>
                <c:pt idx="17">
                  <c:v>664.06</c:v>
                </c:pt>
                <c:pt idx="18">
                  <c:v>664.06</c:v>
                </c:pt>
              </c:numCache>
            </c:numRef>
          </c:xVal>
          <c:yVal>
            <c:numRef>
              <c:f>Sheet1!$I$2:$I$20</c:f>
              <c:numCache>
                <c:formatCode>General</c:formatCode>
                <c:ptCount val="19"/>
                <c:pt idx="16">
                  <c:v>556</c:v>
                </c:pt>
                <c:pt idx="17">
                  <c:v>472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logBase val="10"/>
          <c:orientation val="minMax"/>
          <c:max val="2000"/>
          <c:min val="200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logBase val="10"/>
          <c:orientation val="minMax"/>
          <c:max val="3000"/>
          <c:min val="2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3303D"/>
                </a:solidFill>
                <a:latin typeface="+mn-lt"/>
              </a:rPr>
              <a:t>재료 평균 t₆₀₀의 90 % 구간 (상한/하한 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90 % 폭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등급만 (L0)</c:v>
                  </c:pt>
                  <c:pt idx="1">
                    <c:v>TGA (L1)</c:v>
                  </c:pt>
                  <c:pt idx="2">
                    <c:v>중규모 (L2)</c:v>
                  </c:pt>
                  <c:pt idx="3">
                    <c:v>통합 (L1+L2)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5.28646945</c:v>
                </c:pt>
                <c:pt idx="1">
                  <c:v>1.7243333713</c:v>
                </c:pt>
                <c:pt idx="2">
                  <c:v>1.2406946152</c:v>
                </c:pt>
                <c:pt idx="3">
                  <c:v>1.2220527369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4"/>
          <c:w val="0.88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 L0 90%</c:v>
                </c:pt>
              </c:strCache>
            </c:strRef>
          </c:tx>
          <c:spPr>
            <a:solidFill>
              <a:srgbClr val="8A8F98"/>
            </a:solidFill>
            <a:ln w="22225" cap="flat">
              <a:solidFill>
                <a:srgbClr val="8A8F9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Sheet1!$B$2:$B$73</c:f>
              <c:numCache>
                <c:formatCode>General</c:formatCode>
                <c:ptCount val="72"/>
                <c:pt idx="0">
                  <c:v>0.0000032349</c:v>
                </c:pt>
                <c:pt idx="1">
                  <c:v>0.0000474027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 L0 평균</c:v>
                </c:pt>
              </c:strCache>
            </c:strRef>
          </c:tx>
          <c:spPr>
            <a:solidFill>
              <a:srgbClr val="8A8F98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B3B6BC"/>
              </a:solidFill>
              <a:ln w="19050">
                <a:solidFill>
                  <a:srgbClr val="8A8F98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Sheet1!$C$2:$C$73</c:f>
              <c:numCache>
                <c:formatCode>General</c:formatCode>
                <c:ptCount val="72"/>
                <c:pt idx="2">
                  <c:v>0.0000176513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NC L1 90%</c:v>
                </c:pt>
              </c:strCache>
            </c:strRef>
          </c:tx>
          <c:spPr>
            <a:solidFill>
              <a:srgbClr val="8A8F98"/>
            </a:solidFill>
            <a:ln w="22225" cap="flat">
              <a:solidFill>
                <a:srgbClr val="8A8F9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Sheet1!$D$2:$D$73</c:f>
              <c:numCache>
                <c:formatCode>General</c:formatCode>
                <c:ptCount val="72"/>
                <c:pt idx="3">
                  <c:v>0.0000032349</c:v>
                </c:pt>
                <c:pt idx="4">
                  <c:v>0.0000474027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NC L1 평균</c:v>
                </c:pt>
              </c:strCache>
            </c:strRef>
          </c:tx>
          <c:spPr>
            <a:solidFill>
              <a:srgbClr val="8A8F98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B3B6BC"/>
              </a:solidFill>
              <a:ln w="19050">
                <a:solidFill>
                  <a:srgbClr val="8A8F98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Sheet1!$E$2:$E$73</c:f>
              <c:numCache>
                <c:formatCode>General</c:formatCode>
                <c:ptCount val="72"/>
                <c:pt idx="5">
                  <c:v>0.0000176513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NC L2 90%</c:v>
                </c:pt>
              </c:strCache>
            </c:strRef>
          </c:tx>
          <c:spPr>
            <a:solidFill>
              <a:srgbClr val="8A8F98"/>
            </a:solidFill>
            <a:ln w="22225" cap="flat">
              <a:solidFill>
                <a:srgbClr val="8A8F9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Sheet1!$F$2:$F$73</c:f>
              <c:numCache>
                <c:formatCode>General</c:formatCode>
                <c:ptCount val="72"/>
                <c:pt idx="6">
                  <c:v>0.0000032349</c:v>
                </c:pt>
                <c:pt idx="7">
                  <c:v>0.0000474027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NC L2 평균</c:v>
                </c:pt>
              </c:strCache>
            </c:strRef>
          </c:tx>
          <c:spPr>
            <a:solidFill>
              <a:srgbClr val="8A8F9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8A8F98"/>
              </a:solidFill>
              <a:ln w="12700">
                <a:solidFill>
                  <a:srgbClr val="8A8F98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Sheet1!$G$2:$G$73</c:f>
              <c:numCache>
                <c:formatCode>General</c:formatCode>
                <c:ptCount val="72"/>
                <c:pt idx="8">
                  <c:v>0.0000176513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NC L1+L2 90%</c:v>
                </c:pt>
              </c:strCache>
            </c:strRef>
          </c:tx>
          <c:spPr>
            <a:solidFill>
              <a:srgbClr val="8A8F98"/>
            </a:solidFill>
            <a:ln w="22225" cap="flat">
              <a:solidFill>
                <a:srgbClr val="8A8F9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Sheet1!$H$2:$H$73</c:f>
              <c:numCache>
                <c:formatCode>General</c:formatCode>
                <c:ptCount val="72"/>
                <c:pt idx="9">
                  <c:v>0.0000032349</c:v>
                </c:pt>
                <c:pt idx="10">
                  <c:v>0.0000474027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NC L1+L2 평균</c:v>
                </c:pt>
              </c:strCache>
            </c:strRef>
          </c:tx>
          <c:spPr>
            <a:solidFill>
              <a:srgbClr val="8A8F98"/>
            </a:solidFill>
            <a:ln>
              <a:noFill/>
            </a:ln>
            <a:effectLst/>
          </c:spPr>
          <c:marker>
            <c:symbol val="diamond"/>
            <c:size val="10"/>
            <c:spPr>
              <a:solidFill>
                <a:srgbClr val="8A8F98"/>
              </a:solidFill>
              <a:ln w="12700">
                <a:solidFill>
                  <a:srgbClr val="8A8F98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Sheet1!$I$2:$I$73</c:f>
              <c:numCache>
                <c:formatCode>General</c:formatCode>
                <c:ptCount val="72"/>
                <c:pt idx="11">
                  <c:v>0.0000176513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EPS_SC L0 90%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Sheet1!$J$2:$J$73</c:f>
              <c:numCache>
                <c:formatCode>General</c:formatCode>
                <c:ptCount val="72"/>
                <c:pt idx="12">
                  <c:v>0.0000882403</c:v>
                </c:pt>
                <c:pt idx="13">
                  <c:v>0.0057722822</c:v>
                </c:pt>
              </c:numCache>
            </c:numRef>
          </c:yVal>
          <c:smooth val="0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EPS_SC L0 평균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F0A9C4"/>
              </a:solidFill>
              <a:ln w="19050">
                <a:solidFill>
                  <a:srgbClr val="E87BA4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Sheet1!$K$2:$K$73</c:f>
              <c:numCache>
                <c:formatCode>General</c:formatCode>
                <c:ptCount val="72"/>
                <c:pt idx="14">
                  <c:v>0.0016370968</c:v>
                </c:pt>
              </c:numCache>
            </c:numRef>
          </c:yVal>
          <c:smooth val="0"/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EPS_SC L1 90%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Sheet1!$L$2:$L$73</c:f>
              <c:numCache>
                <c:formatCode>General</c:formatCode>
                <c:ptCount val="72"/>
                <c:pt idx="15">
                  <c:v>0.0000390366</c:v>
                </c:pt>
                <c:pt idx="16">
                  <c:v>0.0042460588</c:v>
                </c:pt>
              </c:numCache>
            </c:numRef>
          </c:yVal>
          <c:smooth val="0"/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EPS_SC L1 평균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F0A9C4"/>
              </a:solidFill>
              <a:ln w="19050">
                <a:solidFill>
                  <a:srgbClr val="E87BA4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Sheet1!$M$2:$M$73</c:f>
              <c:numCache>
                <c:formatCode>General</c:formatCode>
                <c:ptCount val="72"/>
                <c:pt idx="17">
                  <c:v>0.0012296833</c:v>
                </c:pt>
              </c:numCache>
            </c:numRef>
          </c:yVal>
          <c:smooth val="0"/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EPS_SC L2 90%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Sheet1!$N$2:$N$73</c:f>
              <c:numCache>
                <c:formatCode>General</c:formatCode>
                <c:ptCount val="72"/>
                <c:pt idx="18">
                  <c:v>0.0000937397</c:v>
                </c:pt>
                <c:pt idx="19">
                  <c:v>0.0020389022</c:v>
                </c:pt>
              </c:numCache>
            </c:numRef>
          </c:yVal>
          <c:smooth val="0"/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EPS_SC L2 평균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E87BA4"/>
              </a:solidFill>
              <a:ln w="12700">
                <a:solidFill>
                  <a:srgbClr val="E87BA4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Sheet1!$O$2:$O$73</c:f>
              <c:numCache>
                <c:formatCode>General</c:formatCode>
                <c:ptCount val="72"/>
                <c:pt idx="20">
                  <c:v>0.0006795255</c:v>
                </c:pt>
              </c:numCache>
            </c:numRef>
          </c:yVal>
          <c:smooth val="0"/>
        </c:ser>
        <c:ser>
          <c:idx val="14"/>
          <c:order val="14"/>
          <c:tx>
            <c:strRef>
              <c:f>Sheet1!$P$1</c:f>
              <c:strCache>
                <c:ptCount val="1"/>
                <c:pt idx="0">
                  <c:v>EPS_SC L1+L2 90%</c:v>
                </c:pt>
              </c:strCache>
            </c:strRef>
          </c:tx>
          <c:spPr>
            <a:solidFill>
              <a:srgbClr val="E87BA4"/>
            </a:solidFill>
            <a:ln w="2222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Sheet1!$P$2:$P$73</c:f>
              <c:numCache>
                <c:formatCode>General</c:formatCode>
                <c:ptCount val="72"/>
                <c:pt idx="21">
                  <c:v>0.000085454</c:v>
                </c:pt>
                <c:pt idx="22">
                  <c:v>0.0018683016</c:v>
                </c:pt>
              </c:numCache>
            </c:numRef>
          </c:yVal>
          <c:smooth val="0"/>
        </c:ser>
        <c:ser>
          <c:idx val="15"/>
          <c:order val="15"/>
          <c:tx>
            <c:strRef>
              <c:f>Sheet1!$Q$1</c:f>
              <c:strCache>
                <c:ptCount val="1"/>
                <c:pt idx="0">
                  <c:v>EPS_SC L1+L2 평균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  <a:effectLst/>
          </c:spPr>
          <c:marker>
            <c:symbol val="diamond"/>
            <c:size val="10"/>
            <c:spPr>
              <a:solidFill>
                <a:srgbClr val="E87BA4"/>
              </a:solidFill>
              <a:ln w="12700">
                <a:solidFill>
                  <a:srgbClr val="E87BA4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Sheet1!$Q$2:$Q$73</c:f>
              <c:numCache>
                <c:formatCode>General</c:formatCode>
                <c:ptCount val="72"/>
                <c:pt idx="23">
                  <c:v>0.0006164261</c:v>
                </c:pt>
              </c:numCache>
            </c:numRef>
          </c:yVal>
          <c:smooth val="0"/>
        </c:ser>
        <c:ser>
          <c:idx val="16"/>
          <c:order val="16"/>
          <c:tx>
            <c:strRef>
              <c:f>Sheet1!$R$1</c:f>
              <c:strCache>
                <c:ptCount val="1"/>
                <c:pt idx="0">
                  <c:v>PIR_C L0 90%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Sheet1!$R$2:$R$73</c:f>
              <c:numCache>
                <c:formatCode>General</c:formatCode>
                <c:ptCount val="72"/>
                <c:pt idx="24">
                  <c:v>0.0027768003</c:v>
                </c:pt>
                <c:pt idx="25">
                  <c:v>0.0301847033</c:v>
                </c:pt>
              </c:numCache>
            </c:numRef>
          </c:yVal>
          <c:smooth val="0"/>
        </c:ser>
        <c:ser>
          <c:idx val="17"/>
          <c:order val="17"/>
          <c:tx>
            <c:strRef>
              <c:f>Sheet1!$S$1</c:f>
              <c:strCache>
                <c:ptCount val="1"/>
                <c:pt idx="0">
                  <c:v>PIR_C L0 평균</c:v>
                </c:pt>
              </c:strCache>
            </c:strRef>
          </c:tx>
          <c:spPr>
            <a:solidFill>
              <a:srgbClr val="6250D6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998DE4"/>
              </a:solidFill>
              <a:ln w="19050">
                <a:solidFill>
                  <a:srgbClr val="6250D6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Sheet1!$S$2:$S$73</c:f>
              <c:numCache>
                <c:formatCode>General</c:formatCode>
                <c:ptCount val="72"/>
                <c:pt idx="26">
                  <c:v>0.0115067461</c:v>
                </c:pt>
              </c:numCache>
            </c:numRef>
          </c:yVal>
          <c:smooth val="0"/>
        </c:ser>
        <c:ser>
          <c:idx val="18"/>
          <c:order val="18"/>
          <c:tx>
            <c:strRef>
              <c:f>Sheet1!$T$1</c:f>
              <c:strCache>
                <c:ptCount val="1"/>
                <c:pt idx="0">
                  <c:v>PIR_C L1 90%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Sheet1!$T$2:$T$73</c:f>
              <c:numCache>
                <c:formatCode>General</c:formatCode>
                <c:ptCount val="72"/>
                <c:pt idx="27">
                  <c:v>0.0027768003</c:v>
                </c:pt>
                <c:pt idx="28">
                  <c:v>0.0301847033</c:v>
                </c:pt>
              </c:numCache>
            </c:numRef>
          </c:yVal>
          <c:smooth val="0"/>
        </c:ser>
        <c:ser>
          <c:idx val="19"/>
          <c:order val="19"/>
          <c:tx>
            <c:strRef>
              <c:f>Sheet1!$U$1</c:f>
              <c:strCache>
                <c:ptCount val="1"/>
                <c:pt idx="0">
                  <c:v>PIR_C L1 평균</c:v>
                </c:pt>
              </c:strCache>
            </c:strRef>
          </c:tx>
          <c:spPr>
            <a:solidFill>
              <a:srgbClr val="6250D6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998DE4"/>
              </a:solidFill>
              <a:ln w="19050">
                <a:solidFill>
                  <a:srgbClr val="6250D6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Sheet1!$U$2:$U$73</c:f>
              <c:numCache>
                <c:formatCode>General</c:formatCode>
                <c:ptCount val="72"/>
                <c:pt idx="29">
                  <c:v>0.0115067461</c:v>
                </c:pt>
              </c:numCache>
            </c:numRef>
          </c:yVal>
          <c:smooth val="0"/>
        </c:ser>
        <c:ser>
          <c:idx val="20"/>
          <c:order val="20"/>
          <c:tx>
            <c:strRef>
              <c:f>Sheet1!$V$1</c:f>
              <c:strCache>
                <c:ptCount val="1"/>
                <c:pt idx="0">
                  <c:v>PIR_C L2 90%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Sheet1!$V$2:$V$73</c:f>
              <c:numCache>
                <c:formatCode>General</c:formatCode>
                <c:ptCount val="72"/>
                <c:pt idx="30">
                  <c:v>0.0027781404</c:v>
                </c:pt>
                <c:pt idx="31">
                  <c:v>0.0301377883</c:v>
                </c:pt>
              </c:numCache>
            </c:numRef>
          </c:yVal>
          <c:smooth val="0"/>
        </c:ser>
        <c:ser>
          <c:idx val="21"/>
          <c:order val="21"/>
          <c:tx>
            <c:strRef>
              <c:f>Sheet1!$W$1</c:f>
              <c:strCache>
                <c:ptCount val="1"/>
                <c:pt idx="0">
                  <c:v>PIR_C L2 평균</c:v>
                </c:pt>
              </c:strCache>
            </c:strRef>
          </c:tx>
          <c:spPr>
            <a:solidFill>
              <a:srgbClr val="6250D6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6250D6"/>
              </a:solidFill>
              <a:ln w="12700">
                <a:solidFill>
                  <a:srgbClr val="6250D6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Sheet1!$W$2:$W$73</c:f>
              <c:numCache>
                <c:formatCode>General</c:formatCode>
                <c:ptCount val="72"/>
                <c:pt idx="32">
                  <c:v>0.0114974766</c:v>
                </c:pt>
              </c:numCache>
            </c:numRef>
          </c:yVal>
          <c:smooth val="0"/>
        </c:ser>
        <c:ser>
          <c:idx val="22"/>
          <c:order val="22"/>
          <c:tx>
            <c:strRef>
              <c:f>Sheet1!$X$1</c:f>
              <c:strCache>
                <c:ptCount val="1"/>
                <c:pt idx="0">
                  <c:v>PIR_C L1+L2 90%</c:v>
                </c:pt>
              </c:strCache>
            </c:strRef>
          </c:tx>
          <c:spPr>
            <a:solidFill>
              <a:srgbClr val="6250D6"/>
            </a:solidFill>
            <a:ln w="2222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Sheet1!$X$2:$X$73</c:f>
              <c:numCache>
                <c:formatCode>General</c:formatCode>
                <c:ptCount val="72"/>
                <c:pt idx="33">
                  <c:v>0.0027767982</c:v>
                </c:pt>
                <c:pt idx="34">
                  <c:v>0.0301377883</c:v>
                </c:pt>
              </c:numCache>
            </c:numRef>
          </c:yVal>
          <c:smooth val="0"/>
        </c:ser>
        <c:ser>
          <c:idx val="23"/>
          <c:order val="23"/>
          <c:tx>
            <c:strRef>
              <c:f>Sheet1!$Y$1</c:f>
              <c:strCache>
                <c:ptCount val="1"/>
                <c:pt idx="0">
                  <c:v>PIR_C L1+L2 평균</c:v>
                </c:pt>
              </c:strCache>
            </c:strRef>
          </c:tx>
          <c:spPr>
            <a:solidFill>
              <a:srgbClr val="6250D6"/>
            </a:solidFill>
            <a:ln>
              <a:noFill/>
            </a:ln>
            <a:effectLst/>
          </c:spPr>
          <c:marker>
            <c:symbol val="diamond"/>
            <c:size val="10"/>
            <c:spPr>
              <a:solidFill>
                <a:srgbClr val="6250D6"/>
              </a:solidFill>
              <a:ln w="12700">
                <a:solidFill>
                  <a:srgbClr val="6250D6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Sheet1!$Y$2:$Y$73</c:f>
              <c:numCache>
                <c:formatCode>General</c:formatCode>
                <c:ptCount val="72"/>
                <c:pt idx="35">
                  <c:v>0.0114977671</c:v>
                </c:pt>
              </c:numCache>
            </c:numRef>
          </c:yVal>
          <c:smooth val="0"/>
        </c:ser>
        <c:ser>
          <c:idx val="24"/>
          <c:order val="24"/>
          <c:tx>
            <c:strRef>
              <c:f>Sheet1!$Z$1</c:f>
              <c:strCache>
                <c:ptCount val="1"/>
                <c:pt idx="0">
                  <c:v>PIR_SC L0 90%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Sheet1!$Z$2:$Z$73</c:f>
              <c:numCache>
                <c:formatCode>General</c:formatCode>
                <c:ptCount val="72"/>
                <c:pt idx="36">
                  <c:v>0.0000964903</c:v>
                </c:pt>
                <c:pt idx="37">
                  <c:v>0.0059813897</c:v>
                </c:pt>
              </c:numCache>
            </c:numRef>
          </c:yVal>
          <c:smooth val="0"/>
        </c:ser>
        <c:ser>
          <c:idx val="25"/>
          <c:order val="25"/>
          <c:tx>
            <c:strRef>
              <c:f>Sheet1!$AA$1</c:f>
              <c:strCache>
                <c:ptCount val="1"/>
                <c:pt idx="0">
                  <c:v>PIR_SC L0 평균</c:v>
                </c:pt>
              </c:strCache>
            </c:strRef>
          </c:tx>
          <c:spPr>
            <a:solidFill>
              <a:srgbClr val="008300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59AE59"/>
              </a:solidFill>
              <a:ln w="19050">
                <a:solidFill>
                  <a:srgbClr val="008300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Sheet1!$AA$2:$AA$73</c:f>
              <c:numCache>
                <c:formatCode>General</c:formatCode>
                <c:ptCount val="72"/>
                <c:pt idx="38">
                  <c:v>0.001811762</c:v>
                </c:pt>
              </c:numCache>
            </c:numRef>
          </c:yVal>
          <c:smooth val="0"/>
        </c:ser>
        <c:ser>
          <c:idx val="26"/>
          <c:order val="26"/>
          <c:tx>
            <c:strRef>
              <c:f>Sheet1!$AB$1</c:f>
              <c:strCache>
                <c:ptCount val="1"/>
                <c:pt idx="0">
                  <c:v>PIR_SC L1 90%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Sheet1!$AB$2:$AB$73</c:f>
              <c:numCache>
                <c:formatCode>General</c:formatCode>
                <c:ptCount val="72"/>
                <c:pt idx="39">
                  <c:v>0.0001493348</c:v>
                </c:pt>
                <c:pt idx="40">
                  <c:v>0.00376627</c:v>
                </c:pt>
              </c:numCache>
            </c:numRef>
          </c:yVal>
          <c:smooth val="0"/>
        </c:ser>
        <c:ser>
          <c:idx val="27"/>
          <c:order val="27"/>
          <c:tx>
            <c:strRef>
              <c:f>Sheet1!$AC$1</c:f>
              <c:strCache>
                <c:ptCount val="1"/>
                <c:pt idx="0">
                  <c:v>PIR_SC L1 평균</c:v>
                </c:pt>
              </c:strCache>
            </c:strRef>
          </c:tx>
          <c:spPr>
            <a:solidFill>
              <a:srgbClr val="008300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59AE59"/>
              </a:solidFill>
              <a:ln w="19050">
                <a:solidFill>
                  <a:srgbClr val="008300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Sheet1!$AC$2:$AC$73</c:f>
              <c:numCache>
                <c:formatCode>General</c:formatCode>
                <c:ptCount val="72"/>
                <c:pt idx="41">
                  <c:v>0.0012307996</c:v>
                </c:pt>
              </c:numCache>
            </c:numRef>
          </c:yVal>
          <c:smooth val="0"/>
        </c:ser>
        <c:ser>
          <c:idx val="28"/>
          <c:order val="28"/>
          <c:tx>
            <c:strRef>
              <c:f>Sheet1!$AD$1</c:f>
              <c:strCache>
                <c:ptCount val="1"/>
                <c:pt idx="0">
                  <c:v>PIR_SC L2 90%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Sheet1!$AD$2:$AD$73</c:f>
              <c:numCache>
                <c:formatCode>General</c:formatCode>
                <c:ptCount val="72"/>
                <c:pt idx="42">
                  <c:v>0.0001049667</c:v>
                </c:pt>
                <c:pt idx="43">
                  <c:v>0.002737092</c:v>
                </c:pt>
              </c:numCache>
            </c:numRef>
          </c:yVal>
          <c:smooth val="0"/>
        </c:ser>
        <c:ser>
          <c:idx val="29"/>
          <c:order val="29"/>
          <c:tx>
            <c:strRef>
              <c:f>Sheet1!$AE$1</c:f>
              <c:strCache>
                <c:ptCount val="1"/>
                <c:pt idx="0">
                  <c:v>PIR_SC L2 평균</c:v>
                </c:pt>
              </c:strCache>
            </c:strRef>
          </c:tx>
          <c:spPr>
            <a:solidFill>
              <a:srgbClr val="00830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008300"/>
              </a:solidFill>
              <a:ln w="12700">
                <a:solidFill>
                  <a:srgbClr val="008300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Sheet1!$AE$2:$AE$73</c:f>
              <c:numCache>
                <c:formatCode>General</c:formatCode>
                <c:ptCount val="72"/>
                <c:pt idx="44">
                  <c:v>0.0008823218</c:v>
                </c:pt>
              </c:numCache>
            </c:numRef>
          </c:yVal>
          <c:smooth val="0"/>
        </c:ser>
        <c:ser>
          <c:idx val="30"/>
          <c:order val="30"/>
          <c:tx>
            <c:strRef>
              <c:f>Sheet1!$AF$1</c:f>
              <c:strCache>
                <c:ptCount val="1"/>
                <c:pt idx="0">
                  <c:v>PIR_SC L1+L2 90%</c:v>
                </c:pt>
              </c:strCache>
            </c:strRef>
          </c:tx>
          <c:spPr>
            <a:solidFill>
              <a:srgbClr val="008300"/>
            </a:solidFill>
            <a:ln w="2222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Sheet1!$AF$2:$AF$73</c:f>
              <c:numCache>
                <c:formatCode>General</c:formatCode>
                <c:ptCount val="72"/>
                <c:pt idx="45">
                  <c:v>0.0001038598</c:v>
                </c:pt>
                <c:pt idx="46">
                  <c:v>0.0027691335</c:v>
                </c:pt>
              </c:numCache>
            </c:numRef>
          </c:yVal>
          <c:smooth val="0"/>
        </c:ser>
        <c:ser>
          <c:idx val="31"/>
          <c:order val="31"/>
          <c:tx>
            <c:strRef>
              <c:f>Sheet1!$AG$1</c:f>
              <c:strCache>
                <c:ptCount val="1"/>
                <c:pt idx="0">
                  <c:v>PIR_SC L1+L2 평균</c:v>
                </c:pt>
              </c:strCache>
            </c:strRef>
          </c:tx>
          <c:spPr>
            <a:solidFill>
              <a:srgbClr val="008300"/>
            </a:solidFill>
            <a:ln>
              <a:noFill/>
            </a:ln>
            <a:effectLst/>
          </c:spPr>
          <c:marker>
            <c:symbol val="diamond"/>
            <c:size val="10"/>
            <c:spPr>
              <a:solidFill>
                <a:srgbClr val="008300"/>
              </a:solidFill>
              <a:ln w="12700">
                <a:solidFill>
                  <a:srgbClr val="008300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Sheet1!$AG$2:$AG$73</c:f>
              <c:numCache>
                <c:formatCode>General</c:formatCode>
                <c:ptCount val="72"/>
                <c:pt idx="47">
                  <c:v>0.0008951235</c:v>
                </c:pt>
              </c:numCache>
            </c:numRef>
          </c:yVal>
          <c:smooth val="0"/>
        </c:ser>
        <c:ser>
          <c:idx val="32"/>
          <c:order val="32"/>
          <c:tx>
            <c:strRef>
              <c:f>Sheet1!$AH$1</c:f>
              <c:strCache>
                <c:ptCount val="1"/>
                <c:pt idx="0">
                  <c:v>PF_out L0 90%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Sheet1!$AH$2:$AH$73</c:f>
              <c:numCache>
                <c:formatCode>General</c:formatCode>
                <c:ptCount val="72"/>
                <c:pt idx="48">
                  <c:v>0.000158023</c:v>
                </c:pt>
                <c:pt idx="49">
                  <c:v>0.0069143589</c:v>
                </c:pt>
              </c:numCache>
            </c:numRef>
          </c:yVal>
          <c:smooth val="0"/>
        </c:ser>
        <c:ser>
          <c:idx val="33"/>
          <c:order val="33"/>
          <c:tx>
            <c:strRef>
              <c:f>Sheet1!$AI$1</c:f>
              <c:strCache>
                <c:ptCount val="1"/>
                <c:pt idx="0">
                  <c:v>PF_out L0 평균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75A7E4"/>
              </a:solidFill>
              <a:ln w="19050">
                <a:solidFill>
                  <a:srgbClr val="2A78D6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Sheet1!$AI$2:$AI$73</c:f>
              <c:numCache>
                <c:formatCode>General</c:formatCode>
                <c:ptCount val="72"/>
                <c:pt idx="50">
                  <c:v>0.0020575148</c:v>
                </c:pt>
              </c:numCache>
            </c:numRef>
          </c:yVal>
          <c:smooth val="0"/>
        </c:ser>
        <c:ser>
          <c:idx val="34"/>
          <c:order val="34"/>
          <c:tx>
            <c:strRef>
              <c:f>Sheet1!$AJ$1</c:f>
              <c:strCache>
                <c:ptCount val="1"/>
                <c:pt idx="0">
                  <c:v>PF_out L1 90%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Sheet1!$AJ$2:$AJ$73</c:f>
              <c:numCache>
                <c:formatCode>General</c:formatCode>
                <c:ptCount val="72"/>
                <c:pt idx="51">
                  <c:v>0.0001513884</c:v>
                </c:pt>
                <c:pt idx="52">
                  <c:v>0.0039617512</c:v>
                </c:pt>
              </c:numCache>
            </c:numRef>
          </c:yVal>
          <c:smooth val="0"/>
        </c:ser>
        <c:ser>
          <c:idx val="35"/>
          <c:order val="35"/>
          <c:tx>
            <c:strRef>
              <c:f>Sheet1!$AK$1</c:f>
              <c:strCache>
                <c:ptCount val="1"/>
                <c:pt idx="0">
                  <c:v>PF_out L1 평균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75A7E4"/>
              </a:solidFill>
              <a:ln w="19050">
                <a:solidFill>
                  <a:srgbClr val="2A78D6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Sheet1!$AK$2:$AK$73</c:f>
              <c:numCache>
                <c:formatCode>General</c:formatCode>
                <c:ptCount val="72"/>
                <c:pt idx="53">
                  <c:v>0.0012345631</c:v>
                </c:pt>
              </c:numCache>
            </c:numRef>
          </c:yVal>
          <c:smooth val="0"/>
        </c:ser>
        <c:ser>
          <c:idx val="36"/>
          <c:order val="36"/>
          <c:tx>
            <c:strRef>
              <c:f>Sheet1!$AL$1</c:f>
              <c:strCache>
                <c:ptCount val="1"/>
                <c:pt idx="0">
                  <c:v>PF_out L2 90%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Sheet1!$AL$2:$AL$73</c:f>
              <c:numCache>
                <c:formatCode>General</c:formatCode>
                <c:ptCount val="72"/>
                <c:pt idx="54">
                  <c:v>0.0001198073</c:v>
                </c:pt>
                <c:pt idx="55">
                  <c:v>0.0032869895</c:v>
                </c:pt>
              </c:numCache>
            </c:numRef>
          </c:yVal>
          <c:smooth val="0"/>
        </c:ser>
        <c:ser>
          <c:idx val="37"/>
          <c:order val="37"/>
          <c:tx>
            <c:strRef>
              <c:f>Sheet1!$AM$1</c:f>
              <c:strCache>
                <c:ptCount val="1"/>
                <c:pt idx="0">
                  <c:v>PF_out L2 평균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A78D6"/>
              </a:solidFill>
              <a:ln w="12700">
                <a:solidFill>
                  <a:srgbClr val="2A78D6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Sheet1!$AM$2:$AM$73</c:f>
              <c:numCache>
                <c:formatCode>General</c:formatCode>
                <c:ptCount val="72"/>
                <c:pt idx="56">
                  <c:v>0.0010462716</c:v>
                </c:pt>
              </c:numCache>
            </c:numRef>
          </c:yVal>
          <c:smooth val="0"/>
        </c:ser>
        <c:ser>
          <c:idx val="38"/>
          <c:order val="38"/>
          <c:tx>
            <c:strRef>
              <c:f>Sheet1!$AN$1</c:f>
              <c:strCache>
                <c:ptCount val="1"/>
                <c:pt idx="0">
                  <c:v>PF_out L1+L2 90%</c:v>
                </c:pt>
              </c:strCache>
            </c:strRef>
          </c:tx>
          <c:spPr>
            <a:solidFill>
              <a:srgbClr val="2A78D6"/>
            </a:solidFill>
            <a:ln w="2222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Sheet1!$AN$2:$AN$73</c:f>
              <c:numCache>
                <c:formatCode>General</c:formatCode>
                <c:ptCount val="72"/>
                <c:pt idx="57">
                  <c:v>0.000146129</c:v>
                </c:pt>
                <c:pt idx="58">
                  <c:v>0.003579924</c:v>
                </c:pt>
              </c:numCache>
            </c:numRef>
          </c:yVal>
          <c:smooth val="0"/>
        </c:ser>
        <c:ser>
          <c:idx val="39"/>
          <c:order val="39"/>
          <c:tx>
            <c:strRef>
              <c:f>Sheet1!$AO$1</c:f>
              <c:strCache>
                <c:ptCount val="1"/>
                <c:pt idx="0">
                  <c:v>PF_out L1+L2 평균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diamond"/>
            <c:size val="10"/>
            <c:spPr>
              <a:solidFill>
                <a:srgbClr val="2A78D6"/>
              </a:solidFill>
              <a:ln w="12700">
                <a:solidFill>
                  <a:srgbClr val="2A78D6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Sheet1!$AO$2:$AO$73</c:f>
              <c:numCache>
                <c:formatCode>General</c:formatCode>
                <c:ptCount val="72"/>
                <c:pt idx="59">
                  <c:v>0.0011451974</c:v>
                </c:pt>
              </c:numCache>
            </c:numRef>
          </c:yVal>
          <c:smooth val="0"/>
        </c:ser>
        <c:ser>
          <c:idx val="40"/>
          <c:order val="40"/>
          <c:tx>
            <c:strRef>
              <c:f>Sheet1!$AP$1</c:f>
              <c:strCache>
                <c:ptCount val="1"/>
                <c:pt idx="0">
                  <c:v>PF_in L0 90%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Sheet1!$AP$2:$AP$73</c:f>
              <c:numCache>
                <c:formatCode>General</c:formatCode>
                <c:ptCount val="72"/>
                <c:pt idx="60">
                  <c:v>0.0000332305</c:v>
                </c:pt>
                <c:pt idx="61">
                  <c:v>0.0040754765</c:v>
                </c:pt>
              </c:numCache>
            </c:numRef>
          </c:yVal>
          <c:smooth val="0"/>
        </c:ser>
        <c:ser>
          <c:idx val="41"/>
          <c:order val="41"/>
          <c:tx>
            <c:strRef>
              <c:f>Sheet1!$AQ$1</c:f>
              <c:strCache>
                <c:ptCount val="1"/>
                <c:pt idx="0">
                  <c:v>PF_in L0 평균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ED8988"/>
              </a:solidFill>
              <a:ln w="19050">
                <a:solidFill>
                  <a:srgbClr val="E34948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Sheet1!$AQ$2:$AQ$73</c:f>
              <c:numCache>
                <c:formatCode>General</c:formatCode>
                <c:ptCount val="72"/>
                <c:pt idx="62">
                  <c:v>0.0011733169</c:v>
                </c:pt>
              </c:numCache>
            </c:numRef>
          </c:yVal>
          <c:smooth val="0"/>
        </c:ser>
        <c:ser>
          <c:idx val="42"/>
          <c:order val="42"/>
          <c:tx>
            <c:strRef>
              <c:f>Sheet1!$AR$1</c:f>
              <c:strCache>
                <c:ptCount val="1"/>
                <c:pt idx="0">
                  <c:v>PF_in L1 90%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Sheet1!$AR$2:$AR$73</c:f>
              <c:numCache>
                <c:formatCode>General</c:formatCode>
                <c:ptCount val="72"/>
                <c:pt idx="63">
                  <c:v>0.0003327304</c:v>
                </c:pt>
                <c:pt idx="64">
                  <c:v>0.0064567912</c:v>
                </c:pt>
              </c:numCache>
            </c:numRef>
          </c:yVal>
          <c:smooth val="0"/>
        </c:ser>
        <c:ser>
          <c:idx val="43"/>
          <c:order val="43"/>
          <c:tx>
            <c:strRef>
              <c:f>Sheet1!$AS$1</c:f>
              <c:strCache>
                <c:ptCount val="1"/>
                <c:pt idx="0">
                  <c:v>PF_in L1 평균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ED8988"/>
              </a:solidFill>
              <a:ln w="19050">
                <a:solidFill>
                  <a:srgbClr val="E34948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Sheet1!$AS$2:$AS$73</c:f>
              <c:numCache>
                <c:formatCode>General</c:formatCode>
                <c:ptCount val="72"/>
                <c:pt idx="65">
                  <c:v>0.0021705466</c:v>
                </c:pt>
              </c:numCache>
            </c:numRef>
          </c:yVal>
          <c:smooth val="0"/>
        </c:ser>
        <c:ser>
          <c:idx val="44"/>
          <c:order val="44"/>
          <c:tx>
            <c:strRef>
              <c:f>Sheet1!$AT$1</c:f>
              <c:strCache>
                <c:ptCount val="1"/>
                <c:pt idx="0">
                  <c:v>PF_in L2 90%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Sheet1!$AT$2:$AT$73</c:f>
              <c:numCache>
                <c:formatCode>General</c:formatCode>
                <c:ptCount val="72"/>
                <c:pt idx="66">
                  <c:v>0.0005108708</c:v>
                </c:pt>
                <c:pt idx="67">
                  <c:v>0.0084293586</c:v>
                </c:pt>
              </c:numCache>
            </c:numRef>
          </c:yVal>
          <c:smooth val="0"/>
        </c:ser>
        <c:ser>
          <c:idx val="45"/>
          <c:order val="45"/>
          <c:tx>
            <c:strRef>
              <c:f>Sheet1!$AU$1</c:f>
              <c:strCache>
                <c:ptCount val="1"/>
                <c:pt idx="0">
                  <c:v>PF_in L2 평균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E34948"/>
              </a:solidFill>
              <a:ln w="12700">
                <a:solidFill>
                  <a:srgbClr val="E34948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Sheet1!$AU$2:$AU$73</c:f>
              <c:numCache>
                <c:formatCode>General</c:formatCode>
                <c:ptCount val="72"/>
                <c:pt idx="68">
                  <c:v>0.0028427649</c:v>
                </c:pt>
              </c:numCache>
            </c:numRef>
          </c:yVal>
          <c:smooth val="0"/>
        </c:ser>
        <c:ser>
          <c:idx val="46"/>
          <c:order val="46"/>
          <c:tx>
            <c:strRef>
              <c:f>Sheet1!$AV$1</c:f>
              <c:strCache>
                <c:ptCount val="1"/>
                <c:pt idx="0">
                  <c:v>PF_in L1+L2 90%</c:v>
                </c:pt>
              </c:strCache>
            </c:strRef>
          </c:tx>
          <c:spPr>
            <a:solidFill>
              <a:srgbClr val="E34948"/>
            </a:solidFill>
            <a:ln w="2222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Sheet1!$AV$2:$AV$73</c:f>
              <c:numCache>
                <c:formatCode>General</c:formatCode>
                <c:ptCount val="72"/>
                <c:pt idx="69">
                  <c:v>0.0004819318</c:v>
                </c:pt>
                <c:pt idx="70">
                  <c:v>0.0080396291</c:v>
                </c:pt>
              </c:numCache>
            </c:numRef>
          </c:yVal>
          <c:smooth val="0"/>
        </c:ser>
        <c:ser>
          <c:idx val="47"/>
          <c:order val="47"/>
          <c:tx>
            <c:strRef>
              <c:f>Sheet1!$AW$1</c:f>
              <c:strCache>
                <c:ptCount val="1"/>
                <c:pt idx="0">
                  <c:v>PF_in L1+L2 평균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  <a:effectLst/>
          </c:spPr>
          <c:marker>
            <c:symbol val="diamond"/>
            <c:size val="10"/>
            <c:spPr>
              <a:solidFill>
                <a:srgbClr val="E34948"/>
              </a:solidFill>
              <a:ln w="12700">
                <a:solidFill>
                  <a:srgbClr val="E34948"/>
                </a:solidFill>
              </a:ln>
            </c:spPr>
          </c:marker>
          <c:xVal>
            <c:numRef>
              <c:f>Sheet1!$A$2:$A$73</c:f>
              <c:numCache>
                <c:formatCode>General</c:formatCode>
                <c:ptCount val="72"/>
                <c:pt idx="0">
                  <c:v>-0.255</c:v>
                </c:pt>
                <c:pt idx="1">
                  <c:v>-0.255</c:v>
                </c:pt>
                <c:pt idx="2">
                  <c:v>-0.255</c:v>
                </c:pt>
                <c:pt idx="3">
                  <c:v>-0.085</c:v>
                </c:pt>
                <c:pt idx="4">
                  <c:v>-0.085</c:v>
                </c:pt>
                <c:pt idx="5">
                  <c:v>-0.085</c:v>
                </c:pt>
                <c:pt idx="6">
                  <c:v>0.085</c:v>
                </c:pt>
                <c:pt idx="7">
                  <c:v>0.085</c:v>
                </c:pt>
                <c:pt idx="8">
                  <c:v>0.085</c:v>
                </c:pt>
                <c:pt idx="9">
                  <c:v>0.255</c:v>
                </c:pt>
                <c:pt idx="10">
                  <c:v>0.255</c:v>
                </c:pt>
                <c:pt idx="11">
                  <c:v>0.255</c:v>
                </c:pt>
                <c:pt idx="12">
                  <c:v>0.745</c:v>
                </c:pt>
                <c:pt idx="13">
                  <c:v>0.745</c:v>
                </c:pt>
                <c:pt idx="14">
                  <c:v>0.745</c:v>
                </c:pt>
                <c:pt idx="15">
                  <c:v>0.915</c:v>
                </c:pt>
                <c:pt idx="16">
                  <c:v>0.915</c:v>
                </c:pt>
                <c:pt idx="17">
                  <c:v>0.915</c:v>
                </c:pt>
                <c:pt idx="18">
                  <c:v>1.085</c:v>
                </c:pt>
                <c:pt idx="19">
                  <c:v>1.085</c:v>
                </c:pt>
                <c:pt idx="20">
                  <c:v>1.085</c:v>
                </c:pt>
                <c:pt idx="21">
                  <c:v>1.255</c:v>
                </c:pt>
                <c:pt idx="22">
                  <c:v>1.255</c:v>
                </c:pt>
                <c:pt idx="23">
                  <c:v>1.255</c:v>
                </c:pt>
                <c:pt idx="24">
                  <c:v>1.745</c:v>
                </c:pt>
                <c:pt idx="25">
                  <c:v>1.745</c:v>
                </c:pt>
                <c:pt idx="26">
                  <c:v>1.745</c:v>
                </c:pt>
                <c:pt idx="27">
                  <c:v>1.915</c:v>
                </c:pt>
                <c:pt idx="28">
                  <c:v>1.915</c:v>
                </c:pt>
                <c:pt idx="29">
                  <c:v>1.915</c:v>
                </c:pt>
                <c:pt idx="30">
                  <c:v>2.085</c:v>
                </c:pt>
                <c:pt idx="31">
                  <c:v>2.085</c:v>
                </c:pt>
                <c:pt idx="32">
                  <c:v>2.085</c:v>
                </c:pt>
                <c:pt idx="33">
                  <c:v>2.255</c:v>
                </c:pt>
                <c:pt idx="34">
                  <c:v>2.255</c:v>
                </c:pt>
                <c:pt idx="35">
                  <c:v>2.255</c:v>
                </c:pt>
                <c:pt idx="36">
                  <c:v>2.745</c:v>
                </c:pt>
                <c:pt idx="37">
                  <c:v>2.745</c:v>
                </c:pt>
                <c:pt idx="38">
                  <c:v>2.745</c:v>
                </c:pt>
                <c:pt idx="39">
                  <c:v>2.915</c:v>
                </c:pt>
                <c:pt idx="40">
                  <c:v>2.915</c:v>
                </c:pt>
                <c:pt idx="41">
                  <c:v>2.915</c:v>
                </c:pt>
                <c:pt idx="42">
                  <c:v>3.085</c:v>
                </c:pt>
                <c:pt idx="43">
                  <c:v>3.085</c:v>
                </c:pt>
                <c:pt idx="44">
                  <c:v>3.085</c:v>
                </c:pt>
                <c:pt idx="45">
                  <c:v>3.255</c:v>
                </c:pt>
                <c:pt idx="46">
                  <c:v>3.255</c:v>
                </c:pt>
                <c:pt idx="47">
                  <c:v>3.255</c:v>
                </c:pt>
                <c:pt idx="48">
                  <c:v>3.745</c:v>
                </c:pt>
                <c:pt idx="49">
                  <c:v>3.745</c:v>
                </c:pt>
                <c:pt idx="50">
                  <c:v>3.745</c:v>
                </c:pt>
                <c:pt idx="51">
                  <c:v>3.915</c:v>
                </c:pt>
                <c:pt idx="52">
                  <c:v>3.915</c:v>
                </c:pt>
                <c:pt idx="53">
                  <c:v>3.915</c:v>
                </c:pt>
                <c:pt idx="54">
                  <c:v>4.085</c:v>
                </c:pt>
                <c:pt idx="55">
                  <c:v>4.085</c:v>
                </c:pt>
                <c:pt idx="56">
                  <c:v>4.085</c:v>
                </c:pt>
                <c:pt idx="57">
                  <c:v>4.255</c:v>
                </c:pt>
                <c:pt idx="58">
                  <c:v>4.255</c:v>
                </c:pt>
                <c:pt idx="59">
                  <c:v>4.255</c:v>
                </c:pt>
                <c:pt idx="60">
                  <c:v>4.745</c:v>
                </c:pt>
                <c:pt idx="61">
                  <c:v>4.745</c:v>
                </c:pt>
                <c:pt idx="62">
                  <c:v>4.745</c:v>
                </c:pt>
                <c:pt idx="63">
                  <c:v>4.915</c:v>
                </c:pt>
                <c:pt idx="64">
                  <c:v>4.915</c:v>
                </c:pt>
                <c:pt idx="65">
                  <c:v>4.915</c:v>
                </c:pt>
                <c:pt idx="66">
                  <c:v>5.085</c:v>
                </c:pt>
                <c:pt idx="67">
                  <c:v>5.085</c:v>
                </c:pt>
                <c:pt idx="68">
                  <c:v>5.085</c:v>
                </c:pt>
                <c:pt idx="69">
                  <c:v>5.255</c:v>
                </c:pt>
                <c:pt idx="70">
                  <c:v>5.255</c:v>
                </c:pt>
                <c:pt idx="71">
                  <c:v>5.255</c:v>
                </c:pt>
              </c:numCache>
            </c:numRef>
          </c:xVal>
          <c:yVal>
            <c:numRef>
              <c:f>Sheet1!$AW$2:$AW$73</c:f>
              <c:numCache>
                <c:formatCode>General</c:formatCode>
                <c:ptCount val="72"/>
                <c:pt idx="71">
                  <c:v>0.002740636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.5"/>
          <c:min val="-0.5"/>
        </c:scaling>
        <c:delete val="1"/>
        <c:axPos val="b"/>
        <c:numFmt formatCode="0E+0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0.000001"/>
        <c:auto val="1"/>
        <c:lblAlgn val="ctr"/>
        <c:noMultiLvlLbl val="1"/>
        <c:majorUnit val="1"/>
      </c:valAx>
      <c:valAx>
        <c:axId val="2094734552"/>
        <c:scaling>
          <c:logBase val="10"/>
          <c:orientation val="minMax"/>
          <c:max val="0.1"/>
          <c:min val="0.00000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E+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3303D"/>
                </a:solidFill>
                <a:latin typeface="+mn-lt"/>
              </a:rPr>
              <a:t>위험 증가분의 구성 (%, 통합 L1+L2, 대책 없음)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확산 몫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[&lt;5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EPS 준불연</c:v>
                  </c:pt>
                  <c:pt idx="1">
                    <c:v>PIR(PUR) 가연성</c:v>
                  </c:pt>
                  <c:pt idx="2">
                    <c:v>PIR(PUR) 준불연</c:v>
                  </c:pt>
                  <c:pt idx="3">
                    <c:v>PF 준불연 외부용</c:v>
                  </c:pt>
                  <c:pt idx="4">
                    <c:v>PF 준불연 내부용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98.12226049</c:v>
                </c:pt>
                <c:pt idx="1">
                  <c:v>99.95675455</c:v>
                </c:pt>
                <c:pt idx="2">
                  <c:v>87.50042378</c:v>
                </c:pt>
                <c:pt idx="3">
                  <c:v>45.23372733</c:v>
                </c:pt>
                <c:pt idx="4">
                  <c:v>73.03531119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지속 몫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[&lt;5]&quot;&quot;;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EPS 준불연</c:v>
                  </c:pt>
                  <c:pt idx="1">
                    <c:v>PIR(PUR) 가연성</c:v>
                  </c:pt>
                  <c:pt idx="2">
                    <c:v>PIR(PUR) 준불연</c:v>
                  </c:pt>
                  <c:pt idx="3">
                    <c:v>PF 준불연 외부용</c:v>
                  </c:pt>
                  <c:pt idx="4">
                    <c:v>PF 준불연 내부용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1.87773951</c:v>
                </c:pt>
                <c:pt idx="1">
                  <c:v>0.04324545</c:v>
                </c:pt>
                <c:pt idx="2">
                  <c:v>12.49957622</c:v>
                </c:pt>
                <c:pt idx="3">
                  <c:v>54.766272670000006</c:v>
                </c:pt>
                <c:pt idx="4">
                  <c:v>26.96468881</c:v>
                </c:pt>
              </c:numCache>
            </c:numRef>
          </c:val>
        </c:ser>
        <c:dLbls>
          <c:numFmt formatCode="[&lt;5]&quot;&quot;;0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30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4B55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voi EPS_SC</c:v>
                </c:pt>
              </c:strCache>
            </c:strRef>
          </c:tx>
          <c:spPr>
            <a:solidFill>
              <a:srgbClr val="E87BA4"/>
            </a:solidFill>
            <a:ln w="2857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7BA4"/>
              </a:solidFill>
              <a:ln w="19050">
                <a:solidFill>
                  <a:srgbClr val="E87BA4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0.25</c:v>
                </c:pt>
                <c:pt idx="1">
                  <c:v>0.3</c:v>
                </c:pt>
                <c:pt idx="2">
                  <c:v>0.35</c:v>
                </c:pt>
                <c:pt idx="3">
                  <c:v>0.42</c:v>
                </c:pt>
                <c:pt idx="4">
                  <c:v>0.5</c:v>
                </c:pt>
                <c:pt idx="5">
                  <c:v>0.59</c:v>
                </c:pt>
                <c:pt idx="6">
                  <c:v>0.71</c:v>
                </c:pt>
                <c:pt idx="7">
                  <c:v>0.84</c:v>
                </c:pt>
                <c:pt idx="8">
                  <c:v>1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0.021</c:v>
                </c:pt>
                <c:pt idx="1">
                  <c:v>0.053</c:v>
                </c:pt>
                <c:pt idx="2">
                  <c:v>0.122</c:v>
                </c:pt>
                <c:pt idx="3">
                  <c:v>0.27</c:v>
                </c:pt>
                <c:pt idx="4">
                  <c:v>0.573</c:v>
                </c:pt>
                <c:pt idx="5">
                  <c:v>0.959</c:v>
                </c:pt>
                <c:pt idx="6">
                  <c:v>0.995</c:v>
                </c:pt>
                <c:pt idx="7">
                  <c:v>0.999</c:v>
                </c:pt>
                <c:pt idx="8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voi PIR_C</c:v>
                </c:pt>
              </c:strCache>
            </c:strRef>
          </c:tx>
          <c:spPr>
            <a:solidFill>
              <a:srgbClr val="6250D6"/>
            </a:solidFill>
            <a:ln w="2857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250D6"/>
              </a:solidFill>
              <a:ln w="19050">
                <a:solidFill>
                  <a:srgbClr val="6250D6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0.25</c:v>
                </c:pt>
                <c:pt idx="1">
                  <c:v>0.3</c:v>
                </c:pt>
                <c:pt idx="2">
                  <c:v>0.35</c:v>
                </c:pt>
                <c:pt idx="3">
                  <c:v>0.42</c:v>
                </c:pt>
                <c:pt idx="4">
                  <c:v>0.5</c:v>
                </c:pt>
                <c:pt idx="5">
                  <c:v>0.59</c:v>
                </c:pt>
                <c:pt idx="6">
                  <c:v>0.71</c:v>
                </c:pt>
                <c:pt idx="7">
                  <c:v>0.84</c:v>
                </c:pt>
                <c:pt idx="8">
                  <c:v>1</c:v>
                </c:pt>
              </c:numCache>
            </c:numRef>
          </c:xVal>
          <c:y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voi PIR_SC</c:v>
                </c:pt>
              </c:strCache>
            </c:strRef>
          </c:tx>
          <c:spPr>
            <a:solidFill>
              <a:srgbClr val="008300"/>
            </a:solidFill>
            <a:ln w="2857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8300"/>
              </a:solidFill>
              <a:ln w="19050">
                <a:solidFill>
                  <a:srgbClr val="008300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0.25</c:v>
                </c:pt>
                <c:pt idx="1">
                  <c:v>0.3</c:v>
                </c:pt>
                <c:pt idx="2">
                  <c:v>0.35</c:v>
                </c:pt>
                <c:pt idx="3">
                  <c:v>0.42</c:v>
                </c:pt>
                <c:pt idx="4">
                  <c:v>0.5</c:v>
                </c:pt>
                <c:pt idx="5">
                  <c:v>0.59</c:v>
                </c:pt>
                <c:pt idx="6">
                  <c:v>0.71</c:v>
                </c:pt>
                <c:pt idx="7">
                  <c:v>0.84</c:v>
                </c:pt>
                <c:pt idx="8">
                  <c:v>1</c:v>
                </c:pt>
              </c:numCache>
            </c:numRef>
          </c:xVal>
          <c:yVal>
            <c:numRef>
              <c:f>Sheet1!$D$2:$D$10</c:f>
              <c:numCache>
                <c:formatCode>General</c:formatCode>
                <c:ptCount val="9"/>
                <c:pt idx="0">
                  <c:v>0.003</c:v>
                </c:pt>
                <c:pt idx="1">
                  <c:v>0.012</c:v>
                </c:pt>
                <c:pt idx="2">
                  <c:v>0.041</c:v>
                </c:pt>
                <c:pt idx="3">
                  <c:v>0.193</c:v>
                </c:pt>
                <c:pt idx="4">
                  <c:v>0.513</c:v>
                </c:pt>
                <c:pt idx="5">
                  <c:v>0.807</c:v>
                </c:pt>
                <c:pt idx="6">
                  <c:v>0.921</c:v>
                </c:pt>
                <c:pt idx="7">
                  <c:v>0.955</c:v>
                </c:pt>
                <c:pt idx="8">
                  <c:v>0.988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voi PF_out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78D6"/>
              </a:solidFill>
              <a:ln w="19050">
                <a:solidFill>
                  <a:srgbClr val="2A78D6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0.25</c:v>
                </c:pt>
                <c:pt idx="1">
                  <c:v>0.3</c:v>
                </c:pt>
                <c:pt idx="2">
                  <c:v>0.35</c:v>
                </c:pt>
                <c:pt idx="3">
                  <c:v>0.42</c:v>
                </c:pt>
                <c:pt idx="4">
                  <c:v>0.5</c:v>
                </c:pt>
                <c:pt idx="5">
                  <c:v>0.59</c:v>
                </c:pt>
                <c:pt idx="6">
                  <c:v>0.71</c:v>
                </c:pt>
                <c:pt idx="7">
                  <c:v>0.84</c:v>
                </c:pt>
                <c:pt idx="8">
                  <c:v>1</c:v>
                </c:pt>
              </c:numCache>
            </c:numRef>
          </c:xVal>
          <c:yVal>
            <c:numRef>
              <c:f>Sheet1!$E$2:$E$10</c:f>
              <c:numCache>
                <c:formatCode>General</c:formatCode>
                <c:ptCount val="9"/>
                <c:pt idx="0">
                  <c:v>0.004</c:v>
                </c:pt>
                <c:pt idx="1">
                  <c:v>0.015</c:v>
                </c:pt>
                <c:pt idx="2">
                  <c:v>0.034</c:v>
                </c:pt>
                <c:pt idx="3">
                  <c:v>0.127</c:v>
                </c:pt>
                <c:pt idx="4">
                  <c:v>0.268</c:v>
                </c:pt>
                <c:pt idx="5">
                  <c:v>0.455</c:v>
                </c:pt>
                <c:pt idx="6">
                  <c:v>0.664</c:v>
                </c:pt>
                <c:pt idx="7">
                  <c:v>0.827</c:v>
                </c:pt>
                <c:pt idx="8">
                  <c:v>0.939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voi PF_in</c:v>
                </c:pt>
              </c:strCache>
            </c:strRef>
          </c:tx>
          <c:spPr>
            <a:solidFill>
              <a:srgbClr val="E34948"/>
            </a:solidFill>
            <a:ln w="2857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34948"/>
              </a:solidFill>
              <a:ln w="19050">
                <a:solidFill>
                  <a:srgbClr val="E34948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0.25</c:v>
                </c:pt>
                <c:pt idx="1">
                  <c:v>0.3</c:v>
                </c:pt>
                <c:pt idx="2">
                  <c:v>0.35</c:v>
                </c:pt>
                <c:pt idx="3">
                  <c:v>0.42</c:v>
                </c:pt>
                <c:pt idx="4">
                  <c:v>0.5</c:v>
                </c:pt>
                <c:pt idx="5">
                  <c:v>0.59</c:v>
                </c:pt>
                <c:pt idx="6">
                  <c:v>0.71</c:v>
                </c:pt>
                <c:pt idx="7">
                  <c:v>0.84</c:v>
                </c:pt>
                <c:pt idx="8">
                  <c:v>1</c:v>
                </c:pt>
              </c:numCache>
            </c:numRef>
          </c:xVal>
          <c:y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0.002</c:v>
                </c:pt>
                <c:pt idx="5">
                  <c:v>0.008</c:v>
                </c:pt>
                <c:pt idx="6">
                  <c:v>0.029</c:v>
                </c:pt>
                <c:pt idx="7">
                  <c:v>0.095</c:v>
                </c:pt>
                <c:pt idx="8">
                  <c:v>0.271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.25"/>
        </c:scaling>
        <c:delete val="0"/>
        <c:axPos val="b"/>
        <c:numFmt formatCode="0.00" sourceLinked="0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autoZero"/>
        <c:auto val="1"/>
        <c:lblAlgn val="ctr"/>
        <c:noMultiLvlLbl val="1"/>
        <c:majorUnit val="0.25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요청: NFPA 551·EFFECT 같은 틀과 별개로, 소형시료(콘·TGA–DSC·FT-IR), 중규모 성능시험, 시뮬레이션 각각을 통한 위험성평가를 하고 이를 독자 체계로 묶고 싶다. TGA–DSC도 재료 요소로 정량 반영.
- 답: 세 척도가 각자 위험도를 내되, 결과를 모두 '중규모 등가값'(층당 확산시간 t600, 자립 연소 확률 p_B)으로 바꿔 같은 건물 위험도 모델에 넣습니다. 그래서 척도끼리 비교·결합·검사가 됩니다.
- 순서: 결론(2) → EFFECT 검토(3–4) → 체계(5–6) → 소형시료(7–11) → 결합·정합성(12–13) → 척도별 위험도(14–16) → 시뮬레이션(17–18) → 증거 수준·계획·한계(19–21).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왼쪽 위: EFFECT는 재료를 가연/불연, 그리고 외장재·단열재 계열·공기층 조합의 범주로만 다룹니다. 이 시험 재료에 적용하면 다섯 가지가 모두 같은 판정이 나옵니다.
- 오른쪽 위: 우리 체계는 척도마다 위험도를 내되, 그 결과를 모두 t600과 p_B라는 같은 단위로 바꿉니다.
- 아래: TGA–DSC는 그 단위를 예측하는 '재료 인자'로 들어가고, 게이트가 없으면 가연성 제품을 크게 오판한다는 것이 이번 자료로 확인됩니다. 다음 투자는 콘·FT-IR(게이트)과 FDS(s)입니다.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보고서 초록이 직접 '통계나 시험 자료가 부족해 정성 평가를 택했다'고 밝힙니다. 그래서 재료는 가연 여부와 범주 조합으로만 들어갑니다.
- 흥미로운 점: 콘·FT-IR·TGA를 실험실 시험으로 소개하지만 재료 '식별'에만 쓰고 점수에는 넣지 않습니다. 후속 과제로 '시험으로 조합 점수를 보강하라'고 남겼습니다. 우리 자료가 정확히 그 역할을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EFFECT Tier 2 그림 33·34를 이 시험 구성(공기층 100 mm, 외장재 불연 가정)에 적용하면 다섯 재료 모두 연료 High, 판정 D입니다.
- 같은 D 안에서 실제 거동은 30초 전면 착화부터 20분 넘는 확산까지 갈립니다. EFFECT의 목적(포트폴리오 우선순위)에는 충분해도, 재료·제품 평가에는 부족합니다.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네 칸이 네 척도입니다. 각 칸 아래 검은 띠가 그 척도가 내는 위험도입니다.
- 핵심은 가운데 띠: 모든 척도가 t600과 p_B라는 같은 두 숫자로 말합니다. 소형시료는 이를 예측하고, 중규모는 측정하고, 시뮬레이션은 건물 규모로 옮깁니다.
- 그래서 결합(베이즈), 검사(정합성), 증거 수준 표시가 가능합니다. 게이트는 예측식을 써도 되는 재료인지를 가립니다.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행은 위험의 종류, 열은 척도입니다. 같은 위험을 척도마다 다른 시험으로 잽니다.
- 연두 칸이 지금 있는 자료, 분홍 칸이 앞으로 시험·해석으로 채울 칸입니다. 확산·지속은 소형과 중규모 모두 있어 정량 결합이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세 시험은 서로 다른 것을 봅니다. 콘은 착화와 열방출, TGA는 분해와 산화의 온도 구조, FT-IR은 화학 조성입니다.
- 아래 예가 핵심입니다. 가연성 PIR(PUR)은 TGA상 준불연과 큰 차이가 없는데(분해 시작은 오히려 높음), 중공층에서는 준불연보다 36배 빨리 번졌습니다. 난연 처리의 효과는 질량감소가 아니라 불꽃 억제에서 나타나기 때문입니다. 그래서 콘과 FT-IR이 게이트로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콘은 국내 준불연 판정의 근거 시험이라 게이트로 바로 씁니다. 등급 인증서 대신 같은 시료로 직접 측정하면 c/sc 판단이 데이터가 됩니다.
- 다열류속 착화시간으로 TRP와 CHF를, 열방출로 상향 확산 인자 b와 재료지수 M을 계산합니다. M은 앞서 제안한 상대식으로 중규모 t600을 예측합니다(잠정, 보정 필요).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FT-IR의 첫 역할은 게이트 검증입니다. 시험한 시료가 선언한 제품과 같은지, 난연제가 들어 있는지를 봅니다.
- 이소시아누레이트 지수처럼 정량 지수도 만들 수 있어, TGA의 분해 시작 온도·고온 산화 몫과 연결해 볼 수 있습니다. 발생가스 분석은 시뮬레이션의 유해가스 입력이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지금 있는 TGA 자료로 재료 인자를 계산한 표입니다. 게이트를 통과한 준불연 탄화형 3종만 예측 t600을 냅니다.
- 예측 P 등급은 PF 내부용 3, 나머지 2로 중규모 시험 결과와 같습니다(교차검증 6/6).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전이함수가 이 체계의 '번역기'입니다. 소형시료 숫자를 중규모 등가값으로 바꿉니다.
- TGA 식은 이번 자료로 보정과 교차검증까지 했고, 콘·FT-IR 식은 자료가 들어오면 같은 방법으로 보정합니다. 건물로 가는 s는 아직 가정입니다.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가로축이 TGA 예측, 세로축이 중공층 시험입니다. 점선 사이가 시험 한 번을 예측할 때의 95 % 구간입니다.
- 게이트를 통과한 세 제품은 구간 안에 있습니다. 가연성 PIR(PUR)은 예측 812초, 실측 30초로 z가 −18.5입니다(위험 과소평가). EPS 준불연은 용융형이라 TGA가 위험을 높게 봅니다(z 2.14, 보수적).
- 지속성(B)은 네 제품 모두 TGA 사전분포와 시험이 정합합니다.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TGA는 사전분포, 시험은 자료입니다. 시험 두 번의 정밀도가 높아 TGA 무게는 13.5 %지만, 시험이 없는 제품에서는 TGA가 유일한 근거입니다.
- 오른쪽 막대: 재료에 대한 지식이 늘수록 t600 불확실성이 5.3배에서 1.2배 폭까지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재료마다 네 개의 점이 증거 수준입니다. 연한 원은 등급만, 연한 네모는 TGA를 더한 것, 진한 원은 중규모 시험, 마름모는 둘을 결합한 것입니다. 세로선은 90 % 구간입니다.
- 등급만으로는 준불연 네 제품이 구분되지 않습니다. TGA만 더해도 PF 내부용이 가장 위험하다는 순위가 나오고, 중규모 시험이 확인합니다.
- 오른쪽 표: 게이트 없이 TGA만 쓰면 가연성 PIR(PUR)을 6배 낮게 평가해 판정까지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칸마다 같은 기준으로 판정했습니다. 증거 수준이 올라갈수록 판정이 확정되는 방향을 볼 수 있습니다.
- 대책이 없는 경우 PF 내부용은 중규모 시험에서 불충족으로 확정되고, 다른 준불연 세 제품은 끝까지 판단 유보입니다. 판단을 막는 것은 재료가 아니라 s입니다(18쪽).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재료 인자는 '이 재료 때문에 외벽 위험이 몇 배가 되는가'입니다. 증거 수준이 달라도 순위는 같습니다.
- 오른쪽은 위험 증가분을 확산과 지속으로 나눈 것입니다. PF 외부용은 확산은 느리지만 소화 후에도 계속 타서, 위험의 절반 이상이 지속에서 옵니다. 이것이 TGA의 고온 산화 몫(f400)이 재료 인자로 의미 있는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시뮬레이션은 두 단계입니다. 먼저 중공층 시험을 재현해 모델을 검증하고, 검증된 모델로 실제 건물 외벽을 계산합니다.
- 건물 계산에서 층마다 화염이 닿는 시각을 얻으면, 지금 가정으로 두고 있는 s를 실제 값으로 바꿀 수 있습니다.
- 용융·적하처럼 FDS가 못 그리는 현상은 한계로 문서에 남기고, 그 부분은 중규모 시험 결과를 우선합니다.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가로축 s를 하나로 정했을 때 기준을 만족하는 비율입니다. 점선 위면 충족, 아래면 불충족입니다.
- 판단 유보인 세 준불연 제품은 s가 0.58–0.94 이상이면 충족, 0.33–0.40 이하이면 불충족입니다. 즉 이 제품들의 결론은 재료 시험을 더 해서가 아니라 s를 정해서 나옵니다.
- 시뮬레이션의 가치를 숫자로 보인 것입니다. 대책을 넣으면 s와 무관하게 충족이라 시뮬레이션이 필요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판정에는 항상 증거 수준을 붙입니다. 같은 '충족'이라도 E1과 E2는 무게가 다릅니다.
- 오른쪽은 실제로 남아 있는 사례입니다. EPS 가연성은 TGA만 있는데 가연성이라 게이트에서 막히고, TGA 공기 자료도 재측정 대상이며, 중공층 기록도 4분뿐입니다. 그래서 체계는 '중규모 재시험이 필요하다'고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순위는 판정을 바꿀 수 있는지로 정했습니다. 게이트, 지속 표본, 대책 근거, s가 1순위입니다.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체계 자체(척도, 공통 단위, 결합·검사·게이트)는 자료와 무관하게 쓸 수 있고, 숫자는 시험이 늘수록 바뀝니다.
- 아래 세 칸: NFPA 551은 절차와 문서의 틀, EFFECT는 건물 포트폴리오의 1차 선별, 이 체계는 재료·제품을 시험 근거로 정량 판정하는 부분입니다. 서로 대체가 아니라 이어지는 관계입니다.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식과 상수, 재현 방법입니다. 엑셀과 파이썬이 같은 값을 내는지 13_검증 시트에서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KICT 중공층 외단열 · 외벽 화재위험성 다척도 평가체계 (소형시료 · 중규모 · 시뮬레이션)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11247120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622024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400" b="1" dirty="0">
                <a:solidFill>
                  <a:schemeClr val="bg2"/>
                </a:solidFill>
              </a:rPr>
              <a:t>외벽 화재위험성평가 · 다척도 연계 체계 · 2026-10-23</a:t>
            </a:r>
            <a:endParaRPr lang="ko-KR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소형시료 · 중규모 · 시뮬레이션을 잇는</a:t>
            </a:r>
            <a:endParaRPr lang="ko-KR" sz="3600" dirty="0"/>
          </a:p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외벽 화재위험성 평가체계</a:t>
            </a:r>
            <a:endParaRPr lang="ko-KR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600" dirty="0">
                <a:solidFill>
                  <a:schemeClr val="bg2"/>
                </a:solidFill>
              </a:rPr>
              <a:t>콘칼로리미터·TGA–DSC·FT-IR → 3 m 중공층 시험 → FDS → 건물 위험도 — 척도마다 위험도를 내고, 같은 단위로 결합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600" b="1" dirty="0">
                <a:solidFill>
                  <a:schemeClr val="bg1"/>
                </a:solidFill>
              </a:rPr>
              <a:t>3척도 × 6차원</a:t>
            </a:r>
            <a:endParaRPr lang="ko-KR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소형시료 · 중규모 · 시뮬레이션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착화·확산·발열·지속·급발·유해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600" b="1" dirty="0">
                <a:solidFill>
                  <a:schemeClr val="bg1"/>
                </a:solidFill>
              </a:rPr>
              <a:t>5.3배 → 1.2배</a:t>
            </a:r>
            <a:endParaRPr lang="ko-KR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재료 </a:t>
            </a:r>
            <a:r>
              <a:rPr lang="ko-KR" altLang="en-US" sz="1300" b="1" dirty="0">
                <a:solidFill>
                  <a:schemeClr val="bg1"/>
                </a:solidFill>
              </a:rPr>
              <a:t>t</a:t>
            </a:r>
            <a:r>
              <a:rPr lang="ko-KR" altLang="en-US" sz="1300" b="1" baseline="-40000" dirty="0">
                <a:solidFill>
                  <a:schemeClr val="bg1"/>
                </a:solidFill>
              </a:rPr>
              <a:t>600</a:t>
            </a:r>
            <a:r>
              <a:rPr lang="ko-KR" altLang="en-US" sz="1300" b="1" dirty="0">
                <a:solidFill>
                  <a:schemeClr val="bg1"/>
                </a:solidFill>
              </a:rPr>
              <a:t> 불확실성(90 % 폭)</a:t>
            </a:r>
            <a:endParaRPr lang="ko-KR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등급만 → TGA → 중규모 → 통합</a:t>
            </a:r>
            <a:endParaRPr lang="ko-KR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600" b="1" dirty="0">
                <a:solidFill>
                  <a:schemeClr val="bg1"/>
                </a:solidFill>
              </a:rPr>
              <a:t>z = -18.5</a:t>
            </a:r>
            <a:endParaRPr lang="ko-KR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게이트 없는 TGA의 가연성 오판</a:t>
            </a:r>
            <a:endParaRPr lang="ko-KR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콘·FT-IR 게이트가 필요한 근거</a:t>
            </a:r>
            <a:endParaRPr lang="ko-KR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함께 드리는 파일: 다척도_위험성평가_계산서.xlsx (콘·FT-IR·시뮬레이션 입력 양식, TGA·중공층 자료, 베이즈 결합·정합성 수식, 위험도 결과)</a:t>
            </a:r>
            <a:endParaRPr lang="ko-K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결론 — 무엇을 만들었고, 지금 무엇을 말할 수 있나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척도마다 위험도를 내고 '중규모 등가값'(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 · </a:t>
            </a:r>
            <a:r>
              <a:rPr lang="ko-KR" altLang="en-US" sz="2000" b="1" dirty="0">
                <a:solidFill>
                  <a:schemeClr val="tx1"/>
                </a:solidFill>
              </a:rPr>
              <a:t>p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B</a:t>
            </a:r>
            <a:r>
              <a:rPr lang="ko-KR" altLang="en-US" sz="2000" b="1" dirty="0">
                <a:solidFill>
                  <a:schemeClr val="tx1"/>
                </a:solidFill>
              </a:rPr>
              <a:t>)으로 결합하는 독자 체계 — TGA–DSC는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확산 · 지속 · 급발 인자로 위험도에 정량 반영되고, 콘 · FT-IR이 게이트 역할을 맡음</a:t>
            </a:r>
            <a:endParaRPr lang="ko-KR" sz="2000" dirty="0"/>
          </a:p>
        </p:txBody>
      </p:sp>
      <p:sp>
        <p:nvSpPr>
          <p:cNvPr id="4" name="card EFFECT 검토: 재료는 범주로만 다룸"/>
          <p:cNvSpPr/>
          <p:nvPr/>
        </p:nvSpPr>
        <p:spPr>
          <a:xfrm>
            <a:off x="457200" y="1645920"/>
            <a:ext cx="5524348" cy="1965960"/>
          </a:xfrm>
          <a:prstGeom prst="roundRect">
            <a:avLst>
              <a:gd name="adj" fmla="val 3721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3794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EFFECT 검토: 재료는 범주로만 다룸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76272"/>
            <a:ext cx="51403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Tier 1 가연 여부, Tier 2 외장재 × 단열재 × 공기층 → Low/Medium/High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보고서 스스로 '정성적'(통계·시험자료 부족) — 콘·FT-IR·TGA는 재료 식별에만 사용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이 시험 5종에 적용하면 모두 연료 High → 판정 D(동일)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실제: 시험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30–1346 s, 재료 인자 33–630배</a:t>
            </a:r>
            <a:endParaRPr lang="ko-KR" sz="1150" dirty="0"/>
          </a:p>
        </p:txBody>
      </p:sp>
      <p:sp>
        <p:nvSpPr>
          <p:cNvPr id="8" name="card 독자 체계: 척도마다 위험도, 같은 단위로 결합"/>
          <p:cNvSpPr/>
          <p:nvPr/>
        </p:nvSpPr>
        <p:spPr>
          <a:xfrm>
            <a:off x="6210148" y="1645920"/>
            <a:ext cx="5524348" cy="1965960"/>
          </a:xfrm>
          <a:prstGeom prst="roundRect">
            <a:avLst>
              <a:gd name="adj" fmla="val 3721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183794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7348" y="173736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독자 체계: 척도마다 위험도, 같은 단위로 결합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11316" y="2176272"/>
            <a:ext cx="51403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L1 소형시료 → L2 중규모 → L3 시뮬레이션 → L4 건물 위험도 R = Σ F·C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공통 단위: 층당 확산시간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· 자립 연소 확률 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B</a:t>
            </a:r>
            <a:r>
              <a:rPr lang="ko-KR" altLang="en-US" sz="1150" dirty="0">
                <a:solidFill>
                  <a:schemeClr val="tx1"/>
                </a:solidFill>
              </a:rPr>
              <a:t> (+ 급발 A)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결합: 베이즈(TGA × 시험) · 검사: 정합성 z · 게이트: 등급 · 조성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6개 위험차원(착화·확산·발열·지속·급발·유해)을 척도마다 측정</a:t>
            </a:r>
            <a:endParaRPr lang="ko-KR" sz="1150" dirty="0"/>
          </a:p>
        </p:txBody>
      </p:sp>
      <p:sp>
        <p:nvSpPr>
          <p:cNvPr id="12" name="card TGA–DSC는 재료 인자로 정량 반영"/>
          <p:cNvSpPr/>
          <p:nvPr/>
        </p:nvSpPr>
        <p:spPr>
          <a:xfrm>
            <a:off x="457200" y="3794760"/>
            <a:ext cx="5524348" cy="1965960"/>
          </a:xfrm>
          <a:prstGeom prst="roundRect">
            <a:avLst>
              <a:gd name="adj" fmla="val 3721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98678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88620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TGA–DSC는 재료 인자로 정량 반영</a:t>
            </a:r>
            <a:endParaRPr lang="ko-KR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325112"/>
            <a:ext cx="51403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max,air</a:t>
            </a:r>
            <a:r>
              <a:rPr lang="ko-KR" altLang="en-US" sz="1150" dirty="0">
                <a:solidFill>
                  <a:schemeClr val="tx1"/>
                </a:solidFill>
              </a:rPr>
              <a:t> →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(확산), </a:t>
            </a:r>
            <a:r>
              <a:rPr lang="ko-KR" altLang="en-US" sz="1150" dirty="0">
                <a:solidFill>
                  <a:schemeClr val="tx1"/>
                </a:solidFill>
              </a:rPr>
              <a:t>f</a:t>
            </a:r>
            <a:r>
              <a:rPr lang="ko-KR" altLang="en-US" sz="1150" baseline="-40000" dirty="0">
                <a:solidFill>
                  <a:schemeClr val="tx1"/>
                </a:solidFill>
              </a:rPr>
              <a:t>400,air</a:t>
            </a:r>
            <a:r>
              <a:rPr lang="ko-KR" altLang="en-US" sz="1150" dirty="0">
                <a:solidFill>
                  <a:schemeClr val="tx1"/>
                </a:solidFill>
              </a:rPr>
              <a:t> → 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B</a:t>
            </a:r>
            <a:r>
              <a:rPr lang="ko-KR" altLang="en-US" sz="1150" dirty="0">
                <a:solidFill>
                  <a:schemeClr val="tx1"/>
                </a:solidFill>
              </a:rPr>
              <a:t> (지속), 용융형 → 급발 표시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TGA만으로(L1) PF 내부용을 가장 위험한 준불연 제품으로 맞춤(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 2.2×10</a:t>
            </a:r>
            <a:r>
              <a:rPr lang="ko-KR" altLang="en-US" sz="1150" baseline="30000" dirty="0">
                <a:solidFill>
                  <a:schemeClr val="tx1"/>
                </a:solidFill>
              </a:rPr>
              <a:t>−3</a:t>
            </a:r>
            <a:r>
              <a:rPr lang="ko-KR" altLang="en-US" sz="1150" dirty="0">
                <a:solidFill>
                  <a:schemeClr val="tx1"/>
                </a:solidFill>
              </a:rPr>
              <a:t>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시험과 결합 시 TGA 무게 13.5 % → 재료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90 % 폭 1.22배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지속 몫(대책 없음): PF 외부용 55 %, PF 내부용 27 %</a:t>
            </a:r>
            <a:endParaRPr lang="ko-KR" sz="1150" dirty="0"/>
          </a:p>
        </p:txBody>
      </p:sp>
      <p:sp>
        <p:nvSpPr>
          <p:cNvPr id="16" name="card 다음: 콘 · FT-IR 게이트, FDS로 s 확정"/>
          <p:cNvSpPr/>
          <p:nvPr/>
        </p:nvSpPr>
        <p:spPr>
          <a:xfrm>
            <a:off x="6210148" y="3794760"/>
            <a:ext cx="5524348" cy="1965960"/>
          </a:xfrm>
          <a:prstGeom prst="roundRect">
            <a:avLst>
              <a:gd name="adj" fmla="val 3721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3028" y="3986784"/>
            <a:ext cx="182880" cy="182880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67348" y="388620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다음: 콘 · FT-IR 게이트, FDS로 s 확정</a:t>
            </a:r>
            <a:endParaRPr lang="ko-KR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11316" y="4325112"/>
            <a:ext cx="51403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게이트 없이 TGA만 쓰면 가연성 PIR(PUR) 위험을 6.2배 낮게 봄(판정도 바뀜)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콘(준불연 기준)·FT-IR(난연제)로 가연/준불연을 시료 단계에서 가름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FDS·실대형으로 s를 정하면: EPS ≥ 0.58 · PIR(PUR) ≥ 0.69 · PF 외부용 ≥ 0.94이면 충족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건물 위험도 구간(10–30배)은 s와 빈도가 지배 → 다음 투자 우선</a:t>
            </a:r>
            <a:endParaRPr lang="ko-KR" sz="1150" dirty="0"/>
          </a:p>
        </p:txBody>
      </p:sp>
      <p:sp>
        <p:nvSpPr>
          <p:cNvPr id="20" name="caveat"/>
          <p:cNvSpPr/>
          <p:nvPr/>
        </p:nvSpPr>
        <p:spPr>
          <a:xfrm>
            <a:off x="457200" y="5870448"/>
            <a:ext cx="11277295" cy="438912"/>
          </a:xfrm>
          <a:prstGeom prst="roundRect">
            <a:avLst>
              <a:gd name="adj" fmla="val 16667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870448"/>
            <a:ext cx="108200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주의  </a:t>
            </a:r>
            <a:r>
              <a:rPr lang="ko-KR" altLang="en-US" sz="1200" dirty="0">
                <a:solidFill>
                  <a:schemeClr val="bg1"/>
                </a:solidFill>
              </a:rPr>
              <a:t>빈도·분기확률은 예시값, 콘·FT-IR·FDS는 미수행(엑셀에 양식·계산식 제공) — 수치는 체계 시연용이며, 자료가 들어오면 같은 절차로 갱신됩니다.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EFFECT 검토 ① — Lamont &amp; Ingolfsson (2018), NFPA 연구재단 보고서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EFFECT는 기존 고층 건물을 줄 세우는 2단계 '정성' 도구 — 재료는 Tier 1에서 가연 여부,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Tier 2에서 외장재 등급 × 단열재 계열 × 공기층 두께의 범주(Low/Medium/High)로만 들어감</a:t>
            </a:r>
            <a:endParaRPr lang="ko-KR" sz="2000" dirty="0"/>
          </a:p>
        </p:txBody>
      </p:sp>
      <p:sp>
        <p:nvSpPr>
          <p:cNvPr id="4" name="effect overview"/>
          <p:cNvSpPr/>
          <p:nvPr/>
        </p:nvSpPr>
        <p:spPr>
          <a:xfrm>
            <a:off x="457200" y="1691640"/>
            <a:ext cx="4572000" cy="4069080"/>
          </a:xfrm>
          <a:prstGeom prst="roundRect">
            <a:avLst>
              <a:gd name="adj" fmla="val 1798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구조</a:t>
            </a:r>
            <a:endParaRPr lang="ko-K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Arup 개발 · Jensen Hughes 검토, AHP 설문 34명(Arup 20 · JH 10 · NFPA 패널 4)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대상: 18 m 초과 주거 · 업무, 기존 건물 전용, 생명안전만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Tier 1 데스크톱 설문 → 포트폴리오 우선순위 / Tier 2 도면 · 현장 · 시료 · 실험실 시험 / Tier 3 상세 평가(도구 범위 밖)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Process A 외벽 위험(연료·발화원·수직 연결) / B 피난·경보·구획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판정: PAS 79 행렬 확장 → A 사소 … E 용인 불가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정성 방법을 택한 이유: 위험 순위 · 점수에 쓸 통계 · 시험자료 부족(초록)</a:t>
            </a:r>
            <a:endParaRPr lang="ko-KR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691640"/>
          <a:ext cx="647669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785055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재료가 들어가는 방식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Tier 1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단열재 가연? · 외장재 가연? (모름 = High), 수직 연결 여부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Tier 2 (그림 33·34)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외장재(100 % LDPE / A2 / B / HPL·GRP / 목재 / 불연) × 단열재(PIR·페놀 / EPS·XPS·PUR·SPF / 광물면) × 공기층(25·75 mm) → Low·Medium·High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AHP 가중치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외벽 위험 35 % · 피난·경보 37 % · 구획·소화 29 %; 외벽 위험 안에서 구성 재료 29 %(최대), 수직 연결 21 %, 발화원 20 %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실험실 시험(11.2.2)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콘(pHRR·연소열·질량감소), SEM/EDS, FT-IR, TGA/XRD — 재료 '식별'용, 점수에는 미반영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변수에서 제외(9.3.12)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층간 방화 · 캐비티 배리어(AHP 가중치 낮음, 현장 확인 어려움), 열차단재(국가별 규정 차이)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후속 과제(13장)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외장재 · 단열재 · 공기층 조합 점수를 화재시험으로 보강, 소형 발화원 착화, 연기 유해성, Tier 3 체계 → 이 체계의 L2 · 콘(D1) · FT-IR(D6) · 다척도 정량평가가 각각 대응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effect gap"/>
          <p:cNvSpPr/>
          <p:nvPr/>
        </p:nvSpPr>
        <p:spPr>
          <a:xfrm>
            <a:off x="457200" y="5870448"/>
            <a:ext cx="11277295" cy="438912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870448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EFFECT가 남긴 빈자리  </a:t>
            </a:r>
            <a:r>
              <a:rPr lang="ko-KR" altLang="en-US" sz="1250" dirty="0">
                <a:solidFill>
                  <a:schemeClr val="tx1"/>
                </a:solidFill>
              </a:rPr>
              <a:t>= 재료 조합별 시험 근거와 정량 점수 → 이 체계의 소형시료·중규모 자료가 그 자리를 정량으로 채움</a:t>
            </a:r>
            <a:endParaRPr lang="ko-K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EFFECT 검토 ② — 이 시험 재료에 Tier 2를 적용하면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다섯 재료 모두 연료 High · 판정 D(상당)로 같아짐 — 그러나 같은 D 안에서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시험 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 30–1346 s(45배), 재료 인자 33–630배로 갈림 → 범주형은 제품 차이를 못 봄</a:t>
            </a:r>
            <a:endParaRPr lang="ko-KR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731520"/>
                <a:gridCol w="822960"/>
                <a:gridCol w="1234440"/>
                <a:gridCol w="1188720"/>
                <a:gridCol w="1143000"/>
                <a:gridCol w="1325880"/>
                <a:gridCol w="80741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EFFECT 단열재 계열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연료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가능성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EFFECT 판정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600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 (s)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R = P×S (최대)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중규모 기반 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R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S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 (평균)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 인자 MF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SPF/XPS/EPS/PUR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 (상당)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968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6.8×10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33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PIR/Phenolic 또는 PUR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 (상당)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30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16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−2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630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PIR/Phenolic 또는 PUR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 (상당)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1079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8.8×10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41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PIR/Phenolic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 (상당)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1346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1.0×10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49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PIR/Phenolic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High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 (상당)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512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12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2.8×10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147</a:t>
                      </a:r>
                      <a:endParaRPr lang="ko-KR" sz="1100" dirty="0"/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9184" y="2212848"/>
            <a:ext cx="73152" cy="274320"/>
          </a:xfrm>
          <a:prstGeom prst="rect">
            <a:avLst/>
          </a:prstGeom>
          <a:solidFill>
            <a:srgbClr val="E87BA4"/>
          </a:solidFill>
          <a:ln w="6350">
            <a:solidFill>
              <a:srgbClr val="E87BA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9184" y="2615184"/>
            <a:ext cx="73152" cy="274320"/>
          </a:xfrm>
          <a:prstGeom prst="rect">
            <a:avLst/>
          </a:prstGeom>
          <a:solidFill>
            <a:srgbClr val="6250D6"/>
          </a:solidFill>
          <a:ln w="6350">
            <a:solidFill>
              <a:srgbClr val="6250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9184" y="3017520"/>
            <a:ext cx="73152" cy="274320"/>
          </a:xfrm>
          <a:prstGeom prst="rect">
            <a:avLst/>
          </a:prstGeom>
          <a:solidFill>
            <a:srgbClr val="008300"/>
          </a:solidFill>
          <a:ln w="6350">
            <a:solidFill>
              <a:srgbClr val="0083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9184" y="3419856"/>
            <a:ext cx="73152" cy="274320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" y="3822192"/>
            <a:ext cx="73152" cy="274320"/>
          </a:xfrm>
          <a:prstGeom prst="rect">
            <a:avLst/>
          </a:prstGeom>
          <a:solidFill>
            <a:srgbClr val="E34948"/>
          </a:solidFill>
          <a:ln w="6350">
            <a:solidFill>
              <a:srgbClr val="E349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470916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적용 가정: 불연 외장재, 공기층 100 mm, 15층(30–50 m) 주거·전체 경보(all-out), 스프링클러 설치, 외벽 하부 발화원 있음(발화원 Medium), 연료가 3 m 넘게 수직 연결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EFFECT Tier 2: PIR/페놀은 공기층 75 mm 이하이면 Medium, 이 시험(100 mm)은 High; EPS·XPS·PUR은 공기층과 관계없이 High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재료 인자 MF = 중규모 시험 기반 </a:t>
            </a: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S</a:t>
            </a:r>
            <a:r>
              <a:rPr lang="ko-KR" altLang="en-US" sz="1100" dirty="0">
                <a:solidFill>
                  <a:schemeClr val="tx2"/>
                </a:solidFill>
              </a:rPr>
              <a:t> ÷ 불연 단열재 기준안의 </a:t>
            </a: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S</a:t>
            </a:r>
            <a:r>
              <a:rPr lang="ko-KR" altLang="en-US" sz="1100" dirty="0">
                <a:solidFill>
                  <a:schemeClr val="tx2"/>
                </a:solidFill>
              </a:rPr>
              <a:t> (예시 건물·빈도, 중앙값)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897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→ 범주형 평가는 '가연성 PIR(PUR) 30 s 전면 착화'와 'PF 외부용 22분 확산'을 같은 D로 묶음. 정량 재료 인자가 필요한 이유.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다척도 평가체계 — 척도마다 위험도를 내고, 중규모 등가값으로 결합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소형시료는 중규모를 '예측', 중규모는 '측정', 시뮬레이션은 건물로 '외삽'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세 결과가 같은 두 숫자(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 · </a:t>
            </a:r>
            <a:r>
              <a:rPr lang="ko-KR" altLang="en-US" sz="2000" b="1" dirty="0">
                <a:solidFill>
                  <a:schemeClr val="tx1"/>
                </a:solidFill>
              </a:rPr>
              <a:t>p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B</a:t>
            </a:r>
            <a:r>
              <a:rPr lang="ko-KR" altLang="en-US" sz="2000" b="1" dirty="0">
                <a:solidFill>
                  <a:schemeClr val="tx1"/>
                </a:solidFill>
              </a:rPr>
              <a:t>)로 건물 위험도 모델에 들어가 결합 · 검사됨</a:t>
            </a:r>
            <a:endParaRPr lang="ko-KR" sz="2000" dirty="0"/>
          </a:p>
        </p:txBody>
      </p:sp>
      <p:sp>
        <p:nvSpPr>
          <p:cNvPr id="4" name="L1 소형시료"/>
          <p:cNvSpPr/>
          <p:nvPr/>
        </p:nvSpPr>
        <p:spPr>
          <a:xfrm>
            <a:off x="457200" y="1691640"/>
            <a:ext cx="2394128" cy="2606040"/>
          </a:xfrm>
          <a:prstGeom prst="roundRect">
            <a:avLst>
              <a:gd name="adj" fmla="val 3055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83080"/>
            <a:ext cx="206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L1 소형시료</a:t>
            </a:r>
            <a:endParaRPr lang="ko-KR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12264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콘 · TGA–DSC · FT-IR</a:t>
            </a:r>
            <a:endParaRPr lang="ko-KR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441448"/>
            <a:ext cx="2064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재료 위험 프로파일(6차원)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전이함수 → 예측 </a:t>
            </a:r>
            <a:r>
              <a:rPr lang="ko-KR" altLang="en-US" sz="1150" dirty="0">
                <a:solidFill>
                  <a:schemeClr val="tx1"/>
                </a:solidFill>
              </a:rPr>
              <a:t>t̂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· </a:t>
            </a:r>
            <a:r>
              <a:rPr lang="ko-KR" altLang="en-US" sz="1150" dirty="0">
                <a:solidFill>
                  <a:schemeClr val="tx1"/>
                </a:solidFill>
              </a:rPr>
              <a:t>p̂</a:t>
            </a:r>
            <a:r>
              <a:rPr lang="ko-KR" altLang="en-US" sz="1150" baseline="-40000" dirty="0">
                <a:solidFill>
                  <a:schemeClr val="tx1"/>
                </a:solidFill>
              </a:rPr>
              <a:t>B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게이트: 등급(콘) · 조성(FT-IR)</a:t>
            </a:r>
            <a:endParaRPr lang="ko-KR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2119808" cy="384048"/>
          </a:xfrm>
          <a:prstGeom prst="roundRect">
            <a:avLst>
              <a:gd name="adj" fmla="val 14286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794760"/>
            <a:ext cx="211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L1 위험도 (예측)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2878760" y="2994660"/>
            <a:ext cx="512064" cy="914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1" name="L2 중규모"/>
          <p:cNvSpPr/>
          <p:nvPr/>
        </p:nvSpPr>
        <p:spPr>
          <a:xfrm>
            <a:off x="3418256" y="1691640"/>
            <a:ext cx="2394128" cy="2606040"/>
          </a:xfrm>
          <a:prstGeom prst="roundRect">
            <a:avLst>
              <a:gd name="adj" fmla="val 3055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82848" y="1783080"/>
            <a:ext cx="206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L2 중규모</a:t>
            </a:r>
            <a:endParaRPr lang="ko-K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82848" y="2112264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3 m 중공층 시험</a:t>
            </a:r>
            <a:endParaRPr lang="ko-KR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82848" y="2441448"/>
            <a:ext cx="2064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·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ig</a:t>
            </a:r>
            <a:r>
              <a:rPr lang="ko-KR" altLang="en-US" sz="1150" dirty="0">
                <a:solidFill>
                  <a:schemeClr val="tx1"/>
                </a:solidFill>
              </a:rPr>
              <a:t> ·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sp</a:t>
            </a:r>
            <a:r>
              <a:rPr lang="ko-KR" altLang="en-US" sz="1150" dirty="0">
                <a:solidFill>
                  <a:schemeClr val="tx1"/>
                </a:solidFill>
              </a:rPr>
              <a:t>, 플래그 A · B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P · S · R = P × S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L1 보정 · L3 검증 기준</a:t>
            </a:r>
            <a:endParaRPr lang="ko-KR" sz="1150" dirty="0"/>
          </a:p>
        </p:txBody>
      </p:sp>
      <p:sp>
        <p:nvSpPr>
          <p:cNvPr id="15" name="Shape 13"/>
          <p:cNvSpPr/>
          <p:nvPr/>
        </p:nvSpPr>
        <p:spPr>
          <a:xfrm>
            <a:off x="3555416" y="3794760"/>
            <a:ext cx="2119808" cy="384048"/>
          </a:xfrm>
          <a:prstGeom prst="roundRect">
            <a:avLst>
              <a:gd name="adj" fmla="val 14286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55416" y="3794760"/>
            <a:ext cx="211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L2 위험도 (측정)</a:t>
            </a:r>
            <a:endParaRPr lang="ko-KR" sz="1200" dirty="0"/>
          </a:p>
        </p:txBody>
      </p:sp>
      <p:sp>
        <p:nvSpPr>
          <p:cNvPr id="17" name="Shape 15"/>
          <p:cNvSpPr/>
          <p:nvPr/>
        </p:nvSpPr>
        <p:spPr>
          <a:xfrm>
            <a:off x="5839816" y="2994660"/>
            <a:ext cx="512064" cy="914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8" name="L3 시뮬레이션"/>
          <p:cNvSpPr/>
          <p:nvPr/>
        </p:nvSpPr>
        <p:spPr>
          <a:xfrm>
            <a:off x="6379312" y="1691640"/>
            <a:ext cx="2394128" cy="2606040"/>
          </a:xfrm>
          <a:prstGeom prst="roundRect">
            <a:avLst>
              <a:gd name="adj" fmla="val 3055"/>
            </a:avLst>
          </a:prstGeom>
          <a:solidFill>
            <a:srgbClr val="DCEBFA"/>
          </a:solidFill>
          <a:ln w="9525">
            <a:solidFill>
              <a:srgbClr val="DCEB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43904" y="1783080"/>
            <a:ext cx="206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L3 시뮬레이션</a:t>
            </a:r>
            <a:endParaRPr lang="ko-KR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2112264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FDS / PyroSim</a:t>
            </a:r>
            <a:endParaRPr lang="ko-KR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2441448"/>
            <a:ext cx="2064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1단계: 중규모 재현(검증)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2단계: 건물 외벽 3–6개 층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층별 도달시각 → s, 창 열류속, FED</a:t>
            </a:r>
            <a:endParaRPr lang="ko-KR" sz="1150" dirty="0"/>
          </a:p>
        </p:txBody>
      </p:sp>
      <p:sp>
        <p:nvSpPr>
          <p:cNvPr id="22" name="Shape 20"/>
          <p:cNvSpPr/>
          <p:nvPr/>
        </p:nvSpPr>
        <p:spPr>
          <a:xfrm>
            <a:off x="6516472" y="3794760"/>
            <a:ext cx="2119808" cy="384048"/>
          </a:xfrm>
          <a:prstGeom prst="roundRect">
            <a:avLst>
              <a:gd name="adj" fmla="val 14286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16472" y="3794760"/>
            <a:ext cx="211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L3 위험도 (외삽)</a:t>
            </a:r>
            <a:endParaRPr lang="ko-KR" sz="1200" dirty="0"/>
          </a:p>
        </p:txBody>
      </p:sp>
      <p:sp>
        <p:nvSpPr>
          <p:cNvPr id="24" name="Shape 22"/>
          <p:cNvSpPr/>
          <p:nvPr/>
        </p:nvSpPr>
        <p:spPr>
          <a:xfrm>
            <a:off x="8800871" y="2994660"/>
            <a:ext cx="512064" cy="914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5" name="L4 건물 위험도"/>
          <p:cNvSpPr/>
          <p:nvPr/>
        </p:nvSpPr>
        <p:spPr>
          <a:xfrm>
            <a:off x="9340367" y="1691640"/>
            <a:ext cx="2394128" cy="2606040"/>
          </a:xfrm>
          <a:prstGeom prst="roundRect">
            <a:avLst>
              <a:gd name="adj" fmla="val 305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04959" y="1783080"/>
            <a:ext cx="206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L4 건물 위험도</a:t>
            </a:r>
            <a:endParaRPr lang="ko-KR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504959" y="2112264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NFPA 551 정량법</a:t>
            </a:r>
            <a:endParaRPr lang="ko-KR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504959" y="2441448"/>
            <a:ext cx="2064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사건수목 × 층간 확산 모델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2중 몬테카를로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R = Σ F·C, 초과빈도, 판정</a:t>
            </a:r>
            <a:endParaRPr lang="ko-KR" sz="1150" dirty="0"/>
          </a:p>
        </p:txBody>
      </p:sp>
      <p:sp>
        <p:nvSpPr>
          <p:cNvPr id="29" name="Shape 27"/>
          <p:cNvSpPr/>
          <p:nvPr/>
        </p:nvSpPr>
        <p:spPr>
          <a:xfrm>
            <a:off x="9477527" y="3794760"/>
            <a:ext cx="2119808" cy="384048"/>
          </a:xfrm>
          <a:prstGeom prst="roundRect">
            <a:avLst>
              <a:gd name="adj" fmla="val 14286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77527" y="3794760"/>
            <a:ext cx="211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최종 판정 + 증거 수준</a:t>
            </a:r>
            <a:endParaRPr lang="ko-KR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851328" y="26654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전이함수</a:t>
            </a:r>
            <a:endParaRPr lang="ko-KR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812384" y="26654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검증 · s</a:t>
            </a:r>
            <a:endParaRPr lang="ko-KR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773439" y="26654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τ</a:t>
            </a:r>
            <a:r>
              <a:rPr lang="ko-KR" altLang="en-US" sz="900" baseline="-40000" dirty="0">
                <a:solidFill>
                  <a:schemeClr val="tx2"/>
                </a:solidFill>
              </a:rPr>
              <a:t>F</a:t>
            </a:r>
            <a:r>
              <a:rPr lang="ko-KR" altLang="en-US" sz="900" dirty="0">
                <a:solidFill>
                  <a:schemeClr val="tx2"/>
                </a:solidFill>
              </a:rPr>
              <a:t> 입력</a:t>
            </a:r>
            <a:endParaRPr lang="ko-KR" sz="900" dirty="0"/>
          </a:p>
        </p:txBody>
      </p:sp>
      <p:sp>
        <p:nvSpPr>
          <p:cNvPr id="34" name="common unit"/>
          <p:cNvSpPr/>
          <p:nvPr/>
        </p:nvSpPr>
        <p:spPr>
          <a:xfrm>
            <a:off x="457200" y="4462272"/>
            <a:ext cx="11277295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330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462272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공통 단위 — 중규모 등가값:  </a:t>
            </a:r>
            <a:r>
              <a:rPr lang="ko-KR" altLang="en-US" sz="1300" dirty="0">
                <a:solidFill>
                  <a:schemeClr val="tx1"/>
                </a:solidFill>
              </a:rPr>
              <a:t>층당 확산시간 </a:t>
            </a:r>
            <a:r>
              <a:rPr lang="ko-KR" altLang="en-US" sz="1300" dirty="0">
                <a:solidFill>
                  <a:schemeClr val="tx1"/>
                </a:solidFill>
              </a:rPr>
              <a:t>t</a:t>
            </a:r>
            <a:r>
              <a:rPr lang="ko-KR" altLang="en-US" sz="13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300" dirty="0">
                <a:solidFill>
                  <a:schemeClr val="tx1"/>
                </a:solidFill>
              </a:rPr>
              <a:t> (3000 mm 600 K 도달) · 자립 연소 확률 </a:t>
            </a:r>
            <a:r>
              <a:rPr lang="ko-KR" altLang="en-US" sz="1300" dirty="0">
                <a:solidFill>
                  <a:schemeClr val="tx1"/>
                </a:solidFill>
              </a:rPr>
              <a:t>p</a:t>
            </a:r>
            <a:r>
              <a:rPr lang="ko-KR" altLang="en-US" sz="1300" baseline="-40000" dirty="0">
                <a:solidFill>
                  <a:schemeClr val="tx1"/>
                </a:solidFill>
              </a:rPr>
              <a:t>B</a:t>
            </a:r>
            <a:r>
              <a:rPr lang="ko-KR" altLang="en-US" sz="1300" dirty="0">
                <a:solidFill>
                  <a:schemeClr val="tx1"/>
                </a:solidFill>
              </a:rPr>
              <a:t> (버너 소화 후)  + 급발 A 표시</a:t>
            </a:r>
            <a:endParaRPr lang="ko-KR" sz="1300" dirty="0"/>
          </a:p>
        </p:txBody>
      </p:sp>
      <p:sp>
        <p:nvSpPr>
          <p:cNvPr id="36" name="게이트"/>
          <p:cNvSpPr/>
          <p:nvPr/>
        </p:nvSpPr>
        <p:spPr>
          <a:xfrm>
            <a:off x="457200" y="5074920"/>
            <a:ext cx="3606698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5120640"/>
            <a:ext cx="327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게이트</a:t>
            </a:r>
            <a:endParaRPr lang="ko-KR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" y="5394960"/>
            <a:ext cx="32775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등급(콘 준불연 기준) · 조성(FT-IR 고분자·난연제) → 전이함수 적용 여부</a:t>
            </a:r>
            <a:endParaRPr lang="ko-KR" sz="1100" dirty="0"/>
          </a:p>
        </p:txBody>
      </p:sp>
      <p:sp>
        <p:nvSpPr>
          <p:cNvPr id="39" name="결합"/>
          <p:cNvSpPr/>
          <p:nvPr/>
        </p:nvSpPr>
        <p:spPr>
          <a:xfrm>
            <a:off x="4292498" y="5074920"/>
            <a:ext cx="3606698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57090" y="5120640"/>
            <a:ext cx="327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결합</a:t>
            </a:r>
            <a:endParaRPr lang="ko-KR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4457090" y="5394960"/>
            <a:ext cx="32775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베이즈: ln </a:t>
            </a:r>
            <a:r>
              <a:rPr lang="ko-KR" altLang="en-US" sz="1100" dirty="0">
                <a:solidFill>
                  <a:schemeClr val="tx1"/>
                </a:solidFill>
              </a:rPr>
              <a:t>t</a:t>
            </a:r>
            <a:r>
              <a:rPr lang="ko-KR" altLang="en-US" sz="11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00" dirty="0">
                <a:solidFill>
                  <a:schemeClr val="tx1"/>
                </a:solidFill>
              </a:rPr>
              <a:t> 정규–정규,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B</a:t>
            </a:r>
            <a:r>
              <a:rPr lang="ko-KR" altLang="en-US" sz="1100" dirty="0">
                <a:solidFill>
                  <a:schemeClr val="tx1"/>
                </a:solidFill>
              </a:rPr>
              <a:t> 베타–이항 → 통합 사후분포</a:t>
            </a:r>
            <a:endParaRPr lang="ko-KR" sz="1100" dirty="0"/>
          </a:p>
        </p:txBody>
      </p:sp>
      <p:sp>
        <p:nvSpPr>
          <p:cNvPr id="42" name="검사 · 증거 수준"/>
          <p:cNvSpPr/>
          <p:nvPr/>
        </p:nvSpPr>
        <p:spPr>
          <a:xfrm>
            <a:off x="8127797" y="5074920"/>
            <a:ext cx="3606698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92389" y="5120640"/>
            <a:ext cx="327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검사 · 증거 수준</a:t>
            </a:r>
            <a:endParaRPr lang="ko-KR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8292389" y="5394960"/>
            <a:ext cx="32775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척도 간 정합성 z, 예측확률 / E0 등급 → E1 소형 → E2 중규모 → E3 시뮬레이션</a:t>
            </a:r>
            <a:endParaRPr lang="ko-KR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59436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각 척도의 위험도는 같은 건물·빈도(facade_fra 예시) 위에서 재료 입력만 바꿔 계산 → 척도 사이의 차이는 순수하게 '재료에 대한 지식'의 차이입니다.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6개 위험차원 × 척도 — 무엇으로 재고, 지금 무엇이 있나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확산(D2) · 지속(D4)은 소형 · 중규모 자료가 모두 있어 위험도에 정량 반영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착화 · 발열 · 유해(D1 · D3 · D6)는 콘 · FT-IR · FDS가 들어와야 채워지는 칸</a:t>
            </a:r>
            <a:endParaRPr lang="ko-KR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828800"/>
                <a:gridCol w="2331720"/>
                <a:gridCol w="1828800"/>
                <a:gridCol w="1965960"/>
                <a:gridCol w="190469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위험 차원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L1 콘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L1 TGA–DSC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L1 FT-IR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L2 중규모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L3 시뮬레이션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D1 착화성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ig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, TRP·CHF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onset,air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(예측력 약함: 시스템 지배)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난연제 유무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ig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188–288 s (준불연)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외벽 착화시각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D2 확산성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pHRR/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pHRR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, b, M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r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max,air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→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t̂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(T1)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이소시아누레이트 지수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sp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, FRI, P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층별 도달시각 → s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D3 발열성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THR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, pHRR, EHC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절대량 불가(초기 질량 없음)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H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, 최고온도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외벽 HRR, 창 열류속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D4 지속성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연소 종료·작열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400,air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→ 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p̂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B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(T2)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플래그 B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소화 후 연소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D5 급발성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용융·적하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용융형(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050" baseline="-40000" dirty="0">
                          <a:solidFill>
                            <a:srgbClr val="23303D"/>
                          </a:solidFill>
                        </a:rPr>
                        <a:t>400</a:t>
                      </a: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 &lt; 0.5) (T3)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플래그 A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(모델 한계)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D6 유해성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CO 수율, TSP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HCN·CO·NCO·HCl (EGA)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(미측정)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위층 FED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G 조성·등급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준불연 판정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탄화형/용융형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고분자·난연제 식별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가연성 30 s 전면 착화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0352" y="5468112"/>
            <a:ext cx="182880" cy="146304"/>
          </a:xfrm>
          <a:prstGeom prst="rect">
            <a:avLst/>
          </a:prstGeom>
          <a:solidFill>
            <a:srgbClr val="E2F3E2"/>
          </a:solidFill>
          <a:ln w="6350">
            <a:solidFill>
              <a:srgbClr val="E2F3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" y="54132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자료 있음</a:t>
            </a:r>
            <a:endParaRPr lang="ko-KR" sz="1100" dirty="0"/>
          </a:p>
        </p:txBody>
      </p:sp>
      <p:sp>
        <p:nvSpPr>
          <p:cNvPr id="7" name="Shape 4"/>
          <p:cNvSpPr/>
          <p:nvPr/>
        </p:nvSpPr>
        <p:spPr>
          <a:xfrm>
            <a:off x="1984248" y="5468112"/>
            <a:ext cx="182880" cy="146304"/>
          </a:xfrm>
          <a:prstGeom prst="rect">
            <a:avLst/>
          </a:prstGeom>
          <a:solidFill>
            <a:srgbClr val="FDE2E2"/>
          </a:solidFill>
          <a:ln w="6350">
            <a:solidFill>
              <a:srgbClr val="FDE2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13432" y="5413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시험·해석 필요</a:t>
            </a:r>
            <a:endParaRPr lang="ko-KR" sz="1100" dirty="0"/>
          </a:p>
        </p:txBody>
      </p:sp>
      <p:sp>
        <p:nvSpPr>
          <p:cNvPr id="9" name="Shape 6"/>
          <p:cNvSpPr/>
          <p:nvPr/>
        </p:nvSpPr>
        <p:spPr>
          <a:xfrm>
            <a:off x="3758184" y="5468112"/>
            <a:ext cx="182880" cy="146304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87368" y="5413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해당 없음·불가</a:t>
            </a:r>
            <a:endParaRPr lang="ko-KR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77900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건물 모델에 들어가는 자리: D1·D2 → </a:t>
            </a:r>
            <a:r>
              <a:rPr lang="ko-KR" altLang="en-US" sz="1050" dirty="0">
                <a:solidFill>
                  <a:schemeClr val="tx2"/>
                </a:solidFill>
              </a:rPr>
              <a:t>t</a:t>
            </a:r>
            <a:r>
              <a:rPr lang="ko-KR" altLang="en-US" sz="105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050" dirty="0">
                <a:solidFill>
                  <a:schemeClr val="tx2"/>
                </a:solidFill>
              </a:rPr>
              <a:t> = </a:t>
            </a:r>
            <a:r>
              <a:rPr lang="ko-KR" altLang="en-US" sz="1050" dirty="0">
                <a:solidFill>
                  <a:schemeClr val="tx2"/>
                </a:solidFill>
              </a:rPr>
              <a:t>t</a:t>
            </a:r>
            <a:r>
              <a:rPr lang="ko-KR" altLang="en-US" sz="1050" baseline="-40000" dirty="0">
                <a:solidFill>
                  <a:schemeClr val="tx2"/>
                </a:solidFill>
              </a:rPr>
              <a:t>ig</a:t>
            </a:r>
            <a:r>
              <a:rPr lang="ko-KR" altLang="en-US" sz="1050" dirty="0">
                <a:solidFill>
                  <a:schemeClr val="tx2"/>
                </a:solidFill>
              </a:rPr>
              <a:t> + </a:t>
            </a:r>
            <a:r>
              <a:rPr lang="ko-KR" altLang="en-US" sz="1050" dirty="0">
                <a:solidFill>
                  <a:schemeClr val="tx2"/>
                </a:solidFill>
              </a:rPr>
              <a:t>t</a:t>
            </a:r>
            <a:r>
              <a:rPr lang="ko-KR" altLang="en-US" sz="1050" baseline="-40000" dirty="0">
                <a:solidFill>
                  <a:schemeClr val="tx2"/>
                </a:solidFill>
              </a:rPr>
              <a:t>sp</a:t>
            </a:r>
            <a:r>
              <a:rPr lang="ko-KR" altLang="en-US" sz="1050" dirty="0">
                <a:solidFill>
                  <a:schemeClr val="tx2"/>
                </a:solidFill>
              </a:rPr>
              <a:t> (</a:t>
            </a:r>
            <a:r>
              <a:rPr lang="ko-KR" altLang="en-US" sz="1050" dirty="0">
                <a:solidFill>
                  <a:schemeClr val="tx2"/>
                </a:solidFill>
              </a:rPr>
              <a:t>τ</a:t>
            </a:r>
            <a:r>
              <a:rPr lang="ko-KR" altLang="en-US" sz="1050" baseline="-40000" dirty="0">
                <a:solidFill>
                  <a:schemeClr val="tx2"/>
                </a:solidFill>
              </a:rPr>
              <a:t>F</a:t>
            </a:r>
            <a:r>
              <a:rPr lang="ko-KR" altLang="en-US" sz="1050" dirty="0">
                <a:solidFill>
                  <a:schemeClr val="tx2"/>
                </a:solidFill>
              </a:rPr>
              <a:t> = s·</a:t>
            </a:r>
            <a:r>
              <a:rPr lang="ko-KR" altLang="en-US" sz="1050" dirty="0">
                <a:solidFill>
                  <a:schemeClr val="tx2"/>
                </a:solidFill>
              </a:rPr>
              <a:t>t</a:t>
            </a:r>
            <a:r>
              <a:rPr lang="ko-KR" altLang="en-US" sz="105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050" dirty="0">
                <a:solidFill>
                  <a:schemeClr val="tx2"/>
                </a:solidFill>
              </a:rPr>
              <a:t>), D4 →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B</a:t>
            </a:r>
            <a:r>
              <a:rPr lang="ko-KR" altLang="en-US" sz="1050" dirty="0">
                <a:solidFill>
                  <a:schemeClr val="tx2"/>
                </a:solidFill>
              </a:rPr>
              <a:t>, D5 → 표시(급발), D3·D6 → 확장 항목(창 파손·유해 노출).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L1 소형시료 평가 — 세 시험의 역할과 사각지대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콘은 착화 · 발열, TGA–DSC는 분해 · 산화, FT-IR은 조성을 봄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서로의 사각지대를 메워야 소형시료로 중규모 거동을 예측할 수 있음</a:t>
            </a:r>
            <a:endParaRPr lang="ko-KR" sz="2000" dirty="0"/>
          </a:p>
        </p:txBody>
      </p:sp>
      <p:sp>
        <p:nvSpPr>
          <p:cNvPr id="4" name="card 콘칼로리미터 (ISO 5660-1)"/>
          <p:cNvSpPr/>
          <p:nvPr/>
        </p:nvSpPr>
        <p:spPr>
          <a:xfrm>
            <a:off x="457200" y="1691640"/>
            <a:ext cx="3606698" cy="2788920"/>
          </a:xfrm>
          <a:prstGeom prst="roundRect">
            <a:avLst>
              <a:gd name="adj" fmla="val 2623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83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3012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콘칼로리미터 (ISO 5660-1)</a:t>
            </a:r>
            <a:endParaRPr lang="ko-KR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21992"/>
            <a:ext cx="322265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보는 것: 착화시간, 열방출률(pHRR), 총방출열(THR), 연기·CO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국내 준불연 판정이 콘 기준 → 가연/준불연 게이트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TRP·CHF(다열류속), b·M 지수로 상향 확산 예측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못 보는 것: 분해 단계·탄화층 산화의 온도 구조</a:t>
            </a:r>
            <a:endParaRPr lang="ko-KR" sz="1200" dirty="0"/>
          </a:p>
        </p:txBody>
      </p:sp>
      <p:sp>
        <p:nvSpPr>
          <p:cNvPr id="8" name="card TGA–DSC (보유)"/>
          <p:cNvSpPr/>
          <p:nvPr/>
        </p:nvSpPr>
        <p:spPr>
          <a:xfrm>
            <a:off x="4292498" y="1691640"/>
            <a:ext cx="3606698" cy="2788920"/>
          </a:xfrm>
          <a:prstGeom prst="roundRect">
            <a:avLst>
              <a:gd name="adj" fmla="val 2623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5378" y="188366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9698" y="1783080"/>
            <a:ext cx="3012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TGA–DSC (보유)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93666" y="2221992"/>
            <a:ext cx="322265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보는 것: 분해속도 </a:t>
            </a:r>
            <a:r>
              <a:rPr lang="ko-KR" altLang="en-US" sz="1200" dirty="0">
                <a:solidFill>
                  <a:schemeClr val="tx1"/>
                </a:solidFill>
              </a:rPr>
              <a:t>r</a:t>
            </a:r>
            <a:r>
              <a:rPr lang="ko-KR" altLang="en-US" sz="1200" baseline="-40000" dirty="0">
                <a:solidFill>
                  <a:schemeClr val="tx1"/>
                </a:solidFill>
              </a:rPr>
              <a:t>max,air</a:t>
            </a:r>
            <a:r>
              <a:rPr lang="ko-KR" altLang="en-US" sz="1200" dirty="0">
                <a:solidFill>
                  <a:schemeClr val="tx1"/>
                </a:solidFill>
              </a:rPr>
              <a:t>, 고온 산화 몫 </a:t>
            </a:r>
            <a:r>
              <a:rPr lang="ko-KR" altLang="en-US" sz="1200" dirty="0">
                <a:solidFill>
                  <a:schemeClr val="tx1"/>
                </a:solidFill>
              </a:rPr>
              <a:t>f</a:t>
            </a:r>
            <a:r>
              <a:rPr lang="ko-KR" altLang="en-US" sz="1200" baseline="-40000" dirty="0">
                <a:solidFill>
                  <a:schemeClr val="tx1"/>
                </a:solidFill>
              </a:rPr>
              <a:t>400,air</a:t>
            </a:r>
            <a:r>
              <a:rPr lang="ko-KR" altLang="en-US" sz="1200" dirty="0">
                <a:solidFill>
                  <a:schemeClr val="tx1"/>
                </a:solidFill>
              </a:rPr>
              <a:t>, 용융/탄화형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준불연 탄화형의 확산시간 예측(T1), 지속(T2), 급발(T3)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FDS 반응 입력(PyroSim 자료)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못 보는 것: 기상 난연 효과, 발열 절대량(초기 질량 없음)</a:t>
            </a:r>
            <a:endParaRPr lang="ko-KR" sz="1200" dirty="0"/>
          </a:p>
        </p:txBody>
      </p:sp>
      <p:sp>
        <p:nvSpPr>
          <p:cNvPr id="12" name="card FT-IR (ATR · TGA–FTIR)"/>
          <p:cNvSpPr/>
          <p:nvPr/>
        </p:nvSpPr>
        <p:spPr>
          <a:xfrm>
            <a:off x="8127797" y="1691640"/>
            <a:ext cx="3606698" cy="2788920"/>
          </a:xfrm>
          <a:prstGeom prst="roundRect">
            <a:avLst>
              <a:gd name="adj" fmla="val 2623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10677" y="1883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84997" y="1783080"/>
            <a:ext cx="3012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FT-IR (ATR · TGA–FTIR)</a:t>
            </a:r>
            <a:endParaRPr lang="ko-KR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8965" y="2221992"/>
            <a:ext cx="322265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보는 것: 고분자 종류, 난연제(P=O·C–Cl), 무기 충전재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제품 식별 → 전이함수 적용 여부(게이트 검증)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발생가스(HCN·CO·NCO·HCl) → 유해성, FDS 수율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못 보는 것: 연소 속도·열량(정성·반정량)</a:t>
            </a:r>
            <a:endParaRPr lang="ko-KR" sz="1200" dirty="0"/>
          </a:p>
        </p:txBody>
      </p:sp>
      <p:sp>
        <p:nvSpPr>
          <p:cNvPr id="16" name="pir example"/>
          <p:cNvSpPr/>
          <p:nvPr/>
        </p:nvSpPr>
        <p:spPr>
          <a:xfrm>
            <a:off x="457200" y="4663440"/>
            <a:ext cx="11277295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2330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754880"/>
            <a:ext cx="10820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사각지대가 실제로 드러난 예 — 가연성 PIR(PUR)</a:t>
            </a:r>
            <a:endParaRPr lang="ko-KR" sz="1250" dirty="0"/>
          </a:p>
          <a:p>
            <a:pPr indent="0" marL="0">
              <a:spcAft>
                <a:spcPts val="5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TGA로는 준불연과 큰 차이 없음: 분해 시작은 오히려 높고(공기 463 vs 403 °C), </a:t>
            </a:r>
            <a:r>
              <a:rPr lang="ko-KR" altLang="en-US" sz="1250" dirty="0">
                <a:solidFill>
                  <a:schemeClr val="tx1"/>
                </a:solidFill>
              </a:rPr>
              <a:t>r</a:t>
            </a:r>
            <a:r>
              <a:rPr lang="ko-KR" altLang="en-US" sz="1250" baseline="-40000" dirty="0">
                <a:solidFill>
                  <a:schemeClr val="tx1"/>
                </a:solidFill>
              </a:rPr>
              <a:t>max</a:t>
            </a:r>
            <a:r>
              <a:rPr lang="ko-KR" altLang="en-US" sz="1250" dirty="0">
                <a:solidFill>
                  <a:schemeClr val="tx1"/>
                </a:solidFill>
              </a:rPr>
              <a:t>는 0.75 vs 0.58 %/°C → 예측 </a:t>
            </a:r>
            <a:r>
              <a:rPr lang="ko-KR" altLang="en-US" sz="1250" dirty="0">
                <a:solidFill>
                  <a:schemeClr val="tx1"/>
                </a:solidFill>
              </a:rPr>
              <a:t>t</a:t>
            </a:r>
            <a:r>
              <a:rPr lang="ko-KR" altLang="en-US" sz="12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50" dirty="0">
                <a:solidFill>
                  <a:schemeClr val="tx1"/>
                </a:solidFill>
              </a:rPr>
              <a:t> 812 s vs 926 s</a:t>
            </a:r>
            <a:endParaRPr lang="ko-KR" sz="1250" dirty="0"/>
          </a:p>
          <a:p>
            <a:pPr indent="0" marL="0">
              <a:spcAft>
                <a:spcPts val="5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중공층 시험은 30 s vs 1079 s(36배 차이), TGA 예측의 1/27 — 차이는 질량감소가 아닌 기상 난연(화염 억제)에서 옴</a:t>
            </a:r>
            <a:endParaRPr lang="ko-KR" sz="1250" dirty="0"/>
          </a:p>
          <a:p>
            <a:pPr indent="0" marL="0">
              <a:spcAft>
                <a:spcPts val="500"/>
              </a:spcAft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→ 콘(열방출 · 준불연 판정)과 FT-IR(난연제)이 봐야 하는 영역 = 게이트</a:t>
            </a:r>
            <a:endParaRPr lang="ko-KR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L1 콘칼로리미터 — 지표, 계산식, 게이트 (엑셀 2_L1_콘 양식)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50 kW/m</a:t>
            </a:r>
            <a:r>
              <a:rPr lang="ko-KR" altLang="en-US" sz="2000" b="1" baseline="30000" dirty="0">
                <a:solidFill>
                  <a:schemeClr val="tx1"/>
                </a:solidFill>
              </a:rPr>
              <a:t>2</a:t>
            </a:r>
            <a:r>
              <a:rPr lang="ko-KR" altLang="en-US" sz="2000" b="1" dirty="0">
                <a:solidFill>
                  <a:schemeClr val="tx1"/>
                </a:solidFill>
              </a:rPr>
              <a:t> 10분 결과로 가연/준불연을 가르고(게이트), 다열류속 착화시간과 열방출로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착화(TRP·CHF) · 확산(b, M) · 발열(THR) 지표를 계산 — 지금은 자료 없음, 양식과 수식만 준비</a:t>
            </a:r>
            <a:endParaRPr lang="ko-KR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64008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52044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차원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지표 · 식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착화 (D1)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ig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(50), TRP = 1/기울기(1/√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ig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vs q″), CHF = x절편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4B5563"/>
                          </a:solidFill>
                        </a:rPr>
                        <a:t>다열류속 25·35·50·65 kW/m</a:t>
                      </a:r>
                      <a:r>
                        <a:rPr lang="ko-KR" altLang="en-US" sz="1050" baseline="30000" dirty="0">
                          <a:solidFill>
                            <a:srgbClr val="4B5563"/>
                          </a:solidFill>
                        </a:rPr>
                        <a:t>2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성장 (D2)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FIGRA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콘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= pHRR /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pHRR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ig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/ pHRR (Petrella)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4B5563"/>
                          </a:solidFill>
                        </a:rPr>
                        <a:t>Schartel &amp; Hull 2007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상향 확산 (D2)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b =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k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·Q̇″ − 1 −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b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ig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k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≈ 0.01 m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/kW,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b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= THR/pHRR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4B5563"/>
                          </a:solidFill>
                        </a:rPr>
                        <a:t>b &gt; 0 → 가속 (Quintiere)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중규모 등가 (D2)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 = Q̇″^(1/3)/TRP →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t̂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= 1079 s × (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ref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/ M)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ref = PIR(PUR) 준불연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4B5563"/>
                          </a:solidFill>
                        </a:rPr>
                        <a:t>RISK_MODEL 상대식(잠정)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발열 (D3)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THR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pHRR, EHC = THR·A/Δm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4B5563"/>
                          </a:solidFill>
                        </a:rPr>
                        <a:t>A = 0.0088 m</a:t>
                      </a:r>
                      <a:r>
                        <a:rPr lang="ko-KR" altLang="en-US" sz="1050" baseline="30000" dirty="0">
                          <a:solidFill>
                            <a:srgbClr val="4B5563"/>
                          </a:solidFill>
                        </a:rPr>
                        <a:t>2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유해 (D6)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CO 수율, TSP (ISO 5660-2)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4B5563"/>
                          </a:solidFill>
                        </a:rPr>
                        <a:t>FDS 수율</a:t>
                      </a:r>
                      <a:endParaRPr lang="ko-KR" sz="10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 게이트: 국내 준불연 기준 (50 kW/m²)"/>
          <p:cNvSpPr/>
          <p:nvPr/>
        </p:nvSpPr>
        <p:spPr>
          <a:xfrm>
            <a:off x="7086600" y="1691640"/>
            <a:ext cx="4647895" cy="2148840"/>
          </a:xfrm>
          <a:prstGeom prst="roundRect">
            <a:avLst>
              <a:gd name="adj" fmla="val 3404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69480" y="1883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43800" y="1783080"/>
            <a:ext cx="4053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게이트: 국내 준불연 기준 (50 kW/m</a:t>
            </a:r>
            <a:r>
              <a:rPr lang="ko-KR" altLang="en-US" sz="1350" b="1" baseline="30000" dirty="0">
                <a:solidFill>
                  <a:schemeClr val="tx1"/>
                </a:solidFill>
              </a:rPr>
              <a:t>2</a:t>
            </a:r>
            <a:r>
              <a:rPr lang="ko-KR" altLang="en-US" sz="1350" b="1" dirty="0">
                <a:solidFill>
                  <a:schemeClr val="tx1"/>
                </a:solidFill>
              </a:rPr>
              <a:t>)</a:t>
            </a:r>
            <a:endParaRPr lang="ko-KR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287768" y="2221992"/>
            <a:ext cx="426384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10분 총방출열량 </a:t>
            </a:r>
            <a:r>
              <a:rPr lang="ko-KR" altLang="en-US" sz="1150" dirty="0">
                <a:solidFill>
                  <a:schemeClr val="tx1"/>
                </a:solidFill>
              </a:rPr>
              <a:t>THR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≤ 8 MJ/m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200 kW/m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 초과가 10초 이상 연속되지 않을 것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관통 균열·구멍·용융 없음 (+ 가스유해성 별도)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미달 → 가연성: TGA 전이함수 미적용, 중규모 필수</a:t>
            </a:r>
            <a:endParaRPr lang="ko-KR" sz="1150" dirty="0"/>
          </a:p>
        </p:txBody>
      </p:sp>
      <p:sp>
        <p:nvSpPr>
          <p:cNvPr id="9" name="card 시험 조건 (권장)"/>
          <p:cNvSpPr/>
          <p:nvPr/>
        </p:nvSpPr>
        <p:spPr>
          <a:xfrm>
            <a:off x="7086600" y="3977640"/>
            <a:ext cx="4647895" cy="1828800"/>
          </a:xfrm>
          <a:prstGeom prst="roundRect">
            <a:avLst>
              <a:gd name="adj" fmla="val 4000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69480" y="4169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43800" y="4069080"/>
            <a:ext cx="4053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시험 조건 (권장)</a:t>
            </a:r>
            <a:endParaRPr lang="ko-KR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287768" y="4507992"/>
            <a:ext cx="426384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ISO 5660-1, 100 × 100 mm, 면재 포함 · 심재 각각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50 kW/m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 10분 3회 + 25·35·65 kW/m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 착화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같은 제품의 중공층 시험과 짝지어 전이함수 보정</a:t>
            </a:r>
            <a:endParaRPr lang="ko-KR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9436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준불연 기준: 국토교통부 고시 「건축자재등 품질인정 및 관리기준」. 콘 자료가 들어오면 엑셀이 지표 · 게이트 · 콘 기반 </a:t>
            </a:r>
            <a:r>
              <a:rPr lang="ko-KR" altLang="en-US" sz="1050" dirty="0">
                <a:solidFill>
                  <a:schemeClr val="tx2"/>
                </a:solidFill>
              </a:rPr>
              <a:t>t̂</a:t>
            </a:r>
            <a:r>
              <a:rPr lang="ko-KR" altLang="en-US" sz="105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050" dirty="0">
                <a:solidFill>
                  <a:schemeClr val="tx2"/>
                </a:solidFill>
              </a:rPr>
              <a:t>을 바로 계산합니다(회색 예시 행 = 가상값).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L1 FT-IR — 식별 · 난연제 · 발생가스 (엑셀 4_L1_FT-IR 양식)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ATR로 고분자 · 난연제를 확인해 게이트를 검증하고(선언 제품 = 실제 시료?),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TGA–FTIR로 분해 가스(HCN · CO · NCO · HCl)를 측정해 유해성 · FDS 수율에 씀 — 양식 준비</a:t>
            </a:r>
            <a:endParaRPr lang="ko-KR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24028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대상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대역 (cm</a:t>
                      </a:r>
                      <a:r>
                        <a:rPr lang="ko-KR" altLang="en-US" sz="1100" b="1" baseline="30000" dirty="0">
                          <a:solidFill>
                            <a:srgbClr val="FFFFFF"/>
                          </a:solidFill>
                        </a:rPr>
                        <a:t>−1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귀속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EPS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756 · 698, 1601 · 1493 · 1452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일치환 벤젠, 방향족 고리</a:t>
                      </a:r>
                      <a:endParaRPr lang="ko-KR" sz="10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PIR/PUR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1410 / 1595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이소시아누레이트 C–N / 방향족(기준)</a:t>
                      </a:r>
                      <a:endParaRPr lang="ko-KR" sz="10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PIR/PUR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1710–1730, 1510–1530, 2270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C=O, 아마이드 II, 잔류 NCO</a:t>
                      </a:r>
                      <a:endParaRPr lang="ko-KR" sz="10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3300(넓음), 1475 · 1440, 1230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O–H, 메틸렌 가교, 페놀 C–O</a:t>
                      </a:r>
                      <a:endParaRPr lang="ko-KR" sz="10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인계 난연제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1270–1290, 1030–1050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P=O, P–O–C (TCPP 등)</a:t>
                      </a:r>
                      <a:endParaRPr lang="ko-KR" sz="10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ATH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3620 · 3523 · 3450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O–H (무기 충전재)</a:t>
                      </a:r>
                      <a:endParaRPr lang="ko-KR" sz="10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대표 흡수대(문헌값) — 실험실 기준 스펙트럼으로 확인 후 사용</a:t>
            </a:r>
            <a:endParaRPr lang="ko-KR" sz="1000" dirty="0"/>
          </a:p>
        </p:txBody>
      </p:sp>
      <p:sp>
        <p:nvSpPr>
          <p:cNvPr id="6" name="card 정량 지수"/>
          <p:cNvSpPr/>
          <p:nvPr/>
        </p:nvSpPr>
        <p:spPr>
          <a:xfrm>
            <a:off x="6720840" y="1691640"/>
            <a:ext cx="5013655" cy="2057400"/>
          </a:xfrm>
          <a:prstGeom prst="roundRect">
            <a:avLst>
              <a:gd name="adj" fmla="val 3556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883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78040" y="1783080"/>
            <a:ext cx="4419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정량 지수</a:t>
            </a:r>
            <a:endParaRPr lang="ko-KR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922008" y="2221992"/>
            <a:ext cx="462960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이소시아누레이트 지수 = </a:t>
            </a:r>
            <a:r>
              <a:rPr lang="ko-KR" altLang="en-US" sz="1150" dirty="0">
                <a:solidFill>
                  <a:schemeClr val="tx1"/>
                </a:solidFill>
              </a:rPr>
              <a:t>A</a:t>
            </a:r>
            <a:r>
              <a:rPr lang="ko-KR" altLang="en-US" sz="1150" baseline="-40000" dirty="0">
                <a:solidFill>
                  <a:schemeClr val="tx1"/>
                </a:solidFill>
              </a:rPr>
              <a:t>1410</a:t>
            </a:r>
            <a:r>
              <a:rPr lang="ko-KR" altLang="en-US" sz="1150" dirty="0">
                <a:solidFill>
                  <a:schemeClr val="tx1"/>
                </a:solidFill>
              </a:rPr>
              <a:t> / </a:t>
            </a:r>
            <a:r>
              <a:rPr lang="ko-KR" altLang="en-US" sz="1150" dirty="0">
                <a:solidFill>
                  <a:schemeClr val="tx1"/>
                </a:solidFill>
              </a:rPr>
              <a:t>A</a:t>
            </a:r>
            <a:r>
              <a:rPr lang="ko-KR" altLang="en-US" sz="1150" baseline="-40000" dirty="0">
                <a:solidFill>
                  <a:schemeClr val="tx1"/>
                </a:solidFill>
              </a:rPr>
              <a:t>1595</a:t>
            </a:r>
            <a:r>
              <a:rPr lang="ko-KR" altLang="en-US" sz="1150" dirty="0">
                <a:solidFill>
                  <a:schemeClr val="tx1"/>
                </a:solidFill>
              </a:rPr>
              <a:t> (PIR 정도 ↔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onset</a:t>
            </a:r>
            <a:r>
              <a:rPr lang="ko-KR" altLang="en-US" sz="1150" dirty="0">
                <a:solidFill>
                  <a:schemeClr val="tx1"/>
                </a:solidFill>
              </a:rPr>
              <a:t> · </a:t>
            </a:r>
            <a:r>
              <a:rPr lang="ko-KR" altLang="en-US" sz="1150" dirty="0">
                <a:solidFill>
                  <a:schemeClr val="tx1"/>
                </a:solidFill>
              </a:rPr>
              <a:t>f</a:t>
            </a:r>
            <a:r>
              <a:rPr lang="ko-KR" altLang="en-US" sz="1150" baseline="-40000" dirty="0">
                <a:solidFill>
                  <a:schemeClr val="tx1"/>
                </a:solidFill>
              </a:rPr>
              <a:t>400</a:t>
            </a:r>
            <a:r>
              <a:rPr lang="ko-KR" altLang="en-US" sz="1150" dirty="0">
                <a:solidFill>
                  <a:schemeClr val="tx1"/>
                </a:solidFill>
              </a:rPr>
              <a:t>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난연(P) 지수 = </a:t>
            </a:r>
            <a:r>
              <a:rPr lang="ko-KR" altLang="en-US" sz="1150" dirty="0">
                <a:solidFill>
                  <a:schemeClr val="tx1"/>
                </a:solidFill>
              </a:rPr>
              <a:t>A</a:t>
            </a:r>
            <a:r>
              <a:rPr lang="ko-KR" altLang="en-US" sz="1150" baseline="-40000" dirty="0">
                <a:solidFill>
                  <a:schemeClr val="tx1"/>
                </a:solidFill>
              </a:rPr>
              <a:t>P=O</a:t>
            </a:r>
            <a:r>
              <a:rPr lang="ko-KR" altLang="en-US" sz="1150" dirty="0">
                <a:solidFill>
                  <a:schemeClr val="tx1"/>
                </a:solidFill>
              </a:rPr>
              <a:t> / </a:t>
            </a:r>
            <a:r>
              <a:rPr lang="ko-KR" altLang="en-US" sz="1150" dirty="0">
                <a:solidFill>
                  <a:schemeClr val="tx1"/>
                </a:solidFill>
              </a:rPr>
              <a:t>A</a:t>
            </a:r>
            <a:r>
              <a:rPr lang="ko-KR" altLang="en-US" sz="1150" baseline="-40000" dirty="0">
                <a:solidFill>
                  <a:schemeClr val="tx1"/>
                </a:solidFill>
              </a:rPr>
              <a:t>기준</a:t>
            </a:r>
            <a:r>
              <a:rPr lang="ko-KR" altLang="en-US" sz="1150" dirty="0">
                <a:solidFill>
                  <a:schemeClr val="tx1"/>
                </a:solidFill>
              </a:rPr>
              <a:t>, 무기충전 지수 = </a:t>
            </a:r>
            <a:r>
              <a:rPr lang="ko-KR" altLang="en-US" sz="1150" dirty="0">
                <a:solidFill>
                  <a:schemeClr val="tx1"/>
                </a:solidFill>
              </a:rPr>
              <a:t>A</a:t>
            </a:r>
            <a:r>
              <a:rPr lang="ko-KR" altLang="en-US" sz="1150" baseline="-40000" dirty="0">
                <a:solidFill>
                  <a:schemeClr val="tx1"/>
                </a:solidFill>
              </a:rPr>
              <a:t>OH</a:t>
            </a:r>
            <a:r>
              <a:rPr lang="ko-KR" altLang="en-US" sz="1150" dirty="0">
                <a:solidFill>
                  <a:schemeClr val="tx1"/>
                </a:solidFill>
              </a:rPr>
              <a:t> / </a:t>
            </a:r>
            <a:r>
              <a:rPr lang="ko-KR" altLang="en-US" sz="1150" dirty="0">
                <a:solidFill>
                  <a:schemeClr val="tx1"/>
                </a:solidFill>
              </a:rPr>
              <a:t>A</a:t>
            </a:r>
            <a:r>
              <a:rPr lang="ko-KR" altLang="en-US" sz="1150" baseline="-40000" dirty="0">
                <a:solidFill>
                  <a:schemeClr val="tx1"/>
                </a:solidFill>
              </a:rPr>
              <a:t>기준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EGA: 가스별 적분 면적 / 시료 mg (같은 조건 상대 비교)</a:t>
            </a:r>
            <a:endParaRPr lang="ko-KR" sz="1150" dirty="0"/>
          </a:p>
        </p:txBody>
      </p:sp>
      <p:sp>
        <p:nvSpPr>
          <p:cNvPr id="10" name="card 게이트 규칙 (제안)"/>
          <p:cNvSpPr/>
          <p:nvPr/>
        </p:nvSpPr>
        <p:spPr>
          <a:xfrm>
            <a:off x="6720840" y="3886200"/>
            <a:ext cx="5013655" cy="1920240"/>
          </a:xfrm>
          <a:prstGeom prst="roundRect">
            <a:avLst>
              <a:gd name="adj" fmla="val 3810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407822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78040" y="3977640"/>
            <a:ext cx="4419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게이트 규칙 (제안)</a:t>
            </a:r>
            <a:endParaRPr lang="ko-KR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922008" y="4416552"/>
            <a:ext cx="462960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선언 고분자 ≠ 판정 → 제품 확인 전 전이함수 보류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난연제 미검출 → 인증서와 무관하게 가연성으로 다룸(보수적)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브롬계는 적외선 감도 낮음 → XRF · SEM/EDS 병행</a:t>
            </a:r>
            <a:endParaRPr lang="ko-KR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46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EGA 대역: CO 2180 · 2110, HCN 713, </a:t>
            </a:r>
            <a:r>
              <a:rPr lang="ko-KR" altLang="en-US" sz="1100" dirty="0">
                <a:solidFill>
                  <a:schemeClr val="tx1"/>
                </a:solidFill>
              </a:rPr>
              <a:t>NH</a:t>
            </a:r>
            <a:r>
              <a:rPr lang="ko-KR" altLang="en-US" sz="1100" baseline="-40000" dirty="0">
                <a:solidFill>
                  <a:schemeClr val="tx1"/>
                </a:solidFill>
              </a:rPr>
              <a:t>3</a:t>
            </a:r>
            <a:r>
              <a:rPr lang="ko-KR" altLang="en-US" sz="1100" dirty="0">
                <a:solidFill>
                  <a:schemeClr val="tx1"/>
                </a:solidFill>
              </a:rPr>
              <a:t> 966 · 931, –NCO 2270, HCl 2700–3100, </a:t>
            </a:r>
            <a:r>
              <a:rPr lang="ko-KR" altLang="en-US" sz="1100" dirty="0">
                <a:solidFill>
                  <a:schemeClr val="tx1"/>
                </a:solidFill>
              </a:rPr>
              <a:t>CO</a:t>
            </a:r>
            <a:r>
              <a:rPr lang="ko-KR" altLang="en-US" sz="1100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 2360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58978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EFFECT 보고서(11.2.2)도 FT-IR을 '재료 식별'에 쓰라고 권하지만 점수에는 넣지 않음 → 이 체계는 식별 결과를 게이트로, 가스를 유해성 입력으로 씀.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L1 TGA–DSC (보유 자료) → 재료 인자와 중규모 등가 예측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준불연 탄화형 3종은 TGA 전이함수로 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 · </a:t>
            </a:r>
            <a:r>
              <a:rPr lang="ko-KR" altLang="en-US" sz="2000" b="1" dirty="0">
                <a:solidFill>
                  <a:schemeClr val="tx1"/>
                </a:solidFill>
              </a:rPr>
              <a:t>p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B</a:t>
            </a:r>
            <a:r>
              <a:rPr lang="ko-KR" altLang="en-US" sz="2000" b="1" dirty="0">
                <a:solidFill>
                  <a:schemeClr val="tx1"/>
                </a:solidFill>
              </a:rPr>
              <a:t>를 예측 — 가연성은 게이트로 제외,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EPS 준불연은 용융형이라 확산 예측 대신 급발(A)만 표시</a:t>
            </a:r>
            <a:endParaRPr lang="ko-KR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48640"/>
                <a:gridCol w="1005840"/>
                <a:gridCol w="1051560"/>
                <a:gridCol w="777240"/>
                <a:gridCol w="868680"/>
                <a:gridCol w="777240"/>
                <a:gridCol w="1600200"/>
                <a:gridCol w="777240"/>
                <a:gridCol w="502920"/>
                <a:gridCol w="868680"/>
                <a:gridCol w="94457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등급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onset,air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 (°C)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r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max,air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 (%/°C)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400,air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자료 판정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재료형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게이트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t̂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600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 (s)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P̂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p̂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B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 (사전)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급발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EPS 가연성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275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2.438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0.026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재측정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용융형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가연성 → 미적용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4B5563"/>
                          </a:solidFill>
                        </a:rPr>
                        <a:t>(421)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A (용융)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sc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301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1.022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0.333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종점 의존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용융형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용융형 → 확산 미적용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4B5563"/>
                          </a:solidFill>
                        </a:rPr>
                        <a:t>(661)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A (용융)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463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0.750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0.665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신뢰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탄화형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가연성 → 미적용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4B5563"/>
                          </a:solidFill>
                        </a:rPr>
                        <a:t>(812)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0.66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A (가연)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sc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403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0.575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0.629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조건부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탄화형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적용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926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0.29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sc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340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0.406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0.703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신뢰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탄화형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적용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1261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0.95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sc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398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1.174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0.651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신뢰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탄화형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적용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664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0.51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9184" y="2240280"/>
            <a:ext cx="73152" cy="274320"/>
          </a:xfrm>
          <a:prstGeom prst="rect">
            <a:avLst/>
          </a:prstGeom>
          <a:solidFill>
            <a:srgbClr val="EDA100"/>
          </a:solidFill>
          <a:ln w="6350">
            <a:solidFill>
              <a:srgbClr val="EDA1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9184" y="2697480"/>
            <a:ext cx="73152" cy="274320"/>
          </a:xfrm>
          <a:prstGeom prst="rect">
            <a:avLst/>
          </a:prstGeom>
          <a:solidFill>
            <a:srgbClr val="E87BA4"/>
          </a:solidFill>
          <a:ln w="6350">
            <a:solidFill>
              <a:srgbClr val="E87B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9184" y="3154680"/>
            <a:ext cx="73152" cy="274320"/>
          </a:xfrm>
          <a:prstGeom prst="rect">
            <a:avLst/>
          </a:prstGeom>
          <a:solidFill>
            <a:srgbClr val="6250D6"/>
          </a:solidFill>
          <a:ln w="6350">
            <a:solidFill>
              <a:srgbClr val="6250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9184" y="3611880"/>
            <a:ext cx="73152" cy="274320"/>
          </a:xfrm>
          <a:prstGeom prst="rect">
            <a:avLst/>
          </a:prstGeom>
          <a:solidFill>
            <a:srgbClr val="008300"/>
          </a:solidFill>
          <a:ln w="6350">
            <a:solidFill>
              <a:srgbClr val="0083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" y="4069080"/>
            <a:ext cx="73152" cy="274320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" y="4526280"/>
            <a:ext cx="73152" cy="274320"/>
          </a:xfrm>
          <a:prstGeom prst="rect">
            <a:avLst/>
          </a:prstGeom>
          <a:solidFill>
            <a:srgbClr val="E34948"/>
          </a:solidFill>
          <a:ln w="6350">
            <a:solidFill>
              <a:srgbClr val="E349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029200"/>
            <a:ext cx="11277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2"/>
                </a:solidFill>
              </a:rPr>
              <a:t>t̂</a:t>
            </a:r>
            <a:r>
              <a:rPr lang="ko-KR" altLang="en-US" sz="115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150" dirty="0">
                <a:solidFill>
                  <a:schemeClr val="tx2"/>
                </a:solidFill>
              </a:rPr>
              <a:t> = </a:t>
            </a:r>
            <a:r>
              <a:rPr lang="ko-KR" altLang="en-US" sz="1150" dirty="0">
                <a:solidFill>
                  <a:schemeClr val="tx2"/>
                </a:solidFill>
              </a:rPr>
              <a:t>t</a:t>
            </a:r>
            <a:r>
              <a:rPr lang="ko-KR" altLang="en-US" sz="1150" baseline="-40000" dirty="0">
                <a:solidFill>
                  <a:schemeClr val="tx2"/>
                </a:solidFill>
              </a:rPr>
              <a:t>ig,sys</a:t>
            </a:r>
            <a:r>
              <a:rPr lang="ko-KR" altLang="en-US" sz="1150" dirty="0">
                <a:solidFill>
                  <a:schemeClr val="tx2"/>
                </a:solidFill>
              </a:rPr>
              <a:t> + </a:t>
            </a:r>
            <a:r>
              <a:rPr lang="ko-KR" altLang="en-US" sz="1150" dirty="0">
                <a:solidFill>
                  <a:schemeClr val="tx2"/>
                </a:solidFill>
              </a:rPr>
              <a:t>C</a:t>
            </a:r>
            <a:r>
              <a:rPr lang="ko-KR" altLang="en-US" sz="1150" baseline="-40000" dirty="0">
                <a:solidFill>
                  <a:schemeClr val="tx2"/>
                </a:solidFill>
              </a:rPr>
              <a:t>sys</a:t>
            </a:r>
            <a:r>
              <a:rPr lang="ko-KR" altLang="en-US" sz="1150" dirty="0">
                <a:solidFill>
                  <a:schemeClr val="tx2"/>
                </a:solidFill>
              </a:rPr>
              <a:t> / </a:t>
            </a:r>
            <a:r>
              <a:rPr lang="ko-KR" altLang="en-US" sz="1150" dirty="0">
                <a:solidFill>
                  <a:schemeClr val="tx2"/>
                </a:solidFill>
              </a:rPr>
              <a:t>r</a:t>
            </a:r>
            <a:r>
              <a:rPr lang="ko-KR" altLang="en-US" sz="1150" baseline="-40000" dirty="0">
                <a:solidFill>
                  <a:schemeClr val="tx2"/>
                </a:solidFill>
              </a:rPr>
              <a:t>max,air</a:t>
            </a:r>
            <a:r>
              <a:rPr lang="ko-KR" altLang="en-US" sz="1150" dirty="0">
                <a:solidFill>
                  <a:schemeClr val="tx2"/>
                </a:solidFill>
              </a:rPr>
              <a:t> (</a:t>
            </a:r>
            <a:r>
              <a:rPr lang="ko-KR" altLang="en-US" sz="1150" dirty="0">
                <a:solidFill>
                  <a:schemeClr val="tx2"/>
                </a:solidFill>
              </a:rPr>
              <a:t>t</a:t>
            </a:r>
            <a:r>
              <a:rPr lang="ko-KR" altLang="en-US" sz="1150" baseline="-40000" dirty="0">
                <a:solidFill>
                  <a:schemeClr val="tx2"/>
                </a:solidFill>
              </a:rPr>
              <a:t>ig,sys</a:t>
            </a:r>
            <a:r>
              <a:rPr lang="ko-KR" altLang="en-US" sz="1150" dirty="0">
                <a:solidFill>
                  <a:schemeClr val="tx2"/>
                </a:solidFill>
              </a:rPr>
              <a:t> 248 s, </a:t>
            </a:r>
            <a:r>
              <a:rPr lang="ko-KR" altLang="en-US" sz="1150" dirty="0">
                <a:solidFill>
                  <a:schemeClr val="tx2"/>
                </a:solidFill>
              </a:rPr>
              <a:t>C</a:t>
            </a:r>
            <a:r>
              <a:rPr lang="ko-KR" altLang="en-US" sz="1150" baseline="-40000" dirty="0">
                <a:solidFill>
                  <a:schemeClr val="tx2"/>
                </a:solidFill>
              </a:rPr>
              <a:t>sys</a:t>
            </a:r>
            <a:r>
              <a:rPr lang="ko-KR" altLang="en-US" sz="1150" dirty="0">
                <a:solidFill>
                  <a:schemeClr val="tx2"/>
                </a:solidFill>
              </a:rPr>
              <a:t> 423 s·%/°C) — 적용 3종은 해당 제품을 빼고 맞춘 상수로 예측(괄호 = 게이트로 미적용)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2"/>
                </a:solidFill>
              </a:rPr>
              <a:t>p̂</a:t>
            </a:r>
            <a:r>
              <a:rPr lang="ko-KR" altLang="en-US" sz="1150" baseline="-40000" dirty="0">
                <a:solidFill>
                  <a:schemeClr val="tx2"/>
                </a:solidFill>
              </a:rPr>
              <a:t>B</a:t>
            </a:r>
            <a:r>
              <a:rPr lang="ko-KR" altLang="en-US" sz="1150" dirty="0">
                <a:solidFill>
                  <a:schemeClr val="tx2"/>
                </a:solidFill>
              </a:rPr>
              <a:t>: </a:t>
            </a:r>
            <a:r>
              <a:rPr lang="ko-KR" altLang="en-US" sz="1150" dirty="0">
                <a:solidFill>
                  <a:schemeClr val="tx2"/>
                </a:solidFill>
              </a:rPr>
              <a:t>f</a:t>
            </a:r>
            <a:r>
              <a:rPr lang="ko-KR" altLang="en-US" sz="1150" baseline="-40000" dirty="0">
                <a:solidFill>
                  <a:schemeClr val="tx2"/>
                </a:solidFill>
              </a:rPr>
              <a:t>400,air</a:t>
            </a:r>
            <a:r>
              <a:rPr lang="ko-KR" altLang="en-US" sz="1150" dirty="0">
                <a:solidFill>
                  <a:schemeClr val="tx2"/>
                </a:solidFill>
              </a:rPr>
              <a:t> 0.60 → 0.70에서 0.05 → 0.95 램프, 무게 2회 시험분(잠정) · 급발: 용융형(</a:t>
            </a:r>
            <a:r>
              <a:rPr lang="ko-KR" altLang="en-US" sz="1150" dirty="0">
                <a:solidFill>
                  <a:schemeClr val="tx2"/>
                </a:solidFill>
              </a:rPr>
              <a:t>f</a:t>
            </a:r>
            <a:r>
              <a:rPr lang="ko-KR" altLang="en-US" sz="1150" baseline="-40000" dirty="0">
                <a:solidFill>
                  <a:schemeClr val="tx2"/>
                </a:solidFill>
              </a:rPr>
              <a:t>400</a:t>
            </a:r>
            <a:r>
              <a:rPr lang="ko-KR" altLang="en-US" sz="1150" dirty="0">
                <a:solidFill>
                  <a:schemeClr val="tx2"/>
                </a:solidFill>
              </a:rPr>
              <a:t> &lt; 0.5) 또는 가연성 전면 착화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2"/>
                </a:solidFill>
              </a:rPr>
              <a:t>EPS 가연성: 공기 자료 '재측정' + 가연성 + 용융형 → 소형시료로 판정 불가, 중규모 재시험(30분) 필요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전이함수 — 소형시료 지표를 중규모 등가값으로 바꾸는 식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TGA 3식(T1–T3)은 이번 자료로 보정 · 확인됨, 콘 · FT-IR 5식(T4–T8)은 제안 단계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중규모 → 건물(s)은 가정이며 L3(시뮬레이션)·실대형 시험으로 대체</a:t>
            </a:r>
            <a:endParaRPr lang="ko-KR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737360"/>
                <a:gridCol w="5120640"/>
                <a:gridCol w="1463040"/>
                <a:gridCol w="1508760"/>
                <a:gridCol w="80741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번호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연결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식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적용 범위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차원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T1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TGA → 확산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t̂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=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ig,sys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+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sys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/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r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max,air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 · 탄화형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D2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T2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TGA → 지속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p̂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B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~ Beta(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(1−m)), m = 램프(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400,air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)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 · 탄화형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D4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T3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TGA → 급발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400,air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&lt; 0.5 → 용융형: 확산식 미적용, A 표시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전체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D5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T4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콘 → 게이트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 기준 미달 → 가연성: TGA 미적용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전체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G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T5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콘 → 확산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 = Q̇″^(1/3)/TRP →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t̂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∝ M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−2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b &gt; 0 → 가속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D2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T6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콘 → 발열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THR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↔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(3000 mm 초과 열량)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전체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D3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T7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FT-IR → 게이트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식별 일치 · 난연제 검출 → 준불연 처리 확인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전체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G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T8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FT-IR·콘 → 유해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HCN · CO 발생량 → FDS 수율 → 위층 FED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전체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D6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중규모 → 건물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τ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= s ·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h / 3 m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전체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D2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528048" y="2029968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19488" y="2107692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802368" y="20299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보정·검증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9528048" y="2414016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19488" y="2491740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802368" y="241401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잠정</a:t>
            </a:r>
            <a:endParaRPr lang="ko-KR" sz="1100" dirty="0"/>
          </a:p>
        </p:txBody>
      </p:sp>
      <p:sp>
        <p:nvSpPr>
          <p:cNvPr id="11" name="Shape 8"/>
          <p:cNvSpPr/>
          <p:nvPr/>
        </p:nvSpPr>
        <p:spPr>
          <a:xfrm>
            <a:off x="9528048" y="2798064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19488" y="2875788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02368" y="279806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보정·검증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9528048" y="318211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19488" y="3259836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802368" y="318211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규정 기준</a:t>
            </a:r>
            <a:endParaRPr lang="ko-KR" sz="1100" dirty="0"/>
          </a:p>
        </p:txBody>
      </p:sp>
      <p:sp>
        <p:nvSpPr>
          <p:cNvPr id="17" name="Shape 14"/>
          <p:cNvSpPr/>
          <p:nvPr/>
        </p:nvSpPr>
        <p:spPr>
          <a:xfrm>
            <a:off x="9528048" y="356616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19488" y="3643884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02368" y="356616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제안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>
            <a:off x="9528048" y="3950208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19488" y="4027932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02368" y="395020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제안</a:t>
            </a:r>
            <a:endParaRPr lang="ko-KR" sz="1100" dirty="0"/>
          </a:p>
        </p:txBody>
      </p:sp>
      <p:sp>
        <p:nvSpPr>
          <p:cNvPr id="23" name="Shape 20"/>
          <p:cNvSpPr/>
          <p:nvPr/>
        </p:nvSpPr>
        <p:spPr>
          <a:xfrm>
            <a:off x="9528048" y="4334256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619488" y="4411980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802368" y="433425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제안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9528048" y="4718304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19488" y="4796028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802368" y="471830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제안</a:t>
            </a:r>
            <a:endParaRPr lang="ko-KR" sz="1100" dirty="0"/>
          </a:p>
        </p:txBody>
      </p:sp>
      <p:sp>
        <p:nvSpPr>
          <p:cNvPr id="29" name="Shape 26"/>
          <p:cNvSpPr/>
          <p:nvPr/>
        </p:nvSpPr>
        <p:spPr>
          <a:xfrm>
            <a:off x="9528048" y="510235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CE6DC"/>
          </a:solidFill>
          <a:ln w="12700">
            <a:solidFill>
              <a:srgbClr val="EC83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19488" y="5180076"/>
            <a:ext cx="118872" cy="118872"/>
          </a:xfrm>
          <a:prstGeom prst="ellipse">
            <a:avLst/>
          </a:prstGeom>
          <a:solidFill>
            <a:srgbClr val="EC835A"/>
          </a:solidFill>
          <a:ln w="6350">
            <a:solidFill>
              <a:srgbClr val="EC83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802368" y="510235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가정</a:t>
            </a:r>
            <a:endParaRPr lang="ko-KR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5669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T1 교차검증(제품 제외): 오차 −14 ~ +29 %, P 등급 6/6 일치 · TGA 예측 편차 τ = 0.166 (ln), 시험 반복 편차 </a:t>
            </a:r>
            <a:r>
              <a:rPr lang="ko-KR" altLang="en-US" sz="1050" dirty="0">
                <a:solidFill>
                  <a:schemeClr val="tx2"/>
                </a:solidFill>
              </a:rPr>
              <a:t>σ</a:t>
            </a:r>
            <a:r>
              <a:rPr lang="ko-KR" altLang="en-US" sz="1050" baseline="-40000" dirty="0">
                <a:solidFill>
                  <a:schemeClr val="tx2"/>
                </a:solidFill>
              </a:rPr>
              <a:t>rep</a:t>
            </a:r>
            <a:r>
              <a:rPr lang="ko-KR" altLang="en-US" sz="1050" dirty="0">
                <a:solidFill>
                  <a:schemeClr val="tx2"/>
                </a:solidFill>
              </a:rPr>
              <a:t> = 0.093 (ln)</a:t>
            </a:r>
            <a:endParaRPr lang="ko-KR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96188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엑셀 6_전이함수에 상수·통계가 수식으로 들어 있어, 시험이 늘면 </a:t>
            </a:r>
            <a:r>
              <a:rPr lang="ko-KR" altLang="en-US" sz="1050" dirty="0">
                <a:solidFill>
                  <a:schemeClr val="tx2"/>
                </a:solidFill>
              </a:rPr>
              <a:t>σ</a:t>
            </a:r>
            <a:r>
              <a:rPr lang="ko-KR" altLang="en-US" sz="1050" baseline="-40000" dirty="0">
                <a:solidFill>
                  <a:schemeClr val="tx2"/>
                </a:solidFill>
              </a:rPr>
              <a:t>rep</a:t>
            </a:r>
            <a:r>
              <a:rPr lang="ko-KR" altLang="en-US" sz="1050" dirty="0">
                <a:solidFill>
                  <a:schemeClr val="tx2"/>
                </a:solidFill>
              </a:rPr>
              <a:t> · τ가 자동으로 다시 계산됩니다.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척도 간 정합성 — TGA가 예측한 </a:t>
            </a:r>
            <a:r>
              <a:rPr lang="ko-KR" altLang="en-US" sz="1200" b="1" dirty="0">
                <a:solidFill>
                  <a:schemeClr val="tx2"/>
                </a:solidFill>
              </a:rPr>
              <a:t>t</a:t>
            </a:r>
            <a:r>
              <a:rPr lang="ko-KR" altLang="en-US" sz="1200" b="1" baseline="-40000" dirty="0">
                <a:solidFill>
                  <a:schemeClr val="tx2"/>
                </a:solidFill>
              </a:rPr>
              <a:t>600</a:t>
            </a:r>
            <a:r>
              <a:rPr lang="ko-KR" altLang="en-US" sz="1200" b="1" dirty="0">
                <a:solidFill>
                  <a:schemeClr val="tx2"/>
                </a:solidFill>
              </a:rPr>
              <a:t>과 중공층 시험의 비교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준불연 탄화형 3종은 예측 구간 안(|z| ≤ 1.5), 가연성 PIR(PUR)은 z −18.5로 완전히 벗어남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게이트 없이 TGA를 쓰면 가장 위험한 제품을 가장 크게 오판함</a:t>
            </a:r>
            <a:endParaRPr lang="ko-KR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7607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321308" y="561213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TGA 예측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100" dirty="0">
                <a:solidFill>
                  <a:schemeClr val="tx2"/>
                </a:solidFill>
              </a:rPr>
              <a:t> (s, 로그)</a:t>
            </a:r>
            <a:endParaRPr lang="ko-KR" sz="1100" dirty="0"/>
          </a:p>
        </p:txBody>
      </p:sp>
      <p:sp>
        <p:nvSpPr>
          <p:cNvPr id="6" name="Text 3"/>
          <p:cNvSpPr txBox="1"/>
          <p:nvPr/>
        </p:nvSpPr>
        <p:spPr>
          <a:xfrm rot="16200000">
            <a:off x="-576072" y="341757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중공층 시험 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100" dirty="0">
                <a:solidFill>
                  <a:schemeClr val="tx2"/>
                </a:solidFill>
              </a:rPr>
              <a:t> (s, 로그)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190554" y="2308827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rgbClr val="23303D"/>
                </a:solidFill>
              </a:rPr>
              <a:t>EPS 준불연</a:t>
            </a:r>
            <a:endParaRPr lang="ko-KR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277546" y="494729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rgbClr val="23303D"/>
                </a:solidFill>
              </a:rPr>
              <a:t>PIR(PUR) 가연성</a:t>
            </a:r>
            <a:endParaRPr lang="ko-KR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15170" y="258920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rgbClr val="23303D"/>
                </a:solidFill>
              </a:rPr>
              <a:t>PIR(PUR) 준불연</a:t>
            </a:r>
            <a:endParaRPr lang="ko-KR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482559" y="202980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rgbClr val="23303D"/>
                </a:solidFill>
              </a:rPr>
              <a:t>PF 준불연 외부용</a:t>
            </a:r>
            <a:endParaRPr lang="ko-KR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850193" y="30552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dirty="0">
                <a:solidFill>
                  <a:srgbClr val="23303D"/>
                </a:solidFill>
              </a:rPr>
              <a:t>PF 준불연 내부용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3650546" y="1953825"/>
            <a:ext cx="128016" cy="118872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E87BA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05994" y="1898961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미도달(&gt; 30분)</a:t>
            </a:r>
            <a:endParaRPr lang="ko-KR" sz="950" dirty="0"/>
          </a:p>
        </p:txBody>
      </p:sp>
      <p:sp>
        <p:nvSpPr>
          <p:cNvPr id="14" name="Shape 11"/>
          <p:cNvSpPr/>
          <p:nvPr/>
        </p:nvSpPr>
        <p:spPr>
          <a:xfrm>
            <a:off x="1371600" y="6035040"/>
            <a:ext cx="155448" cy="155448"/>
          </a:xfrm>
          <a:prstGeom prst="ellipse">
            <a:avLst/>
          </a:prstGeom>
          <a:solidFill>
            <a:srgbClr val="4B556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82496" y="59893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전이함수 적용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3429000" y="6044184"/>
            <a:ext cx="146304" cy="146304"/>
          </a:xfrm>
          <a:prstGeom prst="ellipse">
            <a:avLst/>
          </a:prstGeom>
          <a:solidFill>
            <a:srgbClr val="8A919A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39312" y="5989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게이트로 제외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4800600" y="6117336"/>
            <a:ext cx="329184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193792" y="5989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95 % 구간</a:t>
            </a:r>
            <a:endParaRPr lang="ko-KR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691640"/>
          <a:ext cx="528797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325880"/>
                <a:gridCol w="685800"/>
                <a:gridCol w="777240"/>
                <a:gridCol w="1081735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게이트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z 확산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P(k) 지속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급발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용융형 → 미적용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8A5A00"/>
                          </a:solidFill>
                        </a:rPr>
                        <a:t>2.14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0.90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용융 / A 2/3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가연성 → 미적용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B42318"/>
                          </a:solidFill>
                        </a:rPr>
                        <a:t>−18.52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n/a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— / A 2/2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적용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0.86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0.58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— / A 0/2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적용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0.37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0.92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— / A 0/2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적용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−1.46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0.33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— / A 0/2</a:t>
                      </a:r>
                      <a:endParaRPr lang="ko-KR" sz="10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6446520" y="4251960"/>
            <a:ext cx="52879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z = (ln 시험 − ln 예측) / √(τ</a:t>
            </a:r>
            <a:r>
              <a:rPr lang="ko-KR" altLang="en-US" sz="1100" baseline="300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 + </a:t>
            </a:r>
            <a:r>
              <a:rPr lang="ko-KR" altLang="en-US" sz="1100" dirty="0">
                <a:solidFill>
                  <a:schemeClr val="tx1"/>
                </a:solidFill>
              </a:rPr>
              <a:t>σ</a:t>
            </a:r>
            <a:r>
              <a:rPr lang="ko-KR" altLang="en-US" sz="1100" baseline="-40000" dirty="0">
                <a:solidFill>
                  <a:schemeClr val="tx1"/>
                </a:solidFill>
              </a:rPr>
              <a:t>rep</a:t>
            </a:r>
            <a:r>
              <a:rPr lang="ko-KR" altLang="en-US" sz="1100" baseline="300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/n): |z| ≤ 2 정합, z &lt; −2 위험 과소평가(비보수적), z &gt; 2 과대평가(보수적)</a:t>
            </a:r>
            <a:endParaRPr lang="ko-KR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P(k): TGA 사전분포에서 시험의 B 횟수가 나올 확률(≥ 0.05 정합) — 4종 모두 정합</a:t>
            </a:r>
            <a:endParaRPr lang="ko-KR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급발 A는 두 기작: 용융형(EPS, TGA로 예측) · 가연성 전면 착화(PIR(PUR), 콘·FT-IR로 예측해야 함)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베이즈 결합 — TGA 사전분포 × 중공층 시험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TGA는 시험 2회 대비 무게 13.5 % — 통합 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은 시험값에서 TGA 쪽으로 조금 이동하고,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재료 평균 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의 90 % 폭은 등급만 5.3배 → TGA 1.72배 → 중규모 1.24배 → 통합 1.22배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확산  </a:t>
            </a:r>
            <a:r>
              <a:rPr lang="ko-KR" altLang="en-US" sz="1200" dirty="0">
                <a:solidFill>
                  <a:schemeClr val="tx1"/>
                </a:solidFill>
              </a:rPr>
              <a:t>ln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00" dirty="0">
                <a:solidFill>
                  <a:schemeClr val="tx1"/>
                </a:solidFill>
              </a:rPr>
              <a:t> ~ N(μ, </a:t>
            </a:r>
            <a:r>
              <a:rPr lang="ko-KR" altLang="en-US" sz="1200" dirty="0">
                <a:solidFill>
                  <a:schemeClr val="tx1"/>
                </a:solidFill>
              </a:rPr>
              <a:t>σ</a:t>
            </a:r>
            <a:r>
              <a:rPr lang="ko-KR" altLang="en-US" sz="1200" baseline="-40000" dirty="0">
                <a:solidFill>
                  <a:schemeClr val="tx1"/>
                </a:solidFill>
              </a:rPr>
              <a:t>rep</a:t>
            </a:r>
            <a:r>
              <a:rPr lang="ko-KR" altLang="en-US" sz="1200" baseline="300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) 시험별, 사전 μ ~ N(</a:t>
            </a:r>
            <a:r>
              <a:rPr lang="ko-KR" altLang="en-US" sz="1200" dirty="0">
                <a:solidFill>
                  <a:schemeClr val="tx1"/>
                </a:solidFill>
              </a:rPr>
              <a:t>μ</a:t>
            </a:r>
            <a:r>
              <a:rPr lang="ko-KR" altLang="en-US" sz="1200" baseline="-40000" dirty="0">
                <a:solidFill>
                  <a:schemeClr val="tx1"/>
                </a:solidFill>
              </a:rPr>
              <a:t>0</a:t>
            </a:r>
            <a:r>
              <a:rPr lang="ko-KR" altLang="en-US" sz="1200" dirty="0">
                <a:solidFill>
                  <a:schemeClr val="tx1"/>
                </a:solidFill>
              </a:rPr>
              <a:t> = ln </a:t>
            </a:r>
            <a:r>
              <a:rPr lang="ko-KR" altLang="en-US" sz="1200" dirty="0">
                <a:solidFill>
                  <a:schemeClr val="tx1"/>
                </a:solidFill>
              </a:rPr>
              <a:t>t̂</a:t>
            </a:r>
            <a:r>
              <a:rPr lang="ko-KR" altLang="en-US" sz="1200" baseline="-40000" dirty="0">
                <a:solidFill>
                  <a:schemeClr val="tx1"/>
                </a:solidFill>
              </a:rPr>
              <a:t>TGA</a:t>
            </a:r>
            <a:r>
              <a:rPr lang="ko-KR" altLang="en-US" sz="1200" dirty="0">
                <a:solidFill>
                  <a:schemeClr val="tx1"/>
                </a:solidFill>
              </a:rPr>
              <a:t>, τ</a:t>
            </a:r>
            <a:r>
              <a:rPr lang="ko-KR" altLang="en-US" sz="1200" baseline="300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) → </a:t>
            </a:r>
            <a:r>
              <a:rPr lang="ko-KR" altLang="en-US" sz="1200" dirty="0">
                <a:solidFill>
                  <a:schemeClr val="tx1"/>
                </a:solidFill>
              </a:rPr>
              <a:t>μ</a:t>
            </a:r>
            <a:r>
              <a:rPr lang="ko-KR" altLang="en-US" sz="1200" baseline="-40000" dirty="0">
                <a:solidFill>
                  <a:schemeClr val="tx1"/>
                </a:solidFill>
              </a:rPr>
              <a:t>post</a:t>
            </a:r>
            <a:r>
              <a:rPr lang="ko-KR" altLang="en-US" sz="1200" dirty="0">
                <a:solidFill>
                  <a:schemeClr val="tx1"/>
                </a:solidFill>
              </a:rPr>
              <a:t> = w·</a:t>
            </a:r>
            <a:r>
              <a:rPr lang="ko-KR" altLang="en-US" sz="1200" dirty="0">
                <a:solidFill>
                  <a:schemeClr val="tx1"/>
                </a:solidFill>
              </a:rPr>
              <a:t>μ</a:t>
            </a:r>
            <a:r>
              <a:rPr lang="ko-KR" altLang="en-US" sz="1200" baseline="-40000" dirty="0">
                <a:solidFill>
                  <a:schemeClr val="tx1"/>
                </a:solidFill>
              </a:rPr>
              <a:t>0</a:t>
            </a:r>
            <a:r>
              <a:rPr lang="ko-KR" altLang="en-US" sz="1200" dirty="0">
                <a:solidFill>
                  <a:schemeClr val="tx1"/>
                </a:solidFill>
              </a:rPr>
              <a:t> + (1 − w)·ȳ, w = (1/τ</a:t>
            </a:r>
            <a:r>
              <a:rPr lang="ko-KR" altLang="en-US" sz="1200" baseline="300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) / (1/τ</a:t>
            </a:r>
            <a:r>
              <a:rPr lang="ko-KR" altLang="en-US" sz="1200" baseline="300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 + n/</a:t>
            </a:r>
            <a:r>
              <a:rPr lang="ko-KR" altLang="en-US" sz="1200" dirty="0">
                <a:solidFill>
                  <a:schemeClr val="tx1"/>
                </a:solidFill>
              </a:rPr>
              <a:t>σ</a:t>
            </a:r>
            <a:r>
              <a:rPr lang="ko-KR" altLang="en-US" sz="1200" baseline="-40000" dirty="0">
                <a:solidFill>
                  <a:schemeClr val="tx1"/>
                </a:solidFill>
              </a:rPr>
              <a:t>rep</a:t>
            </a:r>
            <a:r>
              <a:rPr lang="ko-KR" altLang="en-US" sz="1200" baseline="300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)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지속 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 ~ Beta(</a:t>
            </a:r>
            <a:r>
              <a:rPr lang="ko-KR" altLang="en-US" sz="1200" dirty="0">
                <a:solidFill>
                  <a:schemeClr val="tx1"/>
                </a:solidFill>
              </a:rPr>
              <a:t>a</a:t>
            </a:r>
            <a:r>
              <a:rPr lang="ko-KR" altLang="en-US" sz="1200" baseline="-40000" dirty="0">
                <a:solidFill>
                  <a:schemeClr val="tx1"/>
                </a:solidFill>
              </a:rPr>
              <a:t>0</a:t>
            </a:r>
            <a:r>
              <a:rPr lang="ko-KR" altLang="en-US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b</a:t>
            </a:r>
            <a:r>
              <a:rPr lang="ko-KR" altLang="en-US" sz="1200" baseline="-40000" dirty="0">
                <a:solidFill>
                  <a:schemeClr val="tx1"/>
                </a:solidFill>
              </a:rPr>
              <a:t>0</a:t>
            </a:r>
            <a:r>
              <a:rPr lang="ko-KR" altLang="en-US" sz="1200" dirty="0">
                <a:solidFill>
                  <a:schemeClr val="tx1"/>
                </a:solidFill>
              </a:rPr>
              <a:t>) (TGA 램프) → Beta(</a:t>
            </a:r>
            <a:r>
              <a:rPr lang="ko-KR" altLang="en-US" sz="1200" dirty="0">
                <a:solidFill>
                  <a:schemeClr val="tx1"/>
                </a:solidFill>
              </a:rPr>
              <a:t>a</a:t>
            </a:r>
            <a:r>
              <a:rPr lang="ko-KR" altLang="en-US" sz="1200" baseline="-40000" dirty="0">
                <a:solidFill>
                  <a:schemeClr val="tx1"/>
                </a:solidFill>
              </a:rPr>
              <a:t>0</a:t>
            </a:r>
            <a:r>
              <a:rPr lang="ko-KR" altLang="en-US" sz="1200" dirty="0">
                <a:solidFill>
                  <a:schemeClr val="tx1"/>
                </a:solidFill>
              </a:rPr>
              <a:t> + k, </a:t>
            </a:r>
            <a:r>
              <a:rPr lang="ko-KR" altLang="en-US" sz="1200" dirty="0">
                <a:solidFill>
                  <a:schemeClr val="tx1"/>
                </a:solidFill>
              </a:rPr>
              <a:t>b</a:t>
            </a:r>
            <a:r>
              <a:rPr lang="ko-KR" altLang="en-US" sz="1200" baseline="-40000" dirty="0">
                <a:solidFill>
                  <a:schemeClr val="tx1"/>
                </a:solidFill>
              </a:rPr>
              <a:t>0</a:t>
            </a:r>
            <a:r>
              <a:rPr lang="ko-KR" altLang="en-US" sz="1200" dirty="0">
                <a:solidFill>
                  <a:schemeClr val="tx1"/>
                </a:solidFill>
              </a:rPr>
              <a:t> + n − k) (시험 n회 중 B k회)</a:t>
            </a:r>
            <a:endParaRPr lang="ko-KR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6766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731520"/>
                <a:gridCol w="822960"/>
                <a:gridCol w="685800"/>
                <a:gridCol w="594360"/>
                <a:gridCol w="77724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제품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600</a:t>
                      </a: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 TGA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600</a:t>
                      </a: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 시험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600</a:t>
                      </a: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 통합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B</a:t>
                      </a: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 TGA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B k/n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B</a:t>
                      </a: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 시험만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p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B</a:t>
                      </a: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 통합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926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1079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1057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0.29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0/2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0.17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0.14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1261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1346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1334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0.95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2/2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0.83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0.97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664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512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531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0.51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1/2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0.50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0.51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4B5563"/>
                          </a:solidFill>
                        </a:rPr>
                        <a:t>(용융형)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968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4B5563"/>
                          </a:solidFill>
                        </a:rPr>
                        <a:t>시험값 사용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0.05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0/3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0.13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0.02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6634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050" dirty="0">
                <a:solidFill>
                  <a:schemeClr val="tx2"/>
                </a:solidFill>
              </a:rPr>
              <a:t>σ</a:t>
            </a:r>
            <a:r>
              <a:rPr lang="ko-KR" altLang="en-US" sz="1050" baseline="-40000" dirty="0">
                <a:solidFill>
                  <a:schemeClr val="tx2"/>
                </a:solidFill>
              </a:rPr>
              <a:t>rep</a:t>
            </a:r>
            <a:r>
              <a:rPr lang="ko-KR" altLang="en-US" sz="1050" dirty="0">
                <a:solidFill>
                  <a:schemeClr val="tx2"/>
                </a:solidFill>
              </a:rPr>
              <a:t> = 0.093 (시험 반복, 합동) · τ = 0.166 (TGA 예측, 제품 제외) · 준불연 제품 간 SD = 0.506 (등급만 아는 경우)</a:t>
            </a:r>
            <a:endParaRPr lang="ko-KR" sz="10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050" dirty="0">
                <a:solidFill>
                  <a:schemeClr val="tx2"/>
                </a:solidFill>
              </a:rPr>
              <a:t>t</a:t>
            </a:r>
            <a:r>
              <a:rPr lang="ko-KR" altLang="en-US" sz="1050" baseline="-40000" dirty="0">
                <a:solidFill>
                  <a:schemeClr val="tx2"/>
                </a:solidFill>
              </a:rPr>
              <a:t>600</a:t>
            </a:r>
            <a:r>
              <a:rPr lang="ko-KR" altLang="en-US" sz="1050" dirty="0">
                <a:solidFill>
                  <a:schemeClr val="tx2"/>
                </a:solidFill>
              </a:rPr>
              <a:t> 단위 s · TGA 예측은 해당 제품을 빼고 맞춘 상수 · EPS는 확산 예측 대신 지속(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B</a:t>
            </a:r>
            <a:r>
              <a:rPr lang="ko-KR" altLang="en-US" sz="1050" dirty="0">
                <a:solidFill>
                  <a:schemeClr val="tx2"/>
                </a:solidFill>
              </a:rPr>
              <a:t>)만 TGA가 기여</a:t>
            </a:r>
            <a:endParaRPr lang="ko-KR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498080" y="1691640"/>
          <a:ext cx="423641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498080" y="534924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같은 값이 세 제품에 공통(</a:t>
            </a:r>
            <a:r>
              <a:rPr lang="ko-KR" altLang="en-US" sz="1050" dirty="0">
                <a:solidFill>
                  <a:schemeClr val="tx2"/>
                </a:solidFill>
              </a:rPr>
              <a:t>σ</a:t>
            </a:r>
            <a:r>
              <a:rPr lang="ko-KR" altLang="en-US" sz="1050" baseline="-40000" dirty="0">
                <a:solidFill>
                  <a:schemeClr val="tx2"/>
                </a:solidFill>
              </a:rPr>
              <a:t>rep</a:t>
            </a:r>
            <a:r>
              <a:rPr lang="ko-KR" altLang="en-US" sz="1050" dirty="0">
                <a:solidFill>
                  <a:schemeClr val="tx2"/>
                </a:solidFill>
              </a:rPr>
              <a:t> · τ 공유). 건물 위험도의 90 % 구간은 s · 빈도 때문에 여전히 10–30배 → 17–18쪽</a:t>
            </a:r>
            <a:endParaRPr lang="ko-KR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59436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엑셀 7_통합(베이즈)에 같은 계산이 수식으로 들어 있고, 13_검증에서 파이썬 값과 일치(최대 상대차 10</a:t>
            </a:r>
            <a:r>
              <a:rPr lang="ko-KR" altLang="en-US" sz="1050" baseline="30000" dirty="0">
                <a:solidFill>
                  <a:schemeClr val="tx2"/>
                </a:solidFill>
              </a:rPr>
              <a:t>−10</a:t>
            </a:r>
            <a:r>
              <a:rPr lang="ko-KR" altLang="en-US" sz="1050" dirty="0">
                <a:solidFill>
                  <a:schemeClr val="tx2"/>
                </a:solidFill>
              </a:rPr>
              <a:t> 수준)함을 확인합니다.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척도(증거 수준)별 건물 위험도 — 같은 건물, 재료 지식만 다름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등급만으로는 준불연 4종이 구분되지 않음 → TGA를 더하면 PF 내부용이 가장 위험,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중규모 시험이 확정(불충족) — 통합(L1+L2)은 중규모와 비슷하고 구간이 약간 좁음</a:t>
            </a:r>
            <a:endParaRPr lang="ko-KR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7863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225906" y="5195621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불연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(기준안)</a:t>
            </a:r>
            <a:endParaRPr lang="ko-KR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2379269" y="5195621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EPS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준불연</a:t>
            </a:r>
            <a:endParaRPr lang="ko-KR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532632" y="5195621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PIR(PUR)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가연성</a:t>
            </a:r>
            <a:endParaRPr lang="ko-KR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685995" y="5195621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PIR(PUR)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준불연</a:t>
            </a:r>
            <a:endParaRPr lang="ko-KR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839358" y="5195621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PF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외부용</a:t>
            </a:r>
            <a:endParaRPr lang="ko-KR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992722" y="5195621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PF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내부용</a:t>
            </a:r>
            <a:endParaRPr lang="ko-KR" sz="1050" dirty="0"/>
          </a:p>
        </p:txBody>
      </p:sp>
      <p:sp>
        <p:nvSpPr>
          <p:cNvPr id="11" name="Text 8"/>
          <p:cNvSpPr txBox="1"/>
          <p:nvPr/>
        </p:nvSpPr>
        <p:spPr>
          <a:xfrm rot="16200000">
            <a:off x="-868680" y="3293669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S</a:t>
            </a:r>
            <a:r>
              <a:rPr lang="ko-KR" altLang="en-US" sz="1100" dirty="0">
                <a:solidFill>
                  <a:schemeClr val="tx2"/>
                </a:solidFill>
              </a:rPr>
              <a:t> (층/동·년, 로그; 1E-3 = 10⁻³)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1280160" y="6016752"/>
            <a:ext cx="146304" cy="146304"/>
          </a:xfrm>
          <a:prstGeom prst="ellipse">
            <a:avLst/>
          </a:prstGeom>
          <a:solidFill>
            <a:srgbClr val="8A919A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481328" y="5961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등급만 (L0)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3063240" y="6016752"/>
            <a:ext cx="146304" cy="146304"/>
          </a:xfrm>
          <a:prstGeom prst="rect">
            <a:avLst/>
          </a:prstGeom>
          <a:solidFill>
            <a:srgbClr val="8A919A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64408" y="5961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소형시료 TGA (L1)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6016752"/>
            <a:ext cx="146304" cy="146304"/>
          </a:xfrm>
          <a:prstGeom prst="ellipse">
            <a:avLst/>
          </a:prstGeom>
          <a:solidFill>
            <a:srgbClr val="4B5563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47488" y="5961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중규모 (L2)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6629400" y="6016752"/>
            <a:ext cx="146304" cy="146304"/>
          </a:xfrm>
          <a:prstGeom prst="diamond">
            <a:avLst/>
          </a:prstGeom>
          <a:solidFill>
            <a:srgbClr val="4B5563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30568" y="5961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통합 (L1+L2)</a:t>
            </a:r>
            <a:endParaRPr lang="ko-KR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49640" y="1691640"/>
          <a:ext cx="318485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103601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L1u TGA 단독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L2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1.8×10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1.1×10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−2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판정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판단 유보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불충족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8549640" y="2971800"/>
            <a:ext cx="31848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게이트 없는 TGA(L1u)는 가연성 PIR(PUR)의 위험을 6.2배 낮게 보고 판정도 '판단 유보'로 틀림</a:t>
            </a:r>
            <a:endParaRPr lang="ko-KR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L1 순위: PF 내부용 2.2×10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−3</a:t>
            </a:r>
            <a:r>
              <a:rPr lang="ko-KR" altLang="en-US" sz="1100" dirty="0">
                <a:solidFill>
                  <a:schemeClr val="tx1"/>
                </a:solidFill>
              </a:rPr>
              <a:t> &gt; 다른 준불연 ≈ 1.2×10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−3</a:t>
            </a:r>
            <a:endParaRPr lang="ko-KR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구간 폭은 모든 수준에서 10–30배 → 재료보다 s·빈도가 지배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판정이 증거 수준에 따라 어떻게 바뀌나 (예시 기준 F(n ≥ 2) ≤ 1×10⁻⁴/동·년, 신뢰 90 %)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대책 없음(M0): 증거가 쌓이면 PF 내부용은 '불충족' 확정, 다른 준불연은 '판단 유보'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차단재 + 배리어(M1): 모든 증거 수준에서 준불연 '충족', 가연성 '불충족'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478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M0 대책 없음</a:t>
            </a:r>
            <a:endParaRPr lang="ko-KR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등급만</a:t>
            </a:r>
            <a:endParaRPr lang="ko-KR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59934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소형(TGA)</a:t>
            </a:r>
            <a:endParaRPr lang="ko-KR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53907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2"/>
                </a:solidFill>
              </a:rPr>
              <a:t>TGA 단독</a:t>
            </a:r>
            <a:endParaRPr lang="ko-KR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47881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중규모</a:t>
            </a:r>
            <a:endParaRPr lang="ko-KR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141854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통합</a:t>
            </a:r>
            <a:endParaRPr lang="ko-KR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73152" cy="292608"/>
          </a:xfrm>
          <a:prstGeom prst="rect">
            <a:avLst/>
          </a:prstGeom>
          <a:solidFill>
            <a:srgbClr val="E87BA4"/>
          </a:solidFill>
          <a:ln w="6350">
            <a:solidFill>
              <a:srgbClr val="E87BA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4048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EPS 준불연</a:t>
            </a:r>
            <a:endParaRPr lang="ko-KR" sz="1100" dirty="0"/>
          </a:p>
        </p:txBody>
      </p:sp>
      <p:sp>
        <p:nvSpPr>
          <p:cNvPr id="12" name="verdict M0 EPS_SC L0"/>
          <p:cNvSpPr/>
          <p:nvPr/>
        </p:nvSpPr>
        <p:spPr>
          <a:xfrm>
            <a:off x="2002536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02536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14" name="verdict M0 EPS_SC L1"/>
          <p:cNvSpPr/>
          <p:nvPr/>
        </p:nvSpPr>
        <p:spPr>
          <a:xfrm>
            <a:off x="2796510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6510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16" name="verdict M0 EPS_SC L1u"/>
          <p:cNvSpPr/>
          <p:nvPr/>
        </p:nvSpPr>
        <p:spPr>
          <a:xfrm>
            <a:off x="3590483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90483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18" name="verdict M0 EPS_SC L2"/>
          <p:cNvSpPr/>
          <p:nvPr/>
        </p:nvSpPr>
        <p:spPr>
          <a:xfrm>
            <a:off x="4384457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4457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20" name="verdict M0 EPS_SC L1+L2"/>
          <p:cNvSpPr/>
          <p:nvPr/>
        </p:nvSpPr>
        <p:spPr>
          <a:xfrm>
            <a:off x="5178430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78430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081528"/>
            <a:ext cx="73152" cy="292608"/>
          </a:xfrm>
          <a:prstGeom prst="rect">
            <a:avLst/>
          </a:prstGeom>
          <a:solidFill>
            <a:srgbClr val="6250D6"/>
          </a:solidFill>
          <a:ln w="6350">
            <a:solidFill>
              <a:srgbClr val="6250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29718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PIR(PUR) 가연성</a:t>
            </a:r>
            <a:endParaRPr lang="ko-KR" sz="1100" dirty="0"/>
          </a:p>
        </p:txBody>
      </p:sp>
      <p:sp>
        <p:nvSpPr>
          <p:cNvPr id="24" name="verdict M0 PIR_C L0"/>
          <p:cNvSpPr/>
          <p:nvPr/>
        </p:nvSpPr>
        <p:spPr>
          <a:xfrm>
            <a:off x="2002536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02536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26" name="verdict M0 PIR_C L1"/>
          <p:cNvSpPr/>
          <p:nvPr/>
        </p:nvSpPr>
        <p:spPr>
          <a:xfrm>
            <a:off x="2796510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96510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28" name="verdict M0 PIR_C L1u"/>
          <p:cNvSpPr/>
          <p:nvPr/>
        </p:nvSpPr>
        <p:spPr>
          <a:xfrm>
            <a:off x="3590483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90483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30" name="verdict M0 PIR_C L2"/>
          <p:cNvSpPr/>
          <p:nvPr/>
        </p:nvSpPr>
        <p:spPr>
          <a:xfrm>
            <a:off x="4384457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84457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32" name="verdict M0 PIR_C L1+L2"/>
          <p:cNvSpPr/>
          <p:nvPr/>
        </p:nvSpPr>
        <p:spPr>
          <a:xfrm>
            <a:off x="5178430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78430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648456"/>
            <a:ext cx="73152" cy="292608"/>
          </a:xfrm>
          <a:prstGeom prst="rect">
            <a:avLst/>
          </a:prstGeom>
          <a:solidFill>
            <a:srgbClr val="008300"/>
          </a:solidFill>
          <a:ln w="6350">
            <a:solidFill>
              <a:srgbClr val="0083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35387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PIR(PUR) 준불연</a:t>
            </a:r>
            <a:endParaRPr lang="ko-KR" sz="1100" dirty="0"/>
          </a:p>
        </p:txBody>
      </p:sp>
      <p:sp>
        <p:nvSpPr>
          <p:cNvPr id="36" name="verdict M0 PIR_SC L0"/>
          <p:cNvSpPr/>
          <p:nvPr/>
        </p:nvSpPr>
        <p:spPr>
          <a:xfrm>
            <a:off x="2002536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002536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38" name="verdict M0 PIR_SC L1"/>
          <p:cNvSpPr/>
          <p:nvPr/>
        </p:nvSpPr>
        <p:spPr>
          <a:xfrm>
            <a:off x="2796510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96510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40" name="verdict M0 PIR_SC L1u"/>
          <p:cNvSpPr/>
          <p:nvPr/>
        </p:nvSpPr>
        <p:spPr>
          <a:xfrm>
            <a:off x="3590483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90483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42" name="verdict M0 PIR_SC L2"/>
          <p:cNvSpPr/>
          <p:nvPr/>
        </p:nvSpPr>
        <p:spPr>
          <a:xfrm>
            <a:off x="4384457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4457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44" name="verdict M0 PIR_SC L1+L2"/>
          <p:cNvSpPr/>
          <p:nvPr/>
        </p:nvSpPr>
        <p:spPr>
          <a:xfrm>
            <a:off x="5178430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78430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4215384"/>
            <a:ext cx="73152" cy="292608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4360" y="41056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PF 준불연 외부용</a:t>
            </a:r>
            <a:endParaRPr lang="ko-KR" sz="1100" dirty="0"/>
          </a:p>
        </p:txBody>
      </p:sp>
      <p:sp>
        <p:nvSpPr>
          <p:cNvPr id="48" name="verdict M0 PF_out L0"/>
          <p:cNvSpPr/>
          <p:nvPr/>
        </p:nvSpPr>
        <p:spPr>
          <a:xfrm>
            <a:off x="2002536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002536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50" name="verdict M0 PF_out L1"/>
          <p:cNvSpPr/>
          <p:nvPr/>
        </p:nvSpPr>
        <p:spPr>
          <a:xfrm>
            <a:off x="2796510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796510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52" name="verdict M0 PF_out L1u"/>
          <p:cNvSpPr/>
          <p:nvPr/>
        </p:nvSpPr>
        <p:spPr>
          <a:xfrm>
            <a:off x="3590483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90483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54" name="verdict M0 PF_out L2"/>
          <p:cNvSpPr/>
          <p:nvPr/>
        </p:nvSpPr>
        <p:spPr>
          <a:xfrm>
            <a:off x="4384457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384457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56" name="verdict M0 PF_out L1+L2"/>
          <p:cNvSpPr/>
          <p:nvPr/>
        </p:nvSpPr>
        <p:spPr>
          <a:xfrm>
            <a:off x="5178430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178430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58" name="Shape 56"/>
          <p:cNvSpPr/>
          <p:nvPr/>
        </p:nvSpPr>
        <p:spPr>
          <a:xfrm>
            <a:off x="457200" y="4782312"/>
            <a:ext cx="73152" cy="292608"/>
          </a:xfrm>
          <a:prstGeom prst="rect">
            <a:avLst/>
          </a:prstGeom>
          <a:solidFill>
            <a:srgbClr val="E34948"/>
          </a:solidFill>
          <a:ln w="6350">
            <a:solidFill>
              <a:srgbClr val="E3494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94360" y="467258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PF 준불연 내부용</a:t>
            </a:r>
            <a:endParaRPr lang="ko-KR" sz="1100" dirty="0"/>
          </a:p>
        </p:txBody>
      </p:sp>
      <p:sp>
        <p:nvSpPr>
          <p:cNvPr id="60" name="verdict M0 PF_in L0"/>
          <p:cNvSpPr/>
          <p:nvPr/>
        </p:nvSpPr>
        <p:spPr>
          <a:xfrm>
            <a:off x="2002536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002536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62" name="verdict M0 PF_in L1"/>
          <p:cNvSpPr/>
          <p:nvPr/>
        </p:nvSpPr>
        <p:spPr>
          <a:xfrm>
            <a:off x="2796510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796510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64" name="verdict M0 PF_in L1u"/>
          <p:cNvSpPr/>
          <p:nvPr/>
        </p:nvSpPr>
        <p:spPr>
          <a:xfrm>
            <a:off x="3590483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590483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66" name="verdict M0 PF_in L2"/>
          <p:cNvSpPr/>
          <p:nvPr/>
        </p:nvSpPr>
        <p:spPr>
          <a:xfrm>
            <a:off x="4384457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384457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68" name="verdict M0 PF_in L1+L2"/>
          <p:cNvSpPr/>
          <p:nvPr/>
        </p:nvSpPr>
        <p:spPr>
          <a:xfrm>
            <a:off x="5178430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178430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6255868" y="1691640"/>
            <a:ext cx="5478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M1 차단재 + 층간 배리어</a:t>
            </a:r>
            <a:endParaRPr lang="ko-KR" sz="1350" dirty="0"/>
          </a:p>
        </p:txBody>
      </p:sp>
      <p:sp>
        <p:nvSpPr>
          <p:cNvPr id="71" name="Text 69"/>
          <p:cNvSpPr txBox="1"/>
          <p:nvPr/>
        </p:nvSpPr>
        <p:spPr>
          <a:xfrm>
            <a:off x="7764628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등급만</a:t>
            </a:r>
            <a:endParaRPr lang="ko-KR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8558601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소형(TGA)</a:t>
            </a:r>
            <a:endParaRPr lang="ko-KR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9352575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2"/>
                </a:solidFill>
              </a:rPr>
              <a:t>TGA 단독</a:t>
            </a:r>
            <a:endParaRPr lang="ko-KR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10146548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중규모</a:t>
            </a:r>
            <a:endParaRPr lang="ko-KR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10940522" y="2057400"/>
            <a:ext cx="793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통합</a:t>
            </a:r>
            <a:endParaRPr lang="ko-KR" sz="1100" dirty="0"/>
          </a:p>
        </p:txBody>
      </p:sp>
      <p:sp>
        <p:nvSpPr>
          <p:cNvPr id="76" name="Shape 74"/>
          <p:cNvSpPr/>
          <p:nvPr/>
        </p:nvSpPr>
        <p:spPr>
          <a:xfrm>
            <a:off x="6255868" y="2514600"/>
            <a:ext cx="73152" cy="292608"/>
          </a:xfrm>
          <a:prstGeom prst="rect">
            <a:avLst/>
          </a:prstGeom>
          <a:solidFill>
            <a:srgbClr val="E87BA4"/>
          </a:solidFill>
          <a:ln w="6350">
            <a:solidFill>
              <a:srgbClr val="E87BA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393028" y="24048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EPS 준불연</a:t>
            </a:r>
            <a:endParaRPr lang="ko-KR" sz="1100" dirty="0"/>
          </a:p>
        </p:txBody>
      </p:sp>
      <p:sp>
        <p:nvSpPr>
          <p:cNvPr id="78" name="verdict M1 EPS_SC L0"/>
          <p:cNvSpPr/>
          <p:nvPr/>
        </p:nvSpPr>
        <p:spPr>
          <a:xfrm>
            <a:off x="7801204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801204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80" name="verdict M1 EPS_SC L1"/>
          <p:cNvSpPr/>
          <p:nvPr/>
        </p:nvSpPr>
        <p:spPr>
          <a:xfrm>
            <a:off x="8595177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595177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82" name="verdict M1 EPS_SC L1u"/>
          <p:cNvSpPr/>
          <p:nvPr/>
        </p:nvSpPr>
        <p:spPr>
          <a:xfrm>
            <a:off x="9389151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389151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84" name="verdict M1 EPS_SC L2"/>
          <p:cNvSpPr/>
          <p:nvPr/>
        </p:nvSpPr>
        <p:spPr>
          <a:xfrm>
            <a:off x="10183124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0183124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86" name="verdict M1 EPS_SC L1+L2"/>
          <p:cNvSpPr/>
          <p:nvPr/>
        </p:nvSpPr>
        <p:spPr>
          <a:xfrm>
            <a:off x="10977098" y="2505456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977098" y="2505456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88" name="Shape 86"/>
          <p:cNvSpPr/>
          <p:nvPr/>
        </p:nvSpPr>
        <p:spPr>
          <a:xfrm>
            <a:off x="6255868" y="3081528"/>
            <a:ext cx="73152" cy="292608"/>
          </a:xfrm>
          <a:prstGeom prst="rect">
            <a:avLst/>
          </a:prstGeom>
          <a:solidFill>
            <a:srgbClr val="6250D6"/>
          </a:solidFill>
          <a:ln w="6350">
            <a:solidFill>
              <a:srgbClr val="6250D6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393028" y="29718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PIR(PUR) 가연성</a:t>
            </a:r>
            <a:endParaRPr lang="ko-KR" sz="1100" dirty="0"/>
          </a:p>
        </p:txBody>
      </p:sp>
      <p:sp>
        <p:nvSpPr>
          <p:cNvPr id="90" name="verdict M1 PIR_C L0"/>
          <p:cNvSpPr/>
          <p:nvPr/>
        </p:nvSpPr>
        <p:spPr>
          <a:xfrm>
            <a:off x="7801204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801204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92" name="verdict M1 PIR_C L1"/>
          <p:cNvSpPr/>
          <p:nvPr/>
        </p:nvSpPr>
        <p:spPr>
          <a:xfrm>
            <a:off x="8595177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595177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94" name="verdict M1 PIR_C L1u"/>
          <p:cNvSpPr/>
          <p:nvPr/>
        </p:nvSpPr>
        <p:spPr>
          <a:xfrm>
            <a:off x="9389151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9389151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판단 유보</a:t>
            </a:r>
            <a:endParaRPr lang="ko-KR" sz="1050" dirty="0"/>
          </a:p>
        </p:txBody>
      </p:sp>
      <p:sp>
        <p:nvSpPr>
          <p:cNvPr id="96" name="verdict M1 PIR_C L2"/>
          <p:cNvSpPr/>
          <p:nvPr/>
        </p:nvSpPr>
        <p:spPr>
          <a:xfrm>
            <a:off x="10183124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0183124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98" name="verdict M1 PIR_C L1+L2"/>
          <p:cNvSpPr/>
          <p:nvPr/>
        </p:nvSpPr>
        <p:spPr>
          <a:xfrm>
            <a:off x="10977098" y="3072384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977098" y="3072384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불충족</a:t>
            </a:r>
            <a:endParaRPr lang="ko-KR" sz="1050" dirty="0"/>
          </a:p>
        </p:txBody>
      </p:sp>
      <p:sp>
        <p:nvSpPr>
          <p:cNvPr id="100" name="Shape 98"/>
          <p:cNvSpPr/>
          <p:nvPr/>
        </p:nvSpPr>
        <p:spPr>
          <a:xfrm>
            <a:off x="6255868" y="3648456"/>
            <a:ext cx="73152" cy="292608"/>
          </a:xfrm>
          <a:prstGeom prst="rect">
            <a:avLst/>
          </a:prstGeom>
          <a:solidFill>
            <a:srgbClr val="008300"/>
          </a:solidFill>
          <a:ln w="6350">
            <a:solidFill>
              <a:srgbClr val="00830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393028" y="35387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PIR(PUR) 준불연</a:t>
            </a:r>
            <a:endParaRPr lang="ko-KR" sz="1100" dirty="0"/>
          </a:p>
        </p:txBody>
      </p:sp>
      <p:sp>
        <p:nvSpPr>
          <p:cNvPr id="102" name="verdict M1 PIR_SC L0"/>
          <p:cNvSpPr/>
          <p:nvPr/>
        </p:nvSpPr>
        <p:spPr>
          <a:xfrm>
            <a:off x="7801204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801204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04" name="verdict M1 PIR_SC L1"/>
          <p:cNvSpPr/>
          <p:nvPr/>
        </p:nvSpPr>
        <p:spPr>
          <a:xfrm>
            <a:off x="8595177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595177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06" name="verdict M1 PIR_SC L1u"/>
          <p:cNvSpPr/>
          <p:nvPr/>
        </p:nvSpPr>
        <p:spPr>
          <a:xfrm>
            <a:off x="9389151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389151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08" name="verdict M1 PIR_SC L2"/>
          <p:cNvSpPr/>
          <p:nvPr/>
        </p:nvSpPr>
        <p:spPr>
          <a:xfrm>
            <a:off x="10183124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0183124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10" name="verdict M1 PIR_SC L1+L2"/>
          <p:cNvSpPr/>
          <p:nvPr/>
        </p:nvSpPr>
        <p:spPr>
          <a:xfrm>
            <a:off x="10977098" y="3639312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0977098" y="3639312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12" name="Shape 110"/>
          <p:cNvSpPr/>
          <p:nvPr/>
        </p:nvSpPr>
        <p:spPr>
          <a:xfrm>
            <a:off x="6255868" y="4215384"/>
            <a:ext cx="73152" cy="292608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6393028" y="41056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PF 준불연 외부용</a:t>
            </a:r>
            <a:endParaRPr lang="ko-KR" sz="1100" dirty="0"/>
          </a:p>
        </p:txBody>
      </p:sp>
      <p:sp>
        <p:nvSpPr>
          <p:cNvPr id="114" name="verdict M1 PF_out L0"/>
          <p:cNvSpPr/>
          <p:nvPr/>
        </p:nvSpPr>
        <p:spPr>
          <a:xfrm>
            <a:off x="7801204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7801204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16" name="verdict M1 PF_out L1"/>
          <p:cNvSpPr/>
          <p:nvPr/>
        </p:nvSpPr>
        <p:spPr>
          <a:xfrm>
            <a:off x="8595177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8595177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18" name="verdict M1 PF_out L1u"/>
          <p:cNvSpPr/>
          <p:nvPr/>
        </p:nvSpPr>
        <p:spPr>
          <a:xfrm>
            <a:off x="9389151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9389151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20" name="verdict M1 PF_out L2"/>
          <p:cNvSpPr/>
          <p:nvPr/>
        </p:nvSpPr>
        <p:spPr>
          <a:xfrm>
            <a:off x="10183124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10183124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22" name="verdict M1 PF_out L1+L2"/>
          <p:cNvSpPr/>
          <p:nvPr/>
        </p:nvSpPr>
        <p:spPr>
          <a:xfrm>
            <a:off x="10977098" y="4206240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0977098" y="4206240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24" name="Shape 122"/>
          <p:cNvSpPr/>
          <p:nvPr/>
        </p:nvSpPr>
        <p:spPr>
          <a:xfrm>
            <a:off x="6255868" y="4782312"/>
            <a:ext cx="73152" cy="292608"/>
          </a:xfrm>
          <a:prstGeom prst="rect">
            <a:avLst/>
          </a:prstGeom>
          <a:solidFill>
            <a:srgbClr val="E34948"/>
          </a:solidFill>
          <a:ln w="6350">
            <a:solidFill>
              <a:srgbClr val="E34948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6393028" y="467258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PF 준불연 내부용</a:t>
            </a:r>
            <a:endParaRPr lang="ko-KR" sz="1100" dirty="0"/>
          </a:p>
        </p:txBody>
      </p:sp>
      <p:sp>
        <p:nvSpPr>
          <p:cNvPr id="126" name="verdict M1 PF_in L0"/>
          <p:cNvSpPr/>
          <p:nvPr/>
        </p:nvSpPr>
        <p:spPr>
          <a:xfrm>
            <a:off x="7801204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7801204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28" name="verdict M1 PF_in L1"/>
          <p:cNvSpPr/>
          <p:nvPr/>
        </p:nvSpPr>
        <p:spPr>
          <a:xfrm>
            <a:off x="8595177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8595177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30" name="verdict M1 PF_in L1u"/>
          <p:cNvSpPr/>
          <p:nvPr/>
        </p:nvSpPr>
        <p:spPr>
          <a:xfrm>
            <a:off x="9389151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9389151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32" name="verdict M1 PF_in L2"/>
          <p:cNvSpPr/>
          <p:nvPr/>
        </p:nvSpPr>
        <p:spPr>
          <a:xfrm>
            <a:off x="10183124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0183124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34" name="verdict M1 PF_in L1+L2"/>
          <p:cNvSpPr/>
          <p:nvPr/>
        </p:nvSpPr>
        <p:spPr>
          <a:xfrm>
            <a:off x="10977098" y="4773168"/>
            <a:ext cx="720822" cy="329184"/>
          </a:xfrm>
          <a:prstGeom prst="roundRect">
            <a:avLst>
              <a:gd name="adj" fmla="val 16667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10977098" y="4773168"/>
            <a:ext cx="7208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충족</a:t>
            </a:r>
            <a:endParaRPr lang="ko-KR" sz="1050" dirty="0"/>
          </a:p>
        </p:txBody>
      </p:sp>
      <p:sp>
        <p:nvSpPr>
          <p:cNvPr id="136" name="Text 134"/>
          <p:cNvSpPr txBox="1"/>
          <p:nvPr/>
        </p:nvSpPr>
        <p:spPr>
          <a:xfrm>
            <a:off x="457200" y="54406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충족 비율(기준을 만족하는 인식론적 표본 비율) ≥ 90 % → 충족, ≤ 10 % → 불충족, 그 사이 → 판단 유보 · 판단 유보 = 이 증거로는 결론 불가 → 다음 시험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TGA 단독(회색 열)은 게이트 없이 쓴 경우 — 가연성 PIR(PUR)을 '판단 유보'로 잘못 봄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재료 인자 MF와 그 구성 — 확산 몫과 자립 연소(지속) 몫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재료 인자 MF: 가연성 PIR(PUR) 630배, PF 내부용 144배, 나머지 30–54배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PF 외부용은 위험 증가분의 55 %가 자립 연소(</a:t>
            </a:r>
            <a:r>
              <a:rPr lang="ko-KR" altLang="en-US" sz="2000" b="1" dirty="0">
                <a:solidFill>
                  <a:schemeClr val="tx1"/>
                </a:solidFill>
              </a:rPr>
              <a:t>f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400,air</a:t>
            </a:r>
            <a:r>
              <a:rPr lang="ko-KR" altLang="en-US" sz="2000" b="1" dirty="0">
                <a:solidFill>
                  <a:schemeClr val="tx1"/>
                </a:solidFill>
              </a:rPr>
              <a:t> 높음 · B 2/2)에서 옴</a:t>
            </a:r>
            <a:endParaRPr lang="ko-KR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6692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37260"/>
                <a:gridCol w="937260"/>
                <a:gridCol w="937260"/>
                <a:gridCol w="9372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등급만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TGA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중규모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통합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68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51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33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30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631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631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630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630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75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58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41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42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89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59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49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54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44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109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147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144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MF 중앙값 (대책 없음, 스프링클러 설치) — 불연 단열재 = 1</a:t>
            </a:r>
            <a:endParaRPr lang="ko-KR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348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확산 몫 = (</a:t>
            </a:r>
            <a:r>
              <a:rPr lang="ko-KR" altLang="en-US" sz="1100" dirty="0">
                <a:solidFill>
                  <a:schemeClr val="tx1"/>
                </a:solidFill>
              </a:rPr>
              <a:t>R</a:t>
            </a:r>
            <a:r>
              <a:rPr lang="ko-KR" altLang="en-US" sz="1100" baseline="-40000" dirty="0">
                <a:solidFill>
                  <a:schemeClr val="tx1"/>
                </a:solidFill>
              </a:rPr>
              <a:t>S</a:t>
            </a:r>
            <a:r>
              <a:rPr lang="ko-KR" altLang="en-US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B</a:t>
            </a:r>
            <a:r>
              <a:rPr lang="ko-KR" altLang="en-US" sz="1100" dirty="0">
                <a:solidFill>
                  <a:schemeClr val="tx1"/>
                </a:solidFill>
              </a:rPr>
              <a:t> = 0) − </a:t>
            </a:r>
            <a:r>
              <a:rPr lang="ko-KR" altLang="en-US" sz="1100" dirty="0">
                <a:solidFill>
                  <a:schemeClr val="tx1"/>
                </a:solidFill>
              </a:rPr>
              <a:t>R</a:t>
            </a:r>
            <a:r>
              <a:rPr lang="ko-KR" altLang="en-US" sz="1100" baseline="-40000" dirty="0">
                <a:solidFill>
                  <a:schemeClr val="tx1"/>
                </a:solidFill>
              </a:rPr>
              <a:t>S</a:t>
            </a:r>
            <a:r>
              <a:rPr lang="ko-KR" altLang="en-US" sz="1100" dirty="0">
                <a:solidFill>
                  <a:schemeClr val="tx1"/>
                </a:solidFill>
              </a:rPr>
              <a:t>,불연) / (</a:t>
            </a:r>
            <a:r>
              <a:rPr lang="ko-KR" altLang="en-US" sz="1100" dirty="0">
                <a:solidFill>
                  <a:schemeClr val="tx1"/>
                </a:solidFill>
              </a:rPr>
              <a:t>R</a:t>
            </a:r>
            <a:r>
              <a:rPr lang="ko-KR" altLang="en-US" sz="1100" baseline="-40000" dirty="0">
                <a:solidFill>
                  <a:schemeClr val="tx1"/>
                </a:solidFill>
              </a:rPr>
              <a:t>S</a:t>
            </a:r>
            <a:r>
              <a:rPr lang="ko-KR" altLang="en-US" sz="1100" dirty="0">
                <a:solidFill>
                  <a:schemeClr val="tx1"/>
                </a:solidFill>
              </a:rPr>
              <a:t> − </a:t>
            </a:r>
            <a:r>
              <a:rPr lang="ko-KR" altLang="en-US" sz="1100" dirty="0">
                <a:solidFill>
                  <a:schemeClr val="tx1"/>
                </a:solidFill>
              </a:rPr>
              <a:t>R</a:t>
            </a:r>
            <a:r>
              <a:rPr lang="ko-KR" altLang="en-US" sz="1100" baseline="-40000" dirty="0">
                <a:solidFill>
                  <a:schemeClr val="tx1"/>
                </a:solidFill>
              </a:rPr>
              <a:t>S</a:t>
            </a:r>
            <a:r>
              <a:rPr lang="ko-KR" altLang="en-US" sz="1100" dirty="0">
                <a:solidFill>
                  <a:schemeClr val="tx1"/>
                </a:solidFill>
              </a:rPr>
              <a:t>,불연), 지속 몫 = 나머지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점추정에서는 진압(15분)이 분출 종료(20분)보다 먼저라 지속이 드러나지 않음 → 몬테카를로 평균으로 계산(진압 지연 사건)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TGA의 </a:t>
            </a:r>
            <a:r>
              <a:rPr lang="ko-KR" altLang="en-US" sz="1100" dirty="0">
                <a:solidFill>
                  <a:schemeClr val="tx1"/>
                </a:solidFill>
              </a:rPr>
              <a:t>f</a:t>
            </a:r>
            <a:r>
              <a:rPr lang="ko-KR" altLang="en-US" sz="1100" baseline="-40000" dirty="0">
                <a:solidFill>
                  <a:schemeClr val="tx1"/>
                </a:solidFill>
              </a:rPr>
              <a:t>400,air</a:t>
            </a:r>
            <a:r>
              <a:rPr lang="ko-KR" altLang="en-US" sz="1100" dirty="0">
                <a:solidFill>
                  <a:schemeClr val="tx1"/>
                </a:solidFill>
              </a:rPr>
              <a:t>가 이 지속 몫을 예측하는 재료 인자(T2)</a:t>
            </a:r>
            <a:endParaRPr lang="ko-KR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0" y="1691640"/>
          <a:ext cx="5333695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L3 시뮬레이션 평가 — 중규모 재현으로 검증한 뒤 건물 외벽으로 외삽 (엑셀 8_L3_시뮬레이션 양식)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FDS는 ① 중공층 시험 재현으로 검증한 뒤 ② 건물 외벽 3–6개 층을 계산해 s를 구함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건물 위험도의 가장 큰 불확실성(s)을 직접 줄이는 단계</a:t>
            </a:r>
            <a:endParaRPr lang="ko-KR" sz="2000" dirty="0"/>
          </a:p>
        </p:txBody>
      </p:sp>
      <p:sp>
        <p:nvSpPr>
          <p:cNvPr id="4" name="step 1"/>
          <p:cNvSpPr/>
          <p:nvPr/>
        </p:nvSpPr>
        <p:spPr>
          <a:xfrm>
            <a:off x="457200" y="1691640"/>
            <a:ext cx="2613584" cy="26060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" name="panel 1"/>
          <p:cNvSpPr/>
          <p:nvPr/>
        </p:nvSpPr>
        <p:spPr>
          <a:xfrm>
            <a:off x="594360" y="182880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7830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입력 준비</a:t>
            </a:r>
            <a:endParaRPr lang="ko-KR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6000"/>
            <a:ext cx="2320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반응: TGA → 반응 온도 · 속도 (PyroSim 자료)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열물성: 실측 ρ · </a:t>
            </a:r>
            <a:r>
              <a:rPr lang="ko-KR" altLang="en-US" sz="1150" dirty="0">
                <a:solidFill>
                  <a:schemeClr val="tx1"/>
                </a:solidFill>
              </a:rPr>
              <a:t>c</a:t>
            </a:r>
            <a:r>
              <a:rPr lang="ko-KR" altLang="en-US" sz="1150" baseline="-40000" dirty="0">
                <a:solidFill>
                  <a:schemeClr val="tx1"/>
                </a:solidFill>
              </a:rPr>
              <a:t>p</a:t>
            </a:r>
            <a:r>
              <a:rPr lang="ko-KR" altLang="en-US" sz="1150" dirty="0">
                <a:solidFill>
                  <a:schemeClr val="tx1"/>
                </a:solidFill>
              </a:rPr>
              <a:t> · k (콘 TRP로 확인)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연소열 · 수율: 콘 EHC, FT-IR · 콘 CO · HCN</a:t>
            </a:r>
            <a:endParaRPr lang="ko-KR" sz="1150" dirty="0"/>
          </a:p>
        </p:txBody>
      </p:sp>
      <p:sp>
        <p:nvSpPr>
          <p:cNvPr id="9" name="Shape 7"/>
          <p:cNvSpPr/>
          <p:nvPr/>
        </p:nvSpPr>
        <p:spPr>
          <a:xfrm>
            <a:off x="3089072" y="2994660"/>
            <a:ext cx="237744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0" name="step 2"/>
          <p:cNvSpPr/>
          <p:nvPr/>
        </p:nvSpPr>
        <p:spPr>
          <a:xfrm>
            <a:off x="3345104" y="1691640"/>
            <a:ext cx="2613584" cy="2606040"/>
          </a:xfrm>
          <a:prstGeom prst="roundRect">
            <a:avLst>
              <a:gd name="adj" fmla="val 2807"/>
            </a:avLst>
          </a:prstGeom>
          <a:solidFill>
            <a:srgbClr val="E2F3E2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11" name="panel 2"/>
          <p:cNvSpPr/>
          <p:nvPr/>
        </p:nvSpPr>
        <p:spPr>
          <a:xfrm>
            <a:off x="3482264" y="182880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82264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48024" y="17830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중규모 재현 · 검증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09696" y="2286000"/>
            <a:ext cx="2320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3 m 중공층 · 30 kW 버너 · 열전대 500–3000 mm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격자 민감도 (중공층 안 1–2 cm)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기준(예시):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±30 %, 최고온도 ±100 K</a:t>
            </a:r>
            <a:endParaRPr lang="ko-KR" sz="1150" dirty="0"/>
          </a:p>
        </p:txBody>
      </p:sp>
      <p:sp>
        <p:nvSpPr>
          <p:cNvPr id="15" name="Shape 13"/>
          <p:cNvSpPr/>
          <p:nvPr/>
        </p:nvSpPr>
        <p:spPr>
          <a:xfrm>
            <a:off x="5976976" y="2994660"/>
            <a:ext cx="237744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6" name="step 3"/>
          <p:cNvSpPr/>
          <p:nvPr/>
        </p:nvSpPr>
        <p:spPr>
          <a:xfrm>
            <a:off x="6233008" y="1691640"/>
            <a:ext cx="2613584" cy="26060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7" name="panel 3"/>
          <p:cNvSpPr/>
          <p:nvPr/>
        </p:nvSpPr>
        <p:spPr>
          <a:xfrm>
            <a:off x="6370168" y="182880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70168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35928" y="17830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건물 외벽 시나리오</a:t>
            </a:r>
            <a:endParaRPr lang="ko-KR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97600" y="2286000"/>
            <a:ext cx="2320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IE1 창 분출화염(최성기 실내 화재)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IE2 외벽 하부 외부 화원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재료 5종 × 2, 배리어 유무</a:t>
            </a:r>
            <a:endParaRPr lang="ko-KR" sz="1150" dirty="0"/>
          </a:p>
        </p:txBody>
      </p:sp>
      <p:sp>
        <p:nvSpPr>
          <p:cNvPr id="21" name="Shape 19"/>
          <p:cNvSpPr/>
          <p:nvPr/>
        </p:nvSpPr>
        <p:spPr>
          <a:xfrm>
            <a:off x="8864879" y="2994660"/>
            <a:ext cx="237744" cy="914"/>
          </a:xfrm>
          <a:prstGeom prst="line">
            <a:avLst/>
          </a:prstGeom>
          <a:noFill/>
          <a:ln w="2222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2" name="step 4"/>
          <p:cNvSpPr/>
          <p:nvPr/>
        </p:nvSpPr>
        <p:spPr>
          <a:xfrm>
            <a:off x="9120911" y="1691640"/>
            <a:ext cx="2613584" cy="26060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3" name="panel 4"/>
          <p:cNvSpPr/>
          <p:nvPr/>
        </p:nvSpPr>
        <p:spPr>
          <a:xfrm>
            <a:off x="9258071" y="182880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58071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23831" y="178308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위험도로 연결</a:t>
            </a:r>
            <a:endParaRPr lang="ko-KR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85503" y="2286000"/>
            <a:ext cx="2320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층별 도달시각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j</a:t>
            </a:r>
            <a:r>
              <a:rPr lang="ko-KR" altLang="en-US" sz="1150" dirty="0">
                <a:solidFill>
                  <a:schemeClr val="tx1"/>
                </a:solidFill>
              </a:rPr>
              <a:t> → </a:t>
            </a:r>
            <a:r>
              <a:rPr lang="ko-KR" altLang="en-US" sz="1150" dirty="0">
                <a:solidFill>
                  <a:schemeClr val="tx1"/>
                </a:solidFill>
              </a:rPr>
              <a:t>s</a:t>
            </a:r>
            <a:r>
              <a:rPr lang="ko-KR" altLang="en-US" sz="1150" baseline="-40000" dirty="0">
                <a:solidFill>
                  <a:schemeClr val="tx1"/>
                </a:solidFill>
              </a:rPr>
              <a:t>j</a:t>
            </a:r>
            <a:r>
              <a:rPr lang="ko-KR" altLang="en-US" sz="1150" dirty="0">
                <a:solidFill>
                  <a:schemeClr val="tx1"/>
                </a:solidFill>
              </a:rPr>
              <a:t> = </a:t>
            </a:r>
            <a:r>
              <a:rPr lang="ko-KR" altLang="en-US" sz="1150" dirty="0">
                <a:solidFill>
                  <a:schemeClr val="tx1"/>
                </a:solidFill>
              </a:rPr>
              <a:t>ΔT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j</a:t>
            </a:r>
            <a:r>
              <a:rPr lang="ko-KR" altLang="en-US" sz="1150" dirty="0">
                <a:solidFill>
                  <a:schemeClr val="tx1"/>
                </a:solidFill>
              </a:rPr>
              <a:t> /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s 추정 → 판정 경계와 비교(18쪽)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창 열류속 · 위층 FED → 확장 항목</a:t>
            </a:r>
            <a:endParaRPr lang="ko-KR" sz="1150" dirty="0"/>
          </a:p>
        </p:txBody>
      </p:sp>
      <p:sp>
        <p:nvSpPr>
          <p:cNvPr id="27" name="card 시뮬레이션이 줄이는 것"/>
          <p:cNvSpPr/>
          <p:nvPr/>
        </p:nvSpPr>
        <p:spPr>
          <a:xfrm>
            <a:off x="457200" y="4526280"/>
            <a:ext cx="5524348" cy="1463040"/>
          </a:xfrm>
          <a:prstGeom prst="roundRect">
            <a:avLst>
              <a:gd name="adj" fmla="val 5000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71830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61772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시뮬레이션이 줄이는 것</a:t>
            </a:r>
            <a:endParaRPr lang="ko-KR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056632"/>
            <a:ext cx="514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s: 현재 가정 LogU(0.25, 1) — 건물 위험도 민감도 1위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층마다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00" dirty="0">
                <a:solidFill>
                  <a:schemeClr val="tx1"/>
                </a:solidFill>
              </a:rPr>
              <a:t>을 반복하는가, 연속 전선인가(모델 구조)</a:t>
            </a:r>
            <a:endParaRPr lang="ko-KR" sz="1200" dirty="0"/>
          </a:p>
        </p:txBody>
      </p:sp>
      <p:sp>
        <p:nvSpPr>
          <p:cNvPr id="31" name="card 시뮬레이션의 한계(문서화 필요)"/>
          <p:cNvSpPr/>
          <p:nvPr/>
        </p:nvSpPr>
        <p:spPr>
          <a:xfrm>
            <a:off x="6210148" y="4526280"/>
            <a:ext cx="5524348" cy="1463040"/>
          </a:xfrm>
          <a:prstGeom prst="roundRect">
            <a:avLst>
              <a:gd name="adj" fmla="val 5000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4718304"/>
            <a:ext cx="182880" cy="182880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67348" y="461772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시뮬레이션의 한계(문서화 필요)</a:t>
            </a:r>
            <a:endParaRPr lang="ko-KR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411316" y="5056632"/>
            <a:ext cx="5140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용융·적하(EPS), 면재 박리·낙하는 FDS로 재현 어려움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기상 난연 효과는 반응 입력으로 직접 표현 안 됨 → 콘 HRR로 보정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L3의 정보가치 — s를 알면 판정이 어떻게 갈리는가 (통합 L1+L2, 대책 없음)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판단 유보 3종은 s로 갈림 — 충족: s ≥ 0.58(EPS) · 0.69(PIR(PUR)) · 0.94(PF 외부용)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PF 내부용은 s ≤ 0.84이면 불충족(현재 사전분포에서 88 %) · 대책(M1)은 s와 무관하게 충족</a:t>
            </a:r>
            <a:endParaRPr lang="ko-KR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201522" y="2192731"/>
            <a:ext cx="5819242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1247242" y="1918411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충족 경계</a:t>
            </a:r>
            <a:endParaRPr lang="ko-KR" sz="950" dirty="0"/>
          </a:p>
        </p:txBody>
      </p:sp>
      <p:sp>
        <p:nvSpPr>
          <p:cNvPr id="7" name="Shape 4"/>
          <p:cNvSpPr/>
          <p:nvPr/>
        </p:nvSpPr>
        <p:spPr>
          <a:xfrm>
            <a:off x="1201522" y="4884725"/>
            <a:ext cx="5819242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1247242" y="4903013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불충족 경계</a:t>
            </a:r>
            <a:endParaRPr lang="ko-KR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201522" y="5513832"/>
            <a:ext cx="58192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실물/시험 층당 확산시간 비 s (L3 · 실대형으로 확정할 값)</a:t>
            </a:r>
            <a:endParaRPr lang="ko-KR" sz="1100" dirty="0"/>
          </a:p>
        </p:txBody>
      </p:sp>
      <p:sp>
        <p:nvSpPr>
          <p:cNvPr id="10" name="Text 7"/>
          <p:cNvSpPr txBox="1"/>
          <p:nvPr/>
        </p:nvSpPr>
        <p:spPr>
          <a:xfrm rot="16200000">
            <a:off x="-411480" y="3355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기준 충족 비율</a:t>
            </a:r>
            <a:endParaRPr lang="ko-KR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6117336"/>
            <a:ext cx="329184" cy="0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5989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EPS 준불연</a:t>
            </a:r>
            <a:endParaRPr lang="ko-KR" sz="1100" dirty="0"/>
          </a:p>
        </p:txBody>
      </p:sp>
      <p:sp>
        <p:nvSpPr>
          <p:cNvPr id="13" name="Shape 10"/>
          <p:cNvSpPr/>
          <p:nvPr/>
        </p:nvSpPr>
        <p:spPr>
          <a:xfrm>
            <a:off x="1956816" y="6117336"/>
            <a:ext cx="329184" cy="0"/>
          </a:xfrm>
          <a:prstGeom prst="line">
            <a:avLst/>
          </a:prstGeom>
          <a:noFill/>
          <a:ln w="25400">
            <a:solidFill>
              <a:srgbClr val="6250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59152" y="5989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PIR 가연성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3364992" y="6117336"/>
            <a:ext cx="329184" cy="0"/>
          </a:xfrm>
          <a:prstGeom prst="line">
            <a:avLst/>
          </a:prstGeom>
          <a:noFill/>
          <a:ln w="25400">
            <a:solidFill>
              <a:srgbClr val="0083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67328" y="5989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PIR 준불연</a:t>
            </a:r>
            <a:endParaRPr lang="ko-KR" sz="1100" dirty="0"/>
          </a:p>
        </p:txBody>
      </p:sp>
      <p:sp>
        <p:nvSpPr>
          <p:cNvPr id="17" name="Shape 14"/>
          <p:cNvSpPr/>
          <p:nvPr/>
        </p:nvSpPr>
        <p:spPr>
          <a:xfrm>
            <a:off x="4773168" y="6117336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75504" y="5989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외부용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6181344" y="6117336"/>
            <a:ext cx="329184" cy="0"/>
          </a:xfrm>
          <a:prstGeom prst="line">
            <a:avLst/>
          </a:prstGeom>
          <a:noFill/>
          <a:ln w="25400">
            <a:solidFill>
              <a:srgbClr val="E3494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0" y="5989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내부용</a:t>
            </a:r>
            <a:endParaRPr lang="ko-KR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691640"/>
          <a:ext cx="428213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77240"/>
                <a:gridCol w="777240"/>
                <a:gridCol w="126461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s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meet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s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fail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L3로 확정될 확률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0.58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0.33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61 %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1.00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100 %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0.69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0.38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57 %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0.94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0.40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38 %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0.84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88 %</a:t>
                      </a:r>
                      <a:endParaRPr lang="ko-KR" sz="110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7452360" y="4160520"/>
            <a:ext cx="42821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s ≥ </a:t>
            </a:r>
            <a:r>
              <a:rPr lang="ko-KR" altLang="en-US" sz="1100" dirty="0">
                <a:solidFill>
                  <a:schemeClr val="tx1"/>
                </a:solidFill>
              </a:rPr>
              <a:t>s</a:t>
            </a:r>
            <a:r>
              <a:rPr lang="ko-KR" altLang="en-US" sz="1100" baseline="-40000" dirty="0">
                <a:solidFill>
                  <a:schemeClr val="tx1"/>
                </a:solidFill>
              </a:rPr>
              <a:t>meet</a:t>
            </a:r>
            <a:r>
              <a:rPr lang="ko-KR" altLang="en-US" sz="1100" dirty="0">
                <a:solidFill>
                  <a:schemeClr val="tx1"/>
                </a:solidFill>
              </a:rPr>
              <a:t> → 충족, s ≤ </a:t>
            </a:r>
            <a:r>
              <a:rPr lang="ko-KR" altLang="en-US" sz="1100" dirty="0">
                <a:solidFill>
                  <a:schemeClr val="tx1"/>
                </a:solidFill>
              </a:rPr>
              <a:t>s</a:t>
            </a:r>
            <a:r>
              <a:rPr lang="ko-KR" altLang="en-US" sz="1100" baseline="-40000" dirty="0">
                <a:solidFill>
                  <a:schemeClr val="tx1"/>
                </a:solidFill>
              </a:rPr>
              <a:t>fail</a:t>
            </a:r>
            <a:r>
              <a:rPr lang="ko-KR" altLang="en-US" sz="1100" dirty="0">
                <a:solidFill>
                  <a:schemeClr val="tx1"/>
                </a:solidFill>
              </a:rPr>
              <a:t> → 불충족, 사이 → 유보</a:t>
            </a:r>
            <a:endParaRPr lang="ko-KR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확정될 확률 = 현재 s 사전분포 LogU(0.25, 1)에서 s가 두 경계 밖에 있을 확률</a:t>
            </a:r>
            <a:endParaRPr lang="ko-KR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판단 유보 3종의 결론은 재료 시험보다 s(시뮬레이션·실대형)에 달려 있음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증거 수준과 판정 규칙 — 새 제품(예: EPS 가연성)은 어떻게 평가하나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판정은 가장 높은 증거 수준으로 내리고 수준을 함께 표기(예: '충족 · E2')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새 제품은 게이트부터 확인 → 소형시료로 끝낼지, 중규모가 필요한지 결정</a:t>
            </a:r>
            <a:endParaRPr lang="ko-KR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760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83080"/>
                <a:gridCol w="187452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수준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가진 자료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 입력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쓸 수 있는 판단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E0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등급(인증서)만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 모집단 분포 · 가연성 DB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우선순위 선별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E1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+ 소형시료(콘·TGA·FT-IR)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게이트 통과 시 전이함수 예측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준불연 탄화형의 상대 비교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E2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+ 중규모 시험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시험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B, TGA와 결합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재료 판정(현재 최고 수준)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E3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+ 시뮬레이션 · 실대형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 확정, 층별 시간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건물 판정</a:t>
                      </a:r>
                      <a:endParaRPr lang="ko-KR" sz="1100" dirty="0"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가연성 등급은 E1으로 끝낼 수 없음(게이트) → E2 필수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정합성 불일치(|z| &gt; 2) → 낮은 수준 결과를 버리고 높은 수준을 따름 + 원인 기록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판단 유보 → 민감도·정보가치가 가리키는 다음 시험</a:t>
            </a:r>
            <a:endParaRPr lang="ko-KR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691640"/>
            <a:ext cx="5242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예: EPS 가연성 (TGA만 있고 중공층 기록 4분)</a:t>
            </a:r>
            <a:endParaRPr lang="ko-KR" sz="1350" dirty="0"/>
          </a:p>
        </p:txBody>
      </p:sp>
      <p:sp>
        <p:nvSpPr>
          <p:cNvPr id="7" name="게이트(등급)"/>
          <p:cNvSpPr/>
          <p:nvPr/>
        </p:nvSpPr>
        <p:spPr>
          <a:xfrm>
            <a:off x="6492240" y="2103120"/>
            <a:ext cx="5242255" cy="603504"/>
          </a:xfrm>
          <a:prstGeom prst="roundRect">
            <a:avLst>
              <a:gd name="adj" fmla="val 9091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8" name="panel 1"/>
          <p:cNvSpPr/>
          <p:nvPr/>
        </p:nvSpPr>
        <p:spPr>
          <a:xfrm>
            <a:off x="6601968" y="2267712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0196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13969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게이트(등급)</a:t>
            </a:r>
            <a:endParaRPr lang="ko-KR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2139696"/>
            <a:ext cx="30476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가연성 → TGA 전이함수 미적용</a:t>
            </a:r>
            <a:endParaRPr lang="ko-KR" sz="1150" dirty="0"/>
          </a:p>
        </p:txBody>
      </p:sp>
      <p:sp>
        <p:nvSpPr>
          <p:cNvPr id="12" name="Shape 9"/>
          <p:cNvSpPr/>
          <p:nvPr/>
        </p:nvSpPr>
        <p:spPr>
          <a:xfrm>
            <a:off x="6739128" y="2706624"/>
            <a:ext cx="914" cy="109728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3" name="TGA 자료 판정"/>
          <p:cNvSpPr/>
          <p:nvPr/>
        </p:nvSpPr>
        <p:spPr>
          <a:xfrm>
            <a:off x="6492240" y="2816352"/>
            <a:ext cx="5242255" cy="603504"/>
          </a:xfrm>
          <a:prstGeom prst="roundRect">
            <a:avLst>
              <a:gd name="adj" fmla="val 9091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6601968" y="2980944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01968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285292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TGA 자료 판정</a:t>
            </a:r>
            <a:endParaRPr lang="ko-KR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2852928"/>
            <a:ext cx="30476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공기 자료 '재측정' — 쓰기 전 재측정</a:t>
            </a:r>
            <a:endParaRPr lang="ko-KR" sz="1150" dirty="0"/>
          </a:p>
        </p:txBody>
      </p:sp>
      <p:sp>
        <p:nvSpPr>
          <p:cNvPr id="18" name="Shape 15"/>
          <p:cNvSpPr/>
          <p:nvPr/>
        </p:nvSpPr>
        <p:spPr>
          <a:xfrm>
            <a:off x="6739128" y="3419856"/>
            <a:ext cx="914" cy="109728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9" name="재료형"/>
          <p:cNvSpPr/>
          <p:nvPr/>
        </p:nvSpPr>
        <p:spPr>
          <a:xfrm>
            <a:off x="6492240" y="3529584"/>
            <a:ext cx="5242255" cy="603504"/>
          </a:xfrm>
          <a:prstGeom prst="roundRect">
            <a:avLst>
              <a:gd name="adj" fmla="val 9091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20" name="panel 3"/>
          <p:cNvSpPr/>
          <p:nvPr/>
        </p:nvSpPr>
        <p:spPr>
          <a:xfrm>
            <a:off x="6601968" y="3694176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01968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35661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재료형</a:t>
            </a:r>
            <a:endParaRPr lang="ko-KR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3566160"/>
            <a:ext cx="30476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용융형(</a:t>
            </a:r>
            <a:r>
              <a:rPr lang="ko-KR" altLang="en-US" sz="1150" dirty="0">
                <a:solidFill>
                  <a:schemeClr val="tx1"/>
                </a:solidFill>
              </a:rPr>
              <a:t>f</a:t>
            </a:r>
            <a:r>
              <a:rPr lang="ko-KR" altLang="en-US" sz="1150" baseline="-40000" dirty="0">
                <a:solidFill>
                  <a:schemeClr val="tx1"/>
                </a:solidFill>
              </a:rPr>
              <a:t>400,air</a:t>
            </a:r>
            <a:r>
              <a:rPr lang="ko-KR" altLang="en-US" sz="1150" dirty="0">
                <a:solidFill>
                  <a:schemeClr val="tx1"/>
                </a:solidFill>
              </a:rPr>
              <a:t> 0.026) → 급발 A 예상</a:t>
            </a:r>
            <a:endParaRPr lang="ko-KR" sz="1150" dirty="0"/>
          </a:p>
        </p:txBody>
      </p:sp>
      <p:sp>
        <p:nvSpPr>
          <p:cNvPr id="24" name="Shape 21"/>
          <p:cNvSpPr/>
          <p:nvPr/>
        </p:nvSpPr>
        <p:spPr>
          <a:xfrm>
            <a:off x="6739128" y="4133088"/>
            <a:ext cx="914" cy="109728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5" name="콘 · FT-IR"/>
          <p:cNvSpPr/>
          <p:nvPr/>
        </p:nvSpPr>
        <p:spPr>
          <a:xfrm>
            <a:off x="6492240" y="4242816"/>
            <a:ext cx="5242255" cy="603504"/>
          </a:xfrm>
          <a:prstGeom prst="roundRect">
            <a:avLst>
              <a:gd name="adj" fmla="val 9091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26" name="panel 4"/>
          <p:cNvSpPr/>
          <p:nvPr/>
        </p:nvSpPr>
        <p:spPr>
          <a:xfrm>
            <a:off x="6601968" y="440740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019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995160" y="427939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콘 · FT-IR</a:t>
            </a:r>
            <a:endParaRPr lang="ko-KR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4279392"/>
            <a:ext cx="30476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준불연 기준·난연제 확인(등급 재확인)</a:t>
            </a:r>
            <a:endParaRPr lang="ko-KR" sz="1150" dirty="0"/>
          </a:p>
        </p:txBody>
      </p:sp>
      <p:sp>
        <p:nvSpPr>
          <p:cNvPr id="30" name="Shape 27"/>
          <p:cNvSpPr/>
          <p:nvPr/>
        </p:nvSpPr>
        <p:spPr>
          <a:xfrm>
            <a:off x="6739128" y="4846320"/>
            <a:ext cx="914" cy="109728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1" name="중규모 재시험"/>
          <p:cNvSpPr/>
          <p:nvPr/>
        </p:nvSpPr>
        <p:spPr>
          <a:xfrm>
            <a:off x="6492240" y="4956048"/>
            <a:ext cx="5242255" cy="603504"/>
          </a:xfrm>
          <a:prstGeom prst="roundRect">
            <a:avLst>
              <a:gd name="adj" fmla="val 9091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32" name="panel 5"/>
          <p:cNvSpPr/>
          <p:nvPr/>
        </p:nvSpPr>
        <p:spPr>
          <a:xfrm>
            <a:off x="6601968" y="512064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601968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995160" y="499262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중규모 재시험</a:t>
            </a:r>
            <a:endParaRPr lang="ko-KR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595360" y="4992624"/>
            <a:ext cx="30476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30분 평가 완주 →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· B → E2 판정</a:t>
            </a:r>
            <a:endParaRPr lang="ko-KR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증거 수준과 판정은 NFPA 551 7.3.3.4(정량 결과 문서)의 '모델·자료 평가'와 '한계' 항목에 그대로 기록합니다(facade_fra 서술양식).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시험 · 해석 계획 — 판정을 바꿀 수 있는 것부터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1순위 = 게이트(콘 · FT-IR) · 지속 표본(중규모 반복) · 대책 근거(배리어) · s(FDS)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TGA 보완과 발생가스 분석은 2순위</a:t>
            </a:r>
            <a:endParaRPr lang="ko-KR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3566160"/>
                <a:gridCol w="1097280"/>
                <a:gridCol w="3044952"/>
                <a:gridCol w="734263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척도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시험 · 해석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차원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줄이는 불확실성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순위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L1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콘칼로리미터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50 kW/m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10분 3회 + 25·35·65 kW/m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착화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D1·D2·D3·G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가연/준불연 게이트, 착화·발열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L1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FT-IR (ATR)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심재·면재 3 위치, 4 cm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−1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32회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G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제품 식별·난연제 → 전이함수 적용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L1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TGA–FTIR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·공기 5 K/min, 전송관 200–250 °C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D6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유해가스 → FDS 수율·FED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L1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TGA–DSC 보완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초기 질량, 블랭크·사파이어, EPS 가연성 재측정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D3·D4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잔류량·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·반응열, 신뢰도 개선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L2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중공층 시험 보완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소화 후 60분 관찰, CO/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CO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·열류속, 반복 3회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D4·D5·D6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B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표본 확대(현재 2–3회)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L2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EPS 가연성 재시험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30분 평가 완주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D2·D4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정량평가 제외 해소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L2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배리어·차단재 포함 시험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층간 배리어 위·아래 열전대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M1 효과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cb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·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e1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L3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FDS 중규모 재현 → 건물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격자 민감도, 3–6개 층, IE1·IE2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D2·D3·D6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 (건물 위험도 1위 불확실성)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3E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L3+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실대형 KS F 8414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2–3종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D2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 직접 보정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978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규격·시편·반복 세부는 엑셀 12_시험계획. 각 시험 결과는 해당 시트(2·3·4·5·8)에 넣으면 전이함수·결합·판정이 다시 계산됩니다(MC 위험도는 multiscale.py 재실행).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한계와 해석 주의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전이함수는 준불연 탄화형 3종(시험 6회)으로 보정한 잠정식이고, 건물 쪽 입력은 예시값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체계와 절차는 확정, 숫자는 자료가 늘수록 갱신</a:t>
            </a:r>
            <a:endParaRPr lang="ko-KR" sz="2000" dirty="0"/>
          </a:p>
        </p:txBody>
      </p:sp>
      <p:sp>
        <p:nvSpPr>
          <p:cNvPr id="4" name="card 한계"/>
          <p:cNvSpPr/>
          <p:nvPr/>
        </p:nvSpPr>
        <p:spPr>
          <a:xfrm>
            <a:off x="457200" y="1691640"/>
            <a:ext cx="5524348" cy="2651760"/>
          </a:xfrm>
          <a:prstGeom prst="roundRect">
            <a:avLst>
              <a:gd name="adj" fmla="val 2759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83664"/>
            <a:ext cx="182880" cy="182880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한계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21992"/>
            <a:ext cx="51403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T1·T2는 제품 3종·시험 6회로 보정 → τ·램프 경계는 잠정(시험 추가 시 재계산)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콘·FT-IR·FDS 자료 없음 → T4–T8은 제안식, L3 위험도 미산출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TGA–DSC: 초기 질량·DSC 보정 없음 → 발열 절대량·반응열 미사용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건물 모델: 빈도·분기확률·시간은 예시값, s 가정, 분기 독립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가연성 c 등급 DB는 1종(PIR(PUR)) → 새 가연성 제품은 중규모 필수</a:t>
            </a:r>
            <a:endParaRPr lang="ko-KR" sz="1200" dirty="0"/>
          </a:p>
        </p:txBody>
      </p:sp>
      <p:sp>
        <p:nvSpPr>
          <p:cNvPr id="8" name="card 해석 주의 · 갱신 방법"/>
          <p:cNvSpPr/>
          <p:nvPr/>
        </p:nvSpPr>
        <p:spPr>
          <a:xfrm>
            <a:off x="6210148" y="1691640"/>
            <a:ext cx="5524348" cy="2651760"/>
          </a:xfrm>
          <a:prstGeom prst="roundRect">
            <a:avLst>
              <a:gd name="adj" fmla="val 2759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188366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7348" y="178308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해석 주의 · 갱신 방법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11316" y="2221992"/>
            <a:ext cx="51403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판정에는 증거 수준(E0–E3)과 기준·신뢰수준(예시)을 함께 표기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|z| &gt; 2 불일치는 오류가 아니라 '전이함수 적용 범위 밖' 신호 → 게이트 재검토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시험이 늘면: 엑셀에 입력 → </a:t>
            </a:r>
            <a:r>
              <a:rPr lang="ko-KR" altLang="en-US" sz="1200" dirty="0">
                <a:solidFill>
                  <a:schemeClr val="tx1"/>
                </a:solidFill>
              </a:rPr>
              <a:t>σ</a:t>
            </a:r>
            <a:r>
              <a:rPr lang="ko-KR" altLang="en-US" sz="1200" baseline="-40000" dirty="0">
                <a:solidFill>
                  <a:schemeClr val="tx1"/>
                </a:solidFill>
              </a:rPr>
              <a:t>rep</a:t>
            </a:r>
            <a:r>
              <a:rPr lang="ko-KR" altLang="en-US" sz="1200" dirty="0">
                <a:solidFill>
                  <a:schemeClr val="tx1"/>
                </a:solidFill>
              </a:rPr>
              <a:t>·τ·결합 자동 갱신, multiscale.py 재실행으로 위험도 갱신</a:t>
            </a:r>
            <a:endParaRPr lang="ko-KR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2628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세 틀의 역할 — 겹치지 않고 이어짐</a:t>
            </a:r>
            <a:endParaRPr lang="ko-KR" sz="1350" dirty="0"/>
          </a:p>
        </p:txBody>
      </p:sp>
      <p:sp>
        <p:nvSpPr>
          <p:cNvPr id="13" name="NFPA 551 (2022)"/>
          <p:cNvSpPr/>
          <p:nvPr/>
        </p:nvSpPr>
        <p:spPr>
          <a:xfrm>
            <a:off x="457200" y="4892040"/>
            <a:ext cx="3606698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956048"/>
            <a:ext cx="327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NFPA 551 (2022)</a:t>
            </a:r>
            <a:r>
              <a:rPr lang="ko-KR" altLang="en-US" sz="1250" dirty="0">
                <a:solidFill>
                  <a:schemeClr val="tx2"/>
                </a:solidFill>
              </a:rPr>
              <a:t>  절차 · 문서</a:t>
            </a:r>
            <a:endParaRPr lang="ko-KR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285232"/>
            <a:ext cx="3277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방법을 정하지 않는 가이드: 목표 → 방법 선택 → 문서(7.3.3.4) → 검토(8장). 이 체계의 결과를 담는 그릇(facade_fra 서술양식)</a:t>
            </a:r>
            <a:endParaRPr lang="ko-KR" sz="1100" dirty="0"/>
          </a:p>
        </p:txBody>
      </p:sp>
      <p:sp>
        <p:nvSpPr>
          <p:cNvPr id="16" name="EFFECT (2018)"/>
          <p:cNvSpPr/>
          <p:nvPr/>
        </p:nvSpPr>
        <p:spPr>
          <a:xfrm>
            <a:off x="4292498" y="4892040"/>
            <a:ext cx="3606698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57090" y="4956048"/>
            <a:ext cx="327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EFFECT (2018)</a:t>
            </a:r>
            <a:r>
              <a:rPr lang="ko-KR" altLang="en-US" sz="1250" dirty="0">
                <a:solidFill>
                  <a:schemeClr val="tx2"/>
                </a:solidFill>
              </a:rPr>
              <a:t>  포트폴리오 선별 · 정성</a:t>
            </a:r>
            <a:endParaRPr lang="ko-KR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57090" y="5285232"/>
            <a:ext cx="3277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기존 고층 건물을 A–E로 줄 세움, 재료는 범주. 어느 건물을 먼저 볼지 정하는 1차 선별</a:t>
            </a:r>
            <a:endParaRPr lang="ko-KR" sz="1100" dirty="0"/>
          </a:p>
        </p:txBody>
      </p:sp>
      <p:sp>
        <p:nvSpPr>
          <p:cNvPr id="19" name="이 체계"/>
          <p:cNvSpPr/>
          <p:nvPr/>
        </p:nvSpPr>
        <p:spPr>
          <a:xfrm>
            <a:off x="8127797" y="4892040"/>
            <a:ext cx="3606698" cy="1371600"/>
          </a:xfrm>
          <a:prstGeom prst="roundRect">
            <a:avLst>
              <a:gd name="adj" fmla="val 5333"/>
            </a:avLst>
          </a:prstGeom>
          <a:solidFill>
            <a:srgbClr val="E2F3E2"/>
          </a:solidFill>
          <a:ln w="15875">
            <a:solidFill>
              <a:srgbClr val="0CA3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2389" y="4956048"/>
            <a:ext cx="327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이 체계</a:t>
            </a:r>
            <a:r>
              <a:rPr lang="ko-KR" altLang="en-US" sz="1250" dirty="0">
                <a:solidFill>
                  <a:schemeClr val="tx2"/>
                </a:solidFill>
              </a:rPr>
              <a:t>  재료 · 제품 판정 · 정량</a:t>
            </a:r>
            <a:endParaRPr lang="ko-KR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92389" y="5285232"/>
            <a:ext cx="3277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소형시료 · 중규모 · 시뮬레이션 → </a:t>
            </a:r>
            <a:r>
              <a:rPr lang="ko-KR" altLang="en-US" sz="1100" dirty="0">
                <a:solidFill>
                  <a:schemeClr val="tx1"/>
                </a:solidFill>
              </a:rPr>
              <a:t>t</a:t>
            </a:r>
            <a:r>
              <a:rPr lang="ko-KR" altLang="en-US" sz="11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00" dirty="0">
                <a:solidFill>
                  <a:schemeClr val="tx1"/>
                </a:solidFill>
              </a:rPr>
              <a:t> ·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B</a:t>
            </a:r>
            <a:r>
              <a:rPr lang="ko-KR" altLang="en-US" sz="1100" dirty="0">
                <a:solidFill>
                  <a:schemeClr val="tx1"/>
                </a:solidFill>
              </a:rPr>
              <a:t> → R = Σ F·C, 증거 수준 표기. EFFECT가 남긴 '재료 조합 점수'를 시험으로 채움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부록 — 식, 상수, 재현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모든 수치는 multiscale.py로 재현되며, 결합·정합성 계산은 엑셀 수식과 일치함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52434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T1 </a:t>
            </a:r>
            <a:r>
              <a:rPr lang="ko-KR" altLang="en-US" sz="1150" dirty="0">
                <a:solidFill>
                  <a:schemeClr val="tx1"/>
                </a:solidFill>
              </a:rPr>
              <a:t>t̂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=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ig,sys</a:t>
            </a:r>
            <a:r>
              <a:rPr lang="ko-KR" altLang="en-US" sz="1150" dirty="0">
                <a:solidFill>
                  <a:schemeClr val="tx1"/>
                </a:solidFill>
              </a:rPr>
              <a:t> + </a:t>
            </a:r>
            <a:r>
              <a:rPr lang="ko-KR" altLang="en-US" sz="1150" dirty="0">
                <a:solidFill>
                  <a:schemeClr val="tx1"/>
                </a:solidFill>
              </a:rPr>
              <a:t>C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sys</a:t>
            </a:r>
            <a:r>
              <a:rPr lang="ko-KR" altLang="en-US" sz="1150" dirty="0">
                <a:solidFill>
                  <a:schemeClr val="tx1"/>
                </a:solidFill>
              </a:rPr>
              <a:t> / 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max,air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T2 </a:t>
            </a:r>
            <a:r>
              <a:rPr lang="ko-KR" altLang="en-US" sz="1150" dirty="0">
                <a:solidFill>
                  <a:schemeClr val="tx1"/>
                </a:solidFill>
              </a:rPr>
              <a:t>m = min(0.95, max(0.05, (</a:t>
            </a:r>
            <a:r>
              <a:rPr lang="ko-KR" altLang="en-US" sz="1150" dirty="0">
                <a:solidFill>
                  <a:schemeClr val="tx1"/>
                </a:solidFill>
              </a:rPr>
              <a:t>f</a:t>
            </a:r>
            <a:r>
              <a:rPr lang="ko-KR" altLang="en-US" sz="1150" baseline="-40000" dirty="0">
                <a:solidFill>
                  <a:schemeClr val="tx1"/>
                </a:solidFill>
              </a:rPr>
              <a:t>400,air</a:t>
            </a:r>
            <a:r>
              <a:rPr lang="ko-KR" altLang="en-US" sz="1150" dirty="0">
                <a:solidFill>
                  <a:schemeClr val="tx1"/>
                </a:solidFill>
              </a:rPr>
              <a:t> − 0.60)/0.10)), 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B</a:t>
            </a:r>
            <a:r>
              <a:rPr lang="ko-KR" altLang="en-US" sz="1150" dirty="0">
                <a:solidFill>
                  <a:schemeClr val="tx1"/>
                </a:solidFill>
              </a:rPr>
              <a:t> ~ Beta(2m, 2(1 − m))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결합 </a:t>
            </a:r>
            <a:r>
              <a:rPr lang="ko-KR" altLang="en-US" sz="1150" dirty="0">
                <a:solidFill>
                  <a:schemeClr val="tx1"/>
                </a:solidFill>
              </a:rPr>
              <a:t>w = (1/τ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)/(1/τ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 + n/</a:t>
            </a:r>
            <a:r>
              <a:rPr lang="ko-KR" altLang="en-US" sz="1150" dirty="0">
                <a:solidFill>
                  <a:schemeClr val="tx1"/>
                </a:solidFill>
              </a:rPr>
              <a:t>σ</a:t>
            </a:r>
            <a:r>
              <a:rPr lang="ko-KR" altLang="en-US" sz="1150" baseline="-40000" dirty="0">
                <a:solidFill>
                  <a:schemeClr val="tx1"/>
                </a:solidFill>
              </a:rPr>
              <a:t>rep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), </a:t>
            </a:r>
            <a:r>
              <a:rPr lang="ko-KR" altLang="en-US" sz="1150" dirty="0">
                <a:solidFill>
                  <a:schemeClr val="tx1"/>
                </a:solidFill>
              </a:rPr>
              <a:t>μ</a:t>
            </a:r>
            <a:r>
              <a:rPr lang="ko-KR" altLang="en-US" sz="1150" baseline="-40000" dirty="0">
                <a:solidFill>
                  <a:schemeClr val="tx1"/>
                </a:solidFill>
              </a:rPr>
              <a:t>post</a:t>
            </a:r>
            <a:r>
              <a:rPr lang="ko-KR" altLang="en-US" sz="1150" dirty="0">
                <a:solidFill>
                  <a:schemeClr val="tx1"/>
                </a:solidFill>
              </a:rPr>
              <a:t> = wμ₀ + (1 − w)ȳ, </a:t>
            </a:r>
            <a:r>
              <a:rPr lang="ko-KR" altLang="en-US" sz="1150" dirty="0">
                <a:solidFill>
                  <a:schemeClr val="tx1"/>
                </a:solidFill>
              </a:rPr>
              <a:t>σ</a:t>
            </a:r>
            <a:r>
              <a:rPr lang="ko-KR" altLang="en-US" sz="1150" baseline="-40000" dirty="0">
                <a:solidFill>
                  <a:schemeClr val="tx1"/>
                </a:solidFill>
              </a:rPr>
              <a:t>post</a:t>
            </a:r>
            <a:r>
              <a:rPr lang="ko-KR" altLang="en-US" sz="1150" dirty="0">
                <a:solidFill>
                  <a:schemeClr val="tx1"/>
                </a:solidFill>
              </a:rPr>
              <a:t> = (1/τ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 + n/</a:t>
            </a:r>
            <a:r>
              <a:rPr lang="ko-KR" altLang="en-US" sz="1150" dirty="0">
                <a:solidFill>
                  <a:schemeClr val="tx1"/>
                </a:solidFill>
              </a:rPr>
              <a:t>σ</a:t>
            </a:r>
            <a:r>
              <a:rPr lang="ko-KR" altLang="en-US" sz="1150" baseline="-40000" dirty="0">
                <a:solidFill>
                  <a:schemeClr val="tx1"/>
                </a:solidFill>
              </a:rPr>
              <a:t>rep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)^(−1/2)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정합 </a:t>
            </a:r>
            <a:r>
              <a:rPr lang="ko-KR" altLang="en-US" sz="1150" dirty="0">
                <a:solidFill>
                  <a:schemeClr val="tx1"/>
                </a:solidFill>
              </a:rPr>
              <a:t>z = (ȳ − </a:t>
            </a:r>
            <a:r>
              <a:rPr lang="ko-KR" altLang="en-US" sz="1150" dirty="0">
                <a:solidFill>
                  <a:schemeClr val="tx1"/>
                </a:solidFill>
              </a:rPr>
              <a:t>μ</a:t>
            </a:r>
            <a:r>
              <a:rPr lang="ko-KR" altLang="en-US" sz="1150" baseline="-40000" dirty="0">
                <a:solidFill>
                  <a:schemeClr val="tx1"/>
                </a:solidFill>
              </a:rPr>
              <a:t>0</a:t>
            </a:r>
            <a:r>
              <a:rPr lang="ko-KR" altLang="en-US" sz="1150" dirty="0">
                <a:solidFill>
                  <a:schemeClr val="tx1"/>
                </a:solidFill>
              </a:rPr>
              <a:t>)/√(τ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 + </a:t>
            </a:r>
            <a:r>
              <a:rPr lang="ko-KR" altLang="en-US" sz="1150" dirty="0">
                <a:solidFill>
                  <a:schemeClr val="tx1"/>
                </a:solidFill>
              </a:rPr>
              <a:t>σ</a:t>
            </a:r>
            <a:r>
              <a:rPr lang="ko-KR" altLang="en-US" sz="1150" baseline="-40000" dirty="0">
                <a:solidFill>
                  <a:schemeClr val="tx1"/>
                </a:solidFill>
              </a:rPr>
              <a:t>rep</a:t>
            </a:r>
            <a:r>
              <a:rPr lang="ko-KR" altLang="en-US" sz="1150" baseline="3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/n); P(k) = C(n,k)·B(k + </a:t>
            </a:r>
            <a:r>
              <a:rPr lang="ko-KR" altLang="en-US" sz="1150" dirty="0">
                <a:solidFill>
                  <a:schemeClr val="tx1"/>
                </a:solidFill>
              </a:rPr>
              <a:t>a</a:t>
            </a:r>
            <a:r>
              <a:rPr lang="ko-KR" altLang="en-US" sz="1150" baseline="-40000" dirty="0">
                <a:solidFill>
                  <a:schemeClr val="tx1"/>
                </a:solidFill>
              </a:rPr>
              <a:t>0</a:t>
            </a:r>
            <a:r>
              <a:rPr lang="ko-KR" altLang="en-US" sz="1150" dirty="0">
                <a:solidFill>
                  <a:schemeClr val="tx1"/>
                </a:solidFill>
              </a:rPr>
              <a:t>, n − k + </a:t>
            </a:r>
            <a:r>
              <a:rPr lang="ko-KR" altLang="en-US" sz="1150" dirty="0">
                <a:solidFill>
                  <a:schemeClr val="tx1"/>
                </a:solidFill>
              </a:rPr>
              <a:t>b</a:t>
            </a:r>
            <a:r>
              <a:rPr lang="ko-KR" altLang="en-US" sz="1150" baseline="-40000" dirty="0">
                <a:solidFill>
                  <a:schemeClr val="tx1"/>
                </a:solidFill>
              </a:rPr>
              <a:t>0</a:t>
            </a:r>
            <a:r>
              <a:rPr lang="ko-KR" altLang="en-US" sz="1150" dirty="0">
                <a:solidFill>
                  <a:schemeClr val="tx1"/>
                </a:solidFill>
              </a:rPr>
              <a:t>)/B(</a:t>
            </a:r>
            <a:r>
              <a:rPr lang="ko-KR" altLang="en-US" sz="1150" dirty="0">
                <a:solidFill>
                  <a:schemeClr val="tx1"/>
                </a:solidFill>
              </a:rPr>
              <a:t>a</a:t>
            </a:r>
            <a:r>
              <a:rPr lang="ko-KR" altLang="en-US" sz="1150" baseline="-40000" dirty="0">
                <a:solidFill>
                  <a:schemeClr val="tx1"/>
                </a:solidFill>
              </a:rPr>
              <a:t>0</a:t>
            </a:r>
            <a:r>
              <a:rPr lang="ko-KR" altLang="en-US" sz="1150" dirty="0">
                <a:solidFill>
                  <a:schemeClr val="tx1"/>
                </a:solidFill>
              </a:rPr>
              <a:t>, </a:t>
            </a:r>
            <a:r>
              <a:rPr lang="ko-KR" altLang="en-US" sz="1150" dirty="0">
                <a:solidFill>
                  <a:schemeClr val="tx1"/>
                </a:solidFill>
              </a:rPr>
              <a:t>b</a:t>
            </a:r>
            <a:r>
              <a:rPr lang="ko-KR" altLang="en-US" sz="1150" baseline="-40000" dirty="0">
                <a:solidFill>
                  <a:schemeClr val="tx1"/>
                </a:solidFill>
              </a:rPr>
              <a:t>0</a:t>
            </a:r>
            <a:r>
              <a:rPr lang="ko-KR" altLang="en-US" sz="1150" dirty="0">
                <a:solidFill>
                  <a:schemeClr val="tx1"/>
                </a:solidFill>
              </a:rPr>
              <a:t>)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건물 </a:t>
            </a:r>
            <a:r>
              <a:rPr lang="ko-KR" altLang="en-US" sz="1150" dirty="0">
                <a:solidFill>
                  <a:schemeClr val="tx1"/>
                </a:solidFill>
              </a:rPr>
              <a:t>τ</a:t>
            </a:r>
            <a:r>
              <a:rPr lang="ko-KR" altLang="en-US" sz="1150" baseline="-40000" dirty="0">
                <a:solidFill>
                  <a:schemeClr val="tx1"/>
                </a:solidFill>
              </a:rPr>
              <a:t>F</a:t>
            </a:r>
            <a:r>
              <a:rPr lang="ko-KR" altLang="en-US" sz="1150" dirty="0">
                <a:solidFill>
                  <a:schemeClr val="tx1"/>
                </a:solidFill>
              </a:rPr>
              <a:t> = s·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·h/3 m, 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 = </a:t>
            </a:r>
            <a:r>
              <a:rPr lang="ko-KR" altLang="en-US" sz="1150" dirty="0">
                <a:solidFill>
                  <a:schemeClr val="tx1"/>
                </a:solidFill>
              </a:rPr>
              <a:t>F</a:t>
            </a:r>
            <a:r>
              <a:rPr lang="ko-KR" altLang="en-US" sz="1150" baseline="-40000" dirty="0">
                <a:solidFill>
                  <a:schemeClr val="tx1"/>
                </a:solidFill>
              </a:rPr>
              <a:t>1</a:t>
            </a:r>
            <a:r>
              <a:rPr lang="ko-KR" altLang="en-US" sz="1150" dirty="0">
                <a:solidFill>
                  <a:schemeClr val="tx1"/>
                </a:solidFill>
              </a:rPr>
              <a:t>[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e</a:t>
            </a:r>
            <a:r>
              <a:rPr lang="ko-KR" altLang="en-US" sz="1150" dirty="0">
                <a:solidFill>
                  <a:schemeClr val="tx1"/>
                </a:solidFill>
              </a:rPr>
              <a:t> </a:t>
            </a:r>
            <a:r>
              <a:rPr lang="ko-KR" altLang="en-US" sz="1150" dirty="0">
                <a:solidFill>
                  <a:schemeClr val="tx1"/>
                </a:solidFill>
              </a:rPr>
              <a:t>C</a:t>
            </a:r>
            <a:r>
              <a:rPr lang="ko-KR" altLang="en-US" sz="1150" baseline="-40000" dirty="0">
                <a:solidFill>
                  <a:schemeClr val="tx1"/>
                </a:solidFill>
              </a:rPr>
              <a:t>1</a:t>
            </a:r>
            <a:r>
              <a:rPr lang="ko-KR" altLang="en-US" sz="1150" dirty="0">
                <a:solidFill>
                  <a:schemeClr val="tx1"/>
                </a:solidFill>
              </a:rPr>
              <a:t> + (1 − 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e</a:t>
            </a:r>
            <a:r>
              <a:rPr lang="ko-KR" altLang="en-US" sz="1150" dirty="0">
                <a:solidFill>
                  <a:schemeClr val="tx1"/>
                </a:solidFill>
              </a:rPr>
              <a:t>)</a:t>
            </a:r>
            <a:r>
              <a:rPr lang="ko-KR" altLang="en-US" sz="1150" dirty="0">
                <a:solidFill>
                  <a:schemeClr val="tx1"/>
                </a:solidFill>
              </a:rPr>
              <a:t>C</a:t>
            </a:r>
            <a:r>
              <a:rPr lang="ko-KR" altLang="en-US" sz="1150" baseline="-40000" dirty="0">
                <a:solidFill>
                  <a:schemeClr val="tx1"/>
                </a:solidFill>
              </a:rPr>
              <a:t>L</a:t>
            </a:r>
            <a:r>
              <a:rPr lang="ko-KR" altLang="en-US" sz="1150" dirty="0">
                <a:solidFill>
                  <a:schemeClr val="tx1"/>
                </a:solidFill>
              </a:rPr>
              <a:t>] + </a:t>
            </a:r>
            <a:r>
              <a:rPr lang="ko-KR" altLang="en-US" sz="1150" dirty="0">
                <a:solidFill>
                  <a:schemeClr val="tx1"/>
                </a:solidFill>
              </a:rPr>
              <a:t>F</a:t>
            </a:r>
            <a:r>
              <a:rPr lang="ko-KR" altLang="en-US" sz="1150" baseline="-4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 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e</a:t>
            </a:r>
            <a:r>
              <a:rPr lang="ko-KR" altLang="en-US" sz="1150" dirty="0">
                <a:solidFill>
                  <a:schemeClr val="tx1"/>
                </a:solidFill>
              </a:rPr>
              <a:t> </a:t>
            </a:r>
            <a:r>
              <a:rPr lang="ko-KR" altLang="en-US" sz="1150" dirty="0">
                <a:solidFill>
                  <a:schemeClr val="tx1"/>
                </a:solidFill>
              </a:rPr>
              <a:t>C</a:t>
            </a:r>
            <a:r>
              <a:rPr lang="ko-KR" altLang="en-US" sz="1150" baseline="-40000" dirty="0">
                <a:solidFill>
                  <a:schemeClr val="tx1"/>
                </a:solidFill>
              </a:rPr>
              <a:t>2</a:t>
            </a:r>
            <a:r>
              <a:rPr lang="ko-KR" altLang="en-US" sz="1150" dirty="0">
                <a:solidFill>
                  <a:schemeClr val="tx1"/>
                </a:solidFill>
              </a:rPr>
              <a:t> (facade_fra)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재료 인자 </a:t>
            </a:r>
            <a:r>
              <a:rPr lang="ko-KR" altLang="en-US" sz="1150" dirty="0">
                <a:solidFill>
                  <a:schemeClr val="tx1"/>
                </a:solidFill>
              </a:rPr>
              <a:t>MF = 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/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,불연; 지속 몫 = (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 − 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(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B</a:t>
            </a:r>
            <a:r>
              <a:rPr lang="ko-KR" altLang="en-US" sz="1150" dirty="0">
                <a:solidFill>
                  <a:schemeClr val="tx1"/>
                </a:solidFill>
              </a:rPr>
              <a:t> = 0))/(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 − 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,불연)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상수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ig,sys</a:t>
            </a:r>
            <a:r>
              <a:rPr lang="ko-KR" altLang="en-US" sz="1150" dirty="0">
                <a:solidFill>
                  <a:schemeClr val="tx1"/>
                </a:solidFill>
              </a:rPr>
              <a:t> 247.5 s, </a:t>
            </a:r>
            <a:r>
              <a:rPr lang="ko-KR" altLang="en-US" sz="1150" dirty="0">
                <a:solidFill>
                  <a:schemeClr val="tx1"/>
                </a:solidFill>
              </a:rPr>
              <a:t>C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sys</a:t>
            </a:r>
            <a:r>
              <a:rPr lang="ko-KR" altLang="en-US" sz="1150" dirty="0">
                <a:solidFill>
                  <a:schemeClr val="tx1"/>
                </a:solidFill>
              </a:rPr>
              <a:t> 423.0, </a:t>
            </a:r>
            <a:r>
              <a:rPr lang="ko-KR" altLang="en-US" sz="1150" dirty="0">
                <a:solidFill>
                  <a:schemeClr val="tx1"/>
                </a:solidFill>
              </a:rPr>
              <a:t>σ</a:t>
            </a:r>
            <a:r>
              <a:rPr lang="ko-KR" altLang="en-US" sz="1150" baseline="-40000" dirty="0">
                <a:solidFill>
                  <a:schemeClr val="tx1"/>
                </a:solidFill>
              </a:rPr>
              <a:t>rep</a:t>
            </a:r>
            <a:r>
              <a:rPr lang="ko-KR" altLang="en-US" sz="1150" dirty="0">
                <a:solidFill>
                  <a:schemeClr val="tx1"/>
                </a:solidFill>
              </a:rPr>
              <a:t> 0.0927, τ 0.1656, 제품 간 SD 0.5062</a:t>
            </a:r>
            <a:endParaRPr lang="ko-KR" sz="1150" dirty="0"/>
          </a:p>
        </p:txBody>
      </p:sp>
      <p:sp>
        <p:nvSpPr>
          <p:cNvPr id="5" name="reproduce"/>
          <p:cNvSpPr/>
          <p:nvPr/>
        </p:nvSpPr>
        <p:spPr>
          <a:xfrm>
            <a:off x="6210148" y="1691640"/>
            <a:ext cx="5524348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93028" y="1783080"/>
            <a:ext cx="515858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재현 (multiscale_fra/)</a:t>
            </a:r>
            <a:endParaRPr lang="ko-KR" sz="11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multiscale.py</a:t>
            </a:r>
            <a:r>
              <a:rPr lang="ko-KR" altLang="en-US" sz="1100" dirty="0">
                <a:solidFill>
                  <a:schemeClr val="tx1"/>
                </a:solidFill>
              </a:rPr>
              <a:t> → results/, figures/, report/ms_data.json (MC: 인식론적 2000 × 우연적 400)</a:t>
            </a:r>
            <a:endParaRPr lang="ko-KR" sz="11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report/build_ms_xlsx.py</a:t>
            </a:r>
            <a:r>
              <a:rPr lang="ko-KR" altLang="en-US" sz="1100" dirty="0">
                <a:solidFill>
                  <a:schemeClr val="tx1"/>
                </a:solidFill>
              </a:rPr>
              <a:t> → 다척도_위험성평가_계산서.xlsx (recalc 후 13_검증)</a:t>
            </a:r>
            <a:endParaRPr lang="ko-KR" sz="11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report/build_ms_deck.js</a:t>
            </a:r>
            <a:r>
              <a:rPr lang="ko-KR" altLang="en-US" sz="1100" dirty="0">
                <a:solidFill>
                  <a:schemeClr val="tx1"/>
                </a:solidFill>
              </a:rPr>
              <a:t> → 이 덱</a:t>
            </a:r>
            <a:endParaRPr lang="ko-KR" sz="11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자료 출처</a:t>
            </a:r>
            <a:endParaRPr lang="ko-KR" sz="11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tga_dsc (TGA 지표·신뢰도), cavity_fire_index (</a:t>
            </a:r>
            <a:r>
              <a:rPr lang="ko-KR" altLang="en-US" sz="1100" dirty="0">
                <a:solidFill>
                  <a:schemeClr val="tx1"/>
                </a:solidFill>
              </a:rPr>
              <a:t>t</a:t>
            </a:r>
            <a:r>
              <a:rPr lang="ko-KR" altLang="en-US" sz="11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00" dirty="0">
                <a:solidFill>
                  <a:schemeClr val="tx1"/>
                </a:solidFill>
              </a:rPr>
              <a:t>·P·S·R·A), coupled_analysis (</a:t>
            </a:r>
            <a:r>
              <a:rPr lang="ko-KR" altLang="en-US" sz="1100" dirty="0">
                <a:solidFill>
                  <a:schemeClr val="tx1"/>
                </a:solidFill>
              </a:rPr>
              <a:t>t</a:t>
            </a:r>
            <a:r>
              <a:rPr lang="ko-KR" altLang="en-US" sz="1100" baseline="-40000" dirty="0">
                <a:solidFill>
                  <a:schemeClr val="tx1"/>
                </a:solidFill>
              </a:rPr>
              <a:t>ig</a:t>
            </a:r>
            <a:r>
              <a:rPr lang="ko-KR" altLang="en-US" sz="1100" dirty="0">
                <a:solidFill>
                  <a:schemeClr val="tx1"/>
                </a:solidFill>
              </a:rPr>
              <a:t>·</a:t>
            </a:r>
            <a:r>
              <a:rPr lang="ko-KR" altLang="en-US" sz="1100" dirty="0">
                <a:solidFill>
                  <a:schemeClr val="tx1"/>
                </a:solidFill>
              </a:rPr>
              <a:t>t</a:t>
            </a:r>
            <a:r>
              <a:rPr lang="ko-KR" altLang="en-US" sz="1100" baseline="-40000" dirty="0">
                <a:solidFill>
                  <a:schemeClr val="tx1"/>
                </a:solidFill>
              </a:rPr>
              <a:t>sp</a:t>
            </a:r>
            <a:r>
              <a:rPr lang="ko-KR" altLang="en-US" sz="1100" dirty="0">
                <a:solidFill>
                  <a:schemeClr val="tx1"/>
                </a:solidFill>
              </a:rPr>
              <a:t>), integrated_model (</a:t>
            </a:r>
            <a:r>
              <a:rPr lang="ko-KR" altLang="en-US" sz="1100" dirty="0">
                <a:solidFill>
                  <a:schemeClr val="tx1"/>
                </a:solidFill>
              </a:rPr>
              <a:t>C</a:t>
            </a:r>
            <a:r>
              <a:rPr lang="ko-KR" altLang="en-US" sz="1100" baseline="-40000" dirty="0">
                <a:solidFill>
                  <a:schemeClr val="tx1"/>
                </a:solidFill>
              </a:rPr>
              <a:t>sys</a:t>
            </a:r>
            <a:r>
              <a:rPr lang="ko-KR" altLang="en-US" sz="1100" dirty="0">
                <a:solidFill>
                  <a:schemeClr val="tx1"/>
                </a:solidFill>
              </a:rPr>
              <a:t>·LOO·B), facade_fra (건물 모델)</a:t>
            </a:r>
            <a:endParaRPr lang="ko-KR" sz="11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Lamont &amp; Ingolfsson (2018), High Rise Buildings with Combustible Exterior Wall Assemblies: Fire Risk Assessment Tool, NFPA/FPRF</a:t>
            </a:r>
            <a:endParaRPr lang="ko-KR" sz="11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L2 모드 = facade_fra/qfra.py와 같은 난수, 결과 일치 확인(상대차 </a:t>
            </a:r>
            <a:r>
              <a:rPr lang="ko-KR" altLang="en-US" sz="1100" dirty="0">
                <a:solidFill>
                  <a:schemeClr val="tx1"/>
                </a:solidFill>
              </a:rPr>
              <a:t>3.2×10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−13</a:t>
            </a:r>
            <a:r>
              <a:rPr lang="ko-KR" altLang="en-US" sz="1100" dirty="0">
                <a:solidFill>
                  <a:schemeClr val="tx1"/>
                </a:solidFill>
              </a:rPr>
              <a:t>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CT multi-scale FRA">
  <a:themeElements>
    <a:clrScheme name="KICT multi-scale FRA">
      <a:dk1>
        <a:srgbClr val="23303D"/>
      </a:dk1>
      <a:lt1>
        <a:srgbClr val="FFFFFF"/>
      </a:lt1>
      <a:dk2>
        <a:srgbClr val="4B5563"/>
      </a:dk2>
      <a:lt2>
        <a:srgbClr val="F3F4F6"/>
      </a:lt2>
      <a:accent1>
        <a:srgbClr val="EB6834"/>
      </a:accent1>
      <a:accent2>
        <a:srgbClr val="2A78D6"/>
      </a:accent2>
      <a:accent3>
        <a:srgbClr val="0CA30C"/>
      </a:accent3>
      <a:accent4>
        <a:srgbClr val="FAB219"/>
      </a:accent4>
      <a:accent5>
        <a:srgbClr val="EC835A"/>
      </a:accent5>
      <a:accent6>
        <a:srgbClr val="D03B3B"/>
      </a:accent6>
      <a:hlink>
        <a:srgbClr val="2A78D6"/>
      </a:hlink>
      <a:folHlink>
        <a:srgbClr val="4B5563"/>
      </a:folHlink>
    </a:clrScheme>
    <a:fontScheme name="KICT multi-scale FRA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외벽 화재위험성 다척도 평가체계</dc:title>
  <dc:subject>소형시료(콘·TGA–DSC·FT-IR), 중규모 성능시험, 시뮬레이션을 연계한 외벽 화재위험성 평가체계와 EFFECT 검토</dc:subject>
  <dc:creator>KICT 중공층 외단열 화재 분석</dc:creator>
  <cp:lastModifiedBy>KICT 중공층 외단열 화재 분석</cp:lastModifiedBy>
  <cp:revision>1</cp:revision>
  <dcterms:created xsi:type="dcterms:W3CDTF">2026-10-23T07:56:03Z</dcterms:created>
  <dcterms:modified xsi:type="dcterms:W3CDTF">2026-10-23T07:56:03Z</dcterms:modified>
</cp:coreProperties>
</file>